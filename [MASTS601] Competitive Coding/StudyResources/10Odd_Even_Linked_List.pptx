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 Black"/>
      <p:bold r:id="rId31"/>
      <p:boldItalic r:id="rId32"/>
    </p:embeddedFon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iEvnHROoQZ9T4ckps5BQKK9Wwg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Black-bold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regular.fntdata"/><Relationship Id="rId10" Type="http://schemas.openxmlformats.org/officeDocument/2006/relationships/slide" Target="slides/slide5.xml"/><Relationship Id="rId32" Type="http://schemas.openxmlformats.org/officeDocument/2006/relationships/font" Target="fonts/RobotoBlack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-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d1c97b7c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fd1c97b7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3d0138414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73d013841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3c1788ac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73c1788ac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21c30a0d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721c30a0d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oddEvenList(head):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head is null OR head.next is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odd = head                      // Start of odd-indexed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even = head.next               // Start of even-indexed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evenHead = even                // Store start of even list for final link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While even is not null AND even.next is not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odd.next = even.next       // Link odd node to next odd node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odd = odd.next             // Move odd pointer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even.next = odd.next       // Link even node to next even node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even = even.next           // Move even pointer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odd.next = evenHead            // Append even list at end of odd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21c30a0d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721c30a0d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3c1dcbc4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73c1dcbc4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OddEvenLinkedList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Insert node at end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return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Rearranging nodes as per odd-even position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oddEvenList(Node head)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 || head.next == null)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odd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even = head.next;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evenHead = even;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(even != null &amp;&amp; even.next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odd.next = even.next;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odd = odd.next;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even.next = odd.next;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even = even.next;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odd.next = evenHead;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Print the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void printList(Node head)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 + "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Main method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public static void main(String[] args)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nodes: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" + n + " elements:");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n; i++)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data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 = insert(head, data);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System.out.print("Original List: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head = oddEvenList(head);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System.out.print("Odd-Even Reordered List: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3c1dcbc4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73c1dcbc4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3c1788ac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73c1788ac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21c30a0d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721c30a0d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3d41a85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73d41a85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3e16ab21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73e16ab21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3c1dcbc4c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73c1dcbc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3d013841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73d01384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3c1788ac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73c1788ac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3d013841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73d013841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3d013841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73d013841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3c1788ac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73c1788ac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fd1c97b7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fd1c97b7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fd1c97b7c_0_0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efd1c97b7c_0_0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3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3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6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">
  <p:cSld name="10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29"/>
          <p:cNvSpPr/>
          <p:nvPr/>
        </p:nvSpPr>
        <p:spPr>
          <a:xfrm>
            <a:off x="902326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29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29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29"/>
          <p:cNvSpPr/>
          <p:nvPr/>
        </p:nvSpPr>
        <p:spPr>
          <a:xfrm>
            <a:off x="894683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29"/>
          <p:cNvSpPr/>
          <p:nvPr/>
        </p:nvSpPr>
        <p:spPr>
          <a:xfrm>
            <a:off x="902326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9"/>
          <p:cNvSpPr/>
          <p:nvPr/>
        </p:nvSpPr>
        <p:spPr>
          <a:xfrm>
            <a:off x="887040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29"/>
          <p:cNvSpPr/>
          <p:nvPr/>
        </p:nvSpPr>
        <p:spPr>
          <a:xfrm>
            <a:off x="879397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29"/>
          <p:cNvSpPr/>
          <p:nvPr/>
        </p:nvSpPr>
        <p:spPr>
          <a:xfrm>
            <a:off x="871754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fd1c97b7c_0_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g3efd1c97b7c_0_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g3efd1c97b7c_0_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g3efd1c97b7c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oboto"/>
              <a:buNone/>
              <a:defRPr b="0" i="0" sz="3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5414"/>
            <a:ext cx="9144003" cy="51380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P1uxZBZX68aFRSFH6" TargetMode="External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hyperlink" Target="https://learn.codemithra.com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0" y="524088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0" y="3386138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fd1c97b7c_0_110"/>
          <p:cNvSpPr txBox="1"/>
          <p:nvPr>
            <p:ph type="title"/>
          </p:nvPr>
        </p:nvSpPr>
        <p:spPr>
          <a:xfrm>
            <a:off x="590550" y="491300"/>
            <a:ext cx="7219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solidFill>
                  <a:srgbClr val="908BFF"/>
                </a:solidFill>
              </a:rPr>
              <a:t>				     </a:t>
            </a:r>
            <a:r>
              <a:rPr b="1" lang="en" sz="2000">
                <a:solidFill>
                  <a:schemeClr val="accent1"/>
                </a:solidFill>
              </a:rPr>
              <a:t>Test Time On </a:t>
            </a:r>
            <a:r>
              <a:rPr b="1" lang="en" sz="200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lang="en" sz="200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ot</a:t>
            </a:r>
            <a:r>
              <a:rPr b="1" lang="en" sz="200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ate List</a:t>
            </a:r>
            <a:r>
              <a:rPr b="1" lang="en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2000">
              <a:solidFill>
                <a:schemeClr val="accent1"/>
              </a:solidFill>
            </a:endParaRPr>
          </a:p>
        </p:txBody>
      </p:sp>
      <p:sp>
        <p:nvSpPr>
          <p:cNvPr id="115" name="Google Shape;115;g3efd1c97b7c_0_110"/>
          <p:cNvSpPr txBox="1"/>
          <p:nvPr/>
        </p:nvSpPr>
        <p:spPr>
          <a:xfrm>
            <a:off x="1936250" y="4239350"/>
            <a:ext cx="53973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" sz="21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https://forms.gle/P1uxZBZX68aFRSFH6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g3efd1c97b7c_0_110" title="qr-cod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0280" y="1048400"/>
            <a:ext cx="3038550" cy="30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116994" y="2006024"/>
            <a:ext cx="469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Odd Even Linked List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152400" y="4572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181EF"/>
                </a:solidFill>
                <a:latin typeface="Roboto Black"/>
                <a:ea typeface="Roboto Black"/>
                <a:cs typeface="Roboto Black"/>
                <a:sym typeface="Roboto Black"/>
              </a:rPr>
              <a:t>TOPICS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62721" y="1628019"/>
            <a:ext cx="3204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Introduction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Algorithm Pseudocode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Time and space complexity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Advantages and disadvantages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73d0138414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73d0138414_0_18"/>
          <p:cNvSpPr txBox="1"/>
          <p:nvPr>
            <p:ph type="ctrTitle"/>
          </p:nvPr>
        </p:nvSpPr>
        <p:spPr>
          <a:xfrm>
            <a:off x="333200" y="879350"/>
            <a:ext cx="72843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1800"/>
              <a:t>Odd Even Linked List 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680"/>
              <a:buFont typeface="Arial"/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g373d0138414_0_18"/>
          <p:cNvSpPr txBox="1"/>
          <p:nvPr/>
        </p:nvSpPr>
        <p:spPr>
          <a:xfrm>
            <a:off x="481250" y="1232650"/>
            <a:ext cx="71406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Identify the Value.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Look at the data inside the node (not its position).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Separate.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Pick out all the odd numbers and line them up. Then, take all the even numbers and start a second line.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Connect.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Stitch the end of the "Odd Line" to the start of the "Even Line."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You have one continuous list that is perfectly sorted by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Value Type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Asked in: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(FANG)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LeetCode 328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Google</a:t>
            </a:r>
            <a:r>
              <a:rPr lang="en">
                <a:solidFill>
                  <a:schemeClr val="dk1"/>
                </a:solidFill>
              </a:rPr>
              <a:t> (SWE Early Career Technical Round)February 22, 2024 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3c1788ac8_0_4"/>
          <p:cNvSpPr txBox="1"/>
          <p:nvPr/>
        </p:nvSpPr>
        <p:spPr>
          <a:xfrm>
            <a:off x="533400" y="444500"/>
            <a:ext cx="4479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g373c1788ac8_0_4"/>
          <p:cNvSpPr txBox="1"/>
          <p:nvPr/>
        </p:nvSpPr>
        <p:spPr>
          <a:xfrm>
            <a:off x="740175" y="685800"/>
            <a:ext cx="3226500" cy="98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 10 → 21 → 4 → 15 → 8 → 7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 21 → 15 → 7 → 10 → 4 → 8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g373c1788ac8_0_4"/>
          <p:cNvSpPr txBox="1"/>
          <p:nvPr/>
        </p:nvSpPr>
        <p:spPr>
          <a:xfrm>
            <a:off x="609600" y="1760550"/>
            <a:ext cx="8451000" cy="26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Create Two Sublists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 Sublist: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 temporary chain to catch odd numbers $(21, 15, 7)$ in order.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 Sublist: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 temporary chain to catch even numbers $(10, 4, 8)$ in order.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The Final Connection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Identify the Tail: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Find the last node of the Odd Sublist.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Identify the Head: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Locate the first node of the Even Sublist.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Stitch: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Link the Odd Tail directly to the Even Head to form the final list.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/>
        </p:nvSpPr>
        <p:spPr>
          <a:xfrm>
            <a:off x="533400" y="304800"/>
            <a:ext cx="7364400" cy="49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Algorithm Breakdown 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Setup &amp; Initialization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Dual Pointers: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We initialize two "chains" to track our groups.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oddHead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oddTail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To manage the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Odd-Valued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list.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evenHead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evenTail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To manage the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Even-Valued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list.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i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Tip: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These pointers act as placeholders to ensure we don't lose the start of our new lists.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The "Sort-as-you-go" Traversal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through the original list node-by-node: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 A: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node.data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rightarrow-&gt; Append it to the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oddTail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 B: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node.data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rightarrow -&gt;Append it to the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evenTail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i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pointers move forward automatically as we add new nodes.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The Final Merge (The Stitch)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Once the end of the original list is reached: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the Groups: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Connect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oddTail.next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the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evenHead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Terminate the List: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Set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evenTail.next = null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prevent infinite loops.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Result: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Return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oddHead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 the starting point of your new reordered list.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21c30a0d3_0_4"/>
          <p:cNvSpPr txBox="1"/>
          <p:nvPr/>
        </p:nvSpPr>
        <p:spPr>
          <a:xfrm>
            <a:off x="2362200" y="457200"/>
            <a:ext cx="3956100" cy="4103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Pseudocode: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oddEvenList(head):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head is null OR head.next is null: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odd = head               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even = head.next        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evenHead = even         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While even is not null AND even.next is not null: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odd.next = even.next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odd = odd.next      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even.next = odd.next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even = even.next    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odd.next = evenHead    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21c30a0d3_0_22"/>
          <p:cNvSpPr txBox="1"/>
          <p:nvPr/>
        </p:nvSpPr>
        <p:spPr>
          <a:xfrm>
            <a:off x="533400" y="444500"/>
            <a:ext cx="4479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g3721c30a0d3_0_22"/>
          <p:cNvSpPr txBox="1"/>
          <p:nvPr/>
        </p:nvSpPr>
        <p:spPr>
          <a:xfrm>
            <a:off x="647700" y="811350"/>
            <a:ext cx="3226500" cy="5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Linked List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→ 2 → 3 → 4 → 5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3721c30a0d3_0_22"/>
          <p:cNvSpPr txBox="1"/>
          <p:nvPr/>
        </p:nvSpPr>
        <p:spPr>
          <a:xfrm>
            <a:off x="609600" y="312750"/>
            <a:ext cx="417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g3721c30a0d3_0_22"/>
          <p:cNvSpPr txBox="1"/>
          <p:nvPr/>
        </p:nvSpPr>
        <p:spPr>
          <a:xfrm>
            <a:off x="4800600" y="811350"/>
            <a:ext cx="2892900" cy="5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Expected Output After Rearranging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→ 3 → 5 → 2 → 4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3721c30a0d3_0_22"/>
          <p:cNvSpPr txBox="1"/>
          <p:nvPr/>
        </p:nvSpPr>
        <p:spPr>
          <a:xfrm>
            <a:off x="609600" y="1447800"/>
            <a:ext cx="6220800" cy="3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with two pointers: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 starts at node 1 (position 1)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 starts at node 2 (position 2)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Save evenHead = even for connecting later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rearrangement: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odd.next = 3 (skip even node 2)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 moves to node 3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even.next = 4 (skip odd node 3)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 moves to node 4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721c30a0d3_0_22"/>
          <p:cNvSpPr txBox="1"/>
          <p:nvPr/>
        </p:nvSpPr>
        <p:spPr>
          <a:xfrm>
            <a:off x="4797850" y="1837900"/>
            <a:ext cx="32265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4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Second rearrangement: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odd.next = 5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 moves to node 5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even.next = null (no more nodes to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rearrange)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 becomes null → stop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4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connection: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odd.next = evenHead (connect end of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 list to start of even list)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3c1dcbc4c_0_22"/>
          <p:cNvSpPr txBox="1"/>
          <p:nvPr/>
        </p:nvSpPr>
        <p:spPr>
          <a:xfrm>
            <a:off x="457200" y="368300"/>
            <a:ext cx="44229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OddEvenLinkedList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return newNode;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373c1dcbc4c_0_22"/>
          <p:cNvSpPr txBox="1"/>
          <p:nvPr/>
        </p:nvSpPr>
        <p:spPr>
          <a:xfrm>
            <a:off x="4418325" y="368300"/>
            <a:ext cx="4422900" cy="50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static Node oddEvenList(Node head)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 || head.next == null)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return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odd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even = head.next;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evenHead = even;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(even != null &amp;&amp; even.next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odd.next = even.next;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odd = odd.next;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even.next = odd.next;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even = even.next;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odd.next = evenHead;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void printList(Node head)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 + "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3c1dcbc4c_0_27"/>
          <p:cNvSpPr txBox="1"/>
          <p:nvPr/>
        </p:nvSpPr>
        <p:spPr>
          <a:xfrm>
            <a:off x="533400" y="368300"/>
            <a:ext cx="42321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public static void main(String[] args)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nodes: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" + n + " elements:");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n; i++)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data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 = insert(head, data);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System.out.print("Original List: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head = oddEvenList(head);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System.out.print("Odd-Even Reordered List: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3c1788ac8_0_33"/>
          <p:cNvSpPr txBox="1"/>
          <p:nvPr/>
        </p:nvSpPr>
        <p:spPr>
          <a:xfrm>
            <a:off x="609600" y="1219200"/>
            <a:ext cx="3000000" cy="7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 number of nodes: 5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 5 elements: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1 2 3 4 5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73c1788ac8_0_33"/>
          <p:cNvSpPr txBox="1"/>
          <p:nvPr/>
        </p:nvSpPr>
        <p:spPr>
          <a:xfrm>
            <a:off x="609600" y="2250325"/>
            <a:ext cx="3000000" cy="5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 List: 1 2 3 4 5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Odd-Even Reordered List: 1 3 5 2 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73c1788ac8_0_33"/>
          <p:cNvSpPr txBox="1"/>
          <p:nvPr/>
        </p:nvSpPr>
        <p:spPr>
          <a:xfrm>
            <a:off x="533400" y="609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Sample Input/Output: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21c30a0d3_0_37"/>
          <p:cNvSpPr txBox="1"/>
          <p:nvPr/>
        </p:nvSpPr>
        <p:spPr>
          <a:xfrm>
            <a:off x="457200" y="321475"/>
            <a:ext cx="81180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Explanation 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Node Class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Represents a single node in the linked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Contains two members: int data and Node next.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2. insert() Method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Adds a node to the end of the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list is empty, the new node becomes the head.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Otherwise, it traverses to the last node and appends the new node.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3. oddEvenList() Method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Performs the main logic to reorder the list by odd and even positions.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 case: If the list is empty or has only one node, return as is.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3d41a85a7_0_10"/>
          <p:cNvSpPr txBox="1"/>
          <p:nvPr/>
        </p:nvSpPr>
        <p:spPr>
          <a:xfrm>
            <a:off x="457200" y="550075"/>
            <a:ext cx="81180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 steps inside: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Initialize: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 points to the head (first node).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 points to head.next (second node).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evenHead saves the starting point of the even list for reconnecting later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Loop continues while even and even.next are not null: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odd.next to even.next (next odd node).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odd to the next odd node.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even.next to odd.next (next even node).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even to the next even node.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rearrangement, link last odd node to evenHead to combine both parts.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3e16ab216_0_8"/>
          <p:cNvSpPr txBox="1"/>
          <p:nvPr/>
        </p:nvSpPr>
        <p:spPr>
          <a:xfrm>
            <a:off x="457200" y="550075"/>
            <a:ext cx="8118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4. printList() Method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Traverses and prints each node’s data from the linked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5. main() Method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Scanner to take user input.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 the number of nodes and each element.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Builds the list using insert().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Prints the original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Calls oddEvenList() to rearrange nodes.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Prints the modified list.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73c1dcbc4c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73c1dcbc4c_0_16"/>
          <p:cNvSpPr txBox="1"/>
          <p:nvPr/>
        </p:nvSpPr>
        <p:spPr>
          <a:xfrm>
            <a:off x="481250" y="394450"/>
            <a:ext cx="7459200" cy="4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Complexity: O(n)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algorithm traverses the list once using a while loop.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each iteration, it moves the odd and even pointers one step forward.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loop continues until the end of the list is reached.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for a list with n nodes, the loop runs approximately n/2 times, which is still O(n) in Big-O notation.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Complexity: O(1)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algorithm uses only a fixed number of pointers: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odd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even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evenHead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does not use any additional data structures like arrays, lists, or recursion stacks.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rearrangement is done in-place, directly by changing node links.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Hence, space used is constant, i.e., O(1).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3d0138414_0_6"/>
          <p:cNvSpPr txBox="1"/>
          <p:nvPr/>
        </p:nvSpPr>
        <p:spPr>
          <a:xfrm>
            <a:off x="457200" y="397675"/>
            <a:ext cx="8118000" cy="4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Advantages 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In-Place Rearrangement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extra memory is used; links are rearranged directly.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Efficient Time Complexity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Operates in O(n) time, where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the number of nodes.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Preserves Relative Order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Odd and even positioned nodes retain their original order.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Simple and Clean Logic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only a few pointers (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odd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even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" sz="12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evenHead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for tracking.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Need for Extra Data Structures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Saves memory as it avoids arrays, queues, or stacks.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3c1788ac8_0_37"/>
          <p:cNvSpPr txBox="1"/>
          <p:nvPr/>
        </p:nvSpPr>
        <p:spPr>
          <a:xfrm>
            <a:off x="457200" y="473875"/>
            <a:ext cx="81180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Disadvantages : 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for Positional Rearrangement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Works based on node positions, not values (e.g., can't separate by odd/even values).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Single Pass, Limited Flexibility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Cannot handle advanced patterns or rules without modifying the core logic.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Less Useful in Sorted List Contexts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suitable where maintaining sorted order is important.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Confusion in Indexing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Beginners may confuse odd positions (1-based) with odd values (e.g., 1, 3, 5).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idx="1" type="subTitle"/>
          </p:nvPr>
        </p:nvSpPr>
        <p:spPr>
          <a:xfrm>
            <a:off x="502550" y="1320225"/>
            <a:ext cx="7220400" cy="3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Can this problem be solved using arrays or lists?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Yes, by extracting nodes into two arrays/lists (odd and even), and then  reconstructing the linked list. But this approach uses O(n) extra space.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411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1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3d0138414_0_28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411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2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g373d0138414_0_28"/>
          <p:cNvSpPr txBox="1"/>
          <p:nvPr>
            <p:ph idx="1" type="subTitle"/>
          </p:nvPr>
        </p:nvSpPr>
        <p:spPr>
          <a:xfrm>
            <a:off x="502550" y="132022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Is it possible to solve this recursively?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Theoretically yes, but not efficient. It will require extra stack space (O(n)), and is more complex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for pointer manipulation.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3d0138414_0_42"/>
          <p:cNvSpPr txBox="1"/>
          <p:nvPr>
            <p:ph idx="1" type="subTitle"/>
          </p:nvPr>
        </p:nvSpPr>
        <p:spPr>
          <a:xfrm>
            <a:off x="502550" y="1320225"/>
            <a:ext cx="85206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Can you detect and handle a circular linked list in this logic?</a:t>
            </a:r>
            <a:br>
              <a:rPr b="1" lang="en" sz="1300"/>
            </a:b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No, the standard logic doesn't detect loops. You'd need to add loop detection (e.g., Floyd’s Cycle Detection) before applying rearrangement.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231" name="Google Shape;231;g373d0138414_0_42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411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3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3c1788ac8_0_49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411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4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373c1788ac8_0_49"/>
          <p:cNvSpPr txBox="1"/>
          <p:nvPr>
            <p:ph idx="1" type="subTitle"/>
          </p:nvPr>
        </p:nvSpPr>
        <p:spPr>
          <a:xfrm>
            <a:off x="502550" y="1320225"/>
            <a:ext cx="8520600" cy="3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200"/>
              <a:t>How would you test this function thoroughly?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 </a:t>
            </a:r>
            <a:r>
              <a:rPr lang="en" sz="1200"/>
              <a:t>Include test cases like: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Empty list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Single node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Even number of nodes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Odd number of nodes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Nodes with duplicate values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Nodes with increasing, decreasing values</a:t>
            </a:r>
            <a:br>
              <a:rPr lang="en" sz="1300"/>
            </a:br>
            <a:br>
              <a:rPr lang="en" sz="1300"/>
            </a:b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fd1c97b7c_0_57"/>
          <p:cNvSpPr txBox="1"/>
          <p:nvPr>
            <p:ph type="title"/>
          </p:nvPr>
        </p:nvSpPr>
        <p:spPr>
          <a:xfrm>
            <a:off x="1757250" y="725150"/>
            <a:ext cx="41280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807FEC"/>
                </a:solidFill>
              </a:rPr>
              <a:t>Help Desk </a:t>
            </a:r>
            <a:endParaRPr b="1" sz="2000">
              <a:solidFill>
                <a:srgbClr val="807FE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g3efd1c97b7c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525"/>
            <a:ext cx="1295400" cy="11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efd1c97b7c_0_57"/>
          <p:cNvSpPr txBox="1"/>
          <p:nvPr/>
        </p:nvSpPr>
        <p:spPr>
          <a:xfrm>
            <a:off x="659100" y="1842250"/>
            <a:ext cx="53160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concerns related to attendance/marks/ faculty ; you can reach out to ETHNUS helpdesk through the displayed QR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22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5" name="Google Shape;245;g3efd1c97b7c_0_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6625" y="1842250"/>
            <a:ext cx="2165724" cy="196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fd1c97b7c_0_0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1" name="Google Shape;251;g3efd1c97b7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efd1c97b7c_0_0"/>
          <p:cNvSpPr/>
          <p:nvPr/>
        </p:nvSpPr>
        <p:spPr>
          <a:xfrm>
            <a:off x="1634725" y="3801680"/>
            <a:ext cx="5184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5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9" name="Google Shape;2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5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2" name="Google Shape;262;p1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5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4" name="Google Shape;26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5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" name="Google Shape;266;p1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