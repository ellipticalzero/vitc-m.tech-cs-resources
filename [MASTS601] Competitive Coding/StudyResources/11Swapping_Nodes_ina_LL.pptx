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 Black"/>
      <p:bold r:id="rId29"/>
      <p:boldItalic r:id="rId30"/>
    </p:embeddedFon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jkV0U63pCq7hlKJWaIMpUB6jTd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Blac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font" Target="fonts/RobotoBlack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fd160f66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efd160f66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3d0138414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73d013841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9115eafb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e9115eafb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21c30a0d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721c30a0d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Function swapNodes(head, k):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head is null: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null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Step 1: Count total nodes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length = 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temp =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While temp is not null: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length = length + 1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temp = temp.next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Step 2: Find the kth node from start and kth from end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first =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for i = 1 to k - 1: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first = first.next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second =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for i = 1 to (length - k):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second = second.next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Step 3: Swap their data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tempData = first.data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first.data = second.data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second.data = tempData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Return head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21c30a0d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721c30a0d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3c1dcbc4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73c1dcbc4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java.util.Scanner;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Node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int 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 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Node(int data)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this.data = 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this.next =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class SwapNodesLinkedList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Insert node at the end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insert(Node head, int data)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newNode = new Node(data);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null) return newNode;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(temp.next != null)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temp.next = newNode;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Swap k-th node from start and end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swapNodes(Node head, int k)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null) return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Step 1: Count total number of nodes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length = 0;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 != null)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length++;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Step 2: Find k-th node from start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first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1; i &lt; k; i++)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first = first.next;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Step 3: Find k-th node from end (position = length - k + 1)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second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1; i &lt; length - k + 1; i++)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second = second.next;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Step 4: Swap their data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tempData = first.data;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first.data = second.data;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second.data = tempData;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Print the linked list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void printList(Node head)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 != null)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System.out.print(temp.data + "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Main method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public static void main(String[] args)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Scanner sc = new Scanner(System.in);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head =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number of nodes: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n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System.out.println("Enter " + n + " elements:");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0; i &lt; n; i++)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int val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head = insert(head, val);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the value of k: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k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System.out.print("Original List: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head = swapNodes(head, k);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System.out.print("After Swapping k-th node from start and end: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3c1dcbc4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73c1dcbc4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21c30a0d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721c30a0d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3d41a85a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73d41a85a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3c1dcbc4c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73c1dcbc4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3d013841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73d013841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3c1788ac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73c1788ac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3d013841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73d013841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3d013841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73d013841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3c1788ac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73c1788ac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fd160f6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fd160f6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fd160f66a_0_53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g3efd160f66a_0_53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23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23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2" name="Google Shape;62;p25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3" name="Google Shape;63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26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6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">
  <p:cSld name="10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29"/>
          <p:cNvSpPr/>
          <p:nvPr/>
        </p:nvSpPr>
        <p:spPr>
          <a:xfrm>
            <a:off x="902326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29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29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29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29"/>
          <p:cNvSpPr/>
          <p:nvPr/>
        </p:nvSpPr>
        <p:spPr>
          <a:xfrm>
            <a:off x="894683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29"/>
          <p:cNvSpPr/>
          <p:nvPr/>
        </p:nvSpPr>
        <p:spPr>
          <a:xfrm>
            <a:off x="902326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29"/>
          <p:cNvSpPr/>
          <p:nvPr/>
        </p:nvSpPr>
        <p:spPr>
          <a:xfrm>
            <a:off x="887040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29"/>
          <p:cNvSpPr/>
          <p:nvPr/>
        </p:nvSpPr>
        <p:spPr>
          <a:xfrm>
            <a:off x="879397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29"/>
          <p:cNvSpPr/>
          <p:nvPr/>
        </p:nvSpPr>
        <p:spPr>
          <a:xfrm>
            <a:off x="871754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fd160f66a_0_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g3efd160f66a_0_10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g3efd160f66a_0_10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g3efd160f66a_0_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oboto"/>
              <a:buNone/>
              <a:defRPr b="0" i="0" sz="3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5414"/>
            <a:ext cx="9144003" cy="51380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orms.gle/6qqVmGx9RoDy4Sjw9" TargetMode="External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hyperlink" Target="https://codemithra.com/vit-helpdesk/" TargetMode="External"/><Relationship Id="rId5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hyperlink" Target="https://learn.codemithra.com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0" y="524088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0" y="3386138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fd160f66a_0_110"/>
          <p:cNvSpPr txBox="1"/>
          <p:nvPr>
            <p:ph type="title"/>
          </p:nvPr>
        </p:nvSpPr>
        <p:spPr>
          <a:xfrm>
            <a:off x="544400" y="491300"/>
            <a:ext cx="7219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000">
                <a:solidFill>
                  <a:srgbClr val="908BFF"/>
                </a:solidFill>
              </a:rPr>
              <a:t>			</a:t>
            </a:r>
            <a:r>
              <a:rPr b="1" lang="en" sz="2000">
                <a:solidFill>
                  <a:srgbClr val="807FEC"/>
                </a:solidFill>
              </a:rPr>
              <a:t>	Test Time on </a:t>
            </a:r>
            <a:r>
              <a:rPr b="1" lang="en" sz="2000">
                <a:solidFill>
                  <a:srgbClr val="807FE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Odd Even Linked List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endParaRPr b="1" sz="2000">
              <a:solidFill>
                <a:srgbClr val="908BFF"/>
              </a:solidFill>
            </a:endParaRPr>
          </a:p>
        </p:txBody>
      </p:sp>
      <p:sp>
        <p:nvSpPr>
          <p:cNvPr id="115" name="Google Shape;115;g3efd160f66a_0_110"/>
          <p:cNvSpPr txBox="1"/>
          <p:nvPr/>
        </p:nvSpPr>
        <p:spPr>
          <a:xfrm>
            <a:off x="1936250" y="4239350"/>
            <a:ext cx="53973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lang="en" sz="2100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 : </a:t>
            </a:r>
            <a:r>
              <a:rPr lang="en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https://forms.gle/6qqVmGx9RoDy4Sjw9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g3efd160f66a_0_110" title="qr-cod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1007" y="1048400"/>
            <a:ext cx="3038550" cy="30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193194" y="2006024"/>
            <a:ext cx="46911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Swapping Nodes in a 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Linked List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 txBox="1"/>
          <p:nvPr/>
        </p:nvSpPr>
        <p:spPr>
          <a:xfrm>
            <a:off x="152400" y="4572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8181EF"/>
                </a:solidFill>
                <a:latin typeface="Roboto Black"/>
                <a:ea typeface="Roboto Black"/>
                <a:cs typeface="Roboto Black"/>
                <a:sym typeface="Roboto Black"/>
              </a:rPr>
              <a:t>TOPICS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962721" y="1628019"/>
            <a:ext cx="32040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Introduction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Algorithm Pseudocode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Code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Time and space complexity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Advantages and disadvantages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73d0138414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73d0138414_0_18"/>
          <p:cNvSpPr txBox="1"/>
          <p:nvPr>
            <p:ph type="ctrTitle"/>
          </p:nvPr>
        </p:nvSpPr>
        <p:spPr>
          <a:xfrm>
            <a:off x="333200" y="879350"/>
            <a:ext cx="72843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" sz="1800"/>
              <a:t>Swapping Nodes in a Linked List</a:t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680"/>
              <a:buFont typeface="Arial"/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g373d0138414_0_18"/>
          <p:cNvSpPr txBox="1"/>
          <p:nvPr/>
        </p:nvSpPr>
        <p:spPr>
          <a:xfrm>
            <a:off x="481250" y="1232650"/>
            <a:ext cx="71406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Objective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Given a linked list and an integer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Task: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Swap the values of the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k-th node from the beginning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the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k-th node from the end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Key Constraint: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indexing is usually 1-based.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Real-World Interview Context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Recency: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Highly active in 2024-2026 problem sets.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300">
                <a:solidFill>
                  <a:schemeClr val="dk1"/>
                </a:solidFill>
              </a:rPr>
              <a:t>LeetCode 1721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300">
                <a:solidFill>
                  <a:schemeClr val="dk1"/>
                </a:solidFill>
              </a:rPr>
              <a:t>Amazon</a:t>
            </a:r>
            <a:r>
              <a:rPr lang="en" sz="1300">
                <a:solidFill>
                  <a:schemeClr val="dk1"/>
                </a:solidFill>
              </a:rPr>
              <a:t> (SDE-1 Virtual Onsite)January 18, 2025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/>
        </p:nvSpPr>
        <p:spPr>
          <a:xfrm>
            <a:off x="533400" y="457200"/>
            <a:ext cx="73644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 : </a:t>
            </a:r>
            <a:endParaRPr b="1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solve this efficiently in one pass ($O(n)$ time), we use three specific pointers: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First Node (</a:t>
            </a:r>
            <a:r>
              <a:rPr b="1" lang="en" sz="16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first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):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Find the k-th node from the start by moving </a:t>
            </a:r>
            <a:r>
              <a:rPr lang="en" sz="16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k-1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steps from the head.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Fast Pointer (</a:t>
            </a:r>
            <a:r>
              <a:rPr b="1" lang="en" sz="16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fast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):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Start this at the </a:t>
            </a:r>
            <a:r>
              <a:rPr lang="en" sz="16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first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node.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Second Node (</a:t>
            </a:r>
            <a:r>
              <a:rPr b="1" lang="en" sz="16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second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):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Start this at the </a:t>
            </a:r>
            <a:r>
              <a:rPr lang="en" sz="16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head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Logic: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</a:t>
            </a:r>
            <a:r>
              <a:rPr lang="en" sz="16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fast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6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second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forward together until </a:t>
            </a:r>
            <a:r>
              <a:rPr lang="en" sz="16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fast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reaches the last node. When </a:t>
            </a:r>
            <a:r>
              <a:rPr lang="en" sz="16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fast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hits the end, the </a:t>
            </a:r>
            <a:r>
              <a:rPr lang="en" sz="16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second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pointer will be exactly at the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k-th node from the end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9115eafb1_0_11"/>
          <p:cNvSpPr txBox="1"/>
          <p:nvPr/>
        </p:nvSpPr>
        <p:spPr>
          <a:xfrm>
            <a:off x="533400" y="457200"/>
            <a:ext cx="73644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 Steps 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1: Locate the Start K-th Node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Initialize a pointer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curr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at the head.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it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k-1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times.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Store this position as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first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2: Locate the End K-th Node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fast = first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second = head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While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fast.next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not null: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both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fast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second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forward by one.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second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pointer is now your target from the end.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3: The Value Swap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Swap the data: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temp = first.val; first.val = second.val; second.val = temp;</a:t>
            </a:r>
            <a:endParaRPr sz="1100">
              <a:solidFill>
                <a:srgbClr val="18803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We swap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values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not the actual node connections, which makes the implementation much simpler!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21c30a0d3_0_4"/>
          <p:cNvSpPr txBox="1"/>
          <p:nvPr/>
        </p:nvSpPr>
        <p:spPr>
          <a:xfrm>
            <a:off x="2362200" y="381000"/>
            <a:ext cx="3956100" cy="436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Pseudocode: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Function swapNodes(head, k):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head is null: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null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length = 0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temp =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While temp is not null: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length = length + 1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temp = temp.next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first =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for i = 1 to k - 1: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first = first.next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second =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for i = 1 to (length - k):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second = second.next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tempData = first.data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first.data = second.data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second.data = tempData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Return head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21c30a0d3_0_22"/>
          <p:cNvSpPr txBox="1"/>
          <p:nvPr/>
        </p:nvSpPr>
        <p:spPr>
          <a:xfrm>
            <a:off x="533400" y="444500"/>
            <a:ext cx="4479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g3721c30a0d3_0_22"/>
          <p:cNvSpPr txBox="1"/>
          <p:nvPr/>
        </p:nvSpPr>
        <p:spPr>
          <a:xfrm>
            <a:off x="647700" y="811350"/>
            <a:ext cx="3226500" cy="73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 Linked List: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→ 2 → 3 → 4 → 5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 = 2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g3721c30a0d3_0_22"/>
          <p:cNvSpPr txBox="1"/>
          <p:nvPr/>
        </p:nvSpPr>
        <p:spPr>
          <a:xfrm>
            <a:off x="609600" y="312750"/>
            <a:ext cx="417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g3721c30a0d3_0_22"/>
          <p:cNvSpPr txBox="1"/>
          <p:nvPr/>
        </p:nvSpPr>
        <p:spPr>
          <a:xfrm>
            <a:off x="4800600" y="811350"/>
            <a:ext cx="2892900" cy="55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 Linked List: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→ 4 → 3 → 2 → 5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g3721c30a0d3_0_22"/>
          <p:cNvSpPr txBox="1"/>
          <p:nvPr/>
        </p:nvSpPr>
        <p:spPr>
          <a:xfrm>
            <a:off x="609600" y="1600200"/>
            <a:ext cx="6220800" cy="3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Step-by-Step Explanation: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list length: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nodes = 5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Identify nodes to swap: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k-th from start = 2nd node → value = 2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k-th from end = (5 - 2 + 1) = 4th node → value = 4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Swap their values: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Swap 2 and 4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 becomes: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1 → 4 → 3 → 2 → 5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3c1dcbc4c_0_22"/>
          <p:cNvSpPr txBox="1"/>
          <p:nvPr/>
        </p:nvSpPr>
        <p:spPr>
          <a:xfrm>
            <a:off x="457200" y="368300"/>
            <a:ext cx="4422900" cy="4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java.util.Scanner;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Node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int data;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 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Node(int data)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this.data = data;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this.next = null;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class SwapNodesLinkedList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insert(Node head, int data)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newNode = new Node(data);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null) return newNode;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(temp.next != null)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temp.next = newNode;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g373c1dcbc4c_0_22"/>
          <p:cNvSpPr txBox="1"/>
          <p:nvPr/>
        </p:nvSpPr>
        <p:spPr>
          <a:xfrm>
            <a:off x="4418325" y="368300"/>
            <a:ext cx="4422900" cy="47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static Node swapNodes(Node head, int k)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null) return null;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length = 0;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 != null)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length++;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first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1; i &lt; k; i++)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first = first.next;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second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1; i &lt; length - k + 1; i++)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second = second.next;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tempData = first.data;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first.data = second.data;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second.data = tempData;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3c1dcbc4c_0_27"/>
          <p:cNvSpPr txBox="1"/>
          <p:nvPr/>
        </p:nvSpPr>
        <p:spPr>
          <a:xfrm>
            <a:off x="533400" y="520700"/>
            <a:ext cx="42321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static void printList(Node head)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 != null)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System.out.print(temp.data + "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public static void main(String[] args)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Scanner sc = new Scanner(System.in);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head = null;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number of nodes: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n = sc.nextInt();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System.out.println("Enter " + n + " elements:");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0; i &lt; n; i++)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int val = sc.nextInt();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head = insert(head, val);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g373c1dcbc4c_0_27"/>
          <p:cNvSpPr txBox="1"/>
          <p:nvPr/>
        </p:nvSpPr>
        <p:spPr>
          <a:xfrm>
            <a:off x="4724400" y="520700"/>
            <a:ext cx="3509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System.out.print("Enter the value of k: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k = sc.nextInt();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System.out.print("Original List: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head = swapNodes(head, k);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System.out.print("After Swapping k-th node from start and end: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21c30a0d3_0_37"/>
          <p:cNvSpPr txBox="1"/>
          <p:nvPr/>
        </p:nvSpPr>
        <p:spPr>
          <a:xfrm>
            <a:off x="457200" y="473875"/>
            <a:ext cx="8118000" cy="45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Explanation 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class: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Represents each node in the list with data and next.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insert():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Adds a new node at the end of the list.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swapNodes():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Counts the total number of nodes using a loop.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Finds the k-th node from start using a for loop.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Finds the k-th node from end using the formula: length - k + 1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Swaps their data values using a temporary variable.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printList():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Traverses and prints each node in the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3d41a85a7_0_10"/>
          <p:cNvSpPr txBox="1"/>
          <p:nvPr/>
        </p:nvSpPr>
        <p:spPr>
          <a:xfrm>
            <a:off x="457200" y="626275"/>
            <a:ext cx="8118000" cy="1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main():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Takes input from the user for list size and elements.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Accepts value of k.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Displays the original list and the modified list after swapping.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g373d41a85a7_0_10"/>
          <p:cNvSpPr txBox="1"/>
          <p:nvPr/>
        </p:nvSpPr>
        <p:spPr>
          <a:xfrm>
            <a:off x="4491450" y="2261700"/>
            <a:ext cx="3000000" cy="107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Output: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Original List: 1 2 3 4 5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Swapping k-th node from start and end: 1 4 3 2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73d41a85a7_0_10"/>
          <p:cNvSpPr txBox="1"/>
          <p:nvPr/>
        </p:nvSpPr>
        <p:spPr>
          <a:xfrm>
            <a:off x="696125" y="2273175"/>
            <a:ext cx="3000000" cy="141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Sample Input: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Enter number of nodes: 5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Enter 5 elements: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1 2 3 4 5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Enter the value of k: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373c1dcbc4c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73c1dcbc4c_0_16"/>
          <p:cNvSpPr txBox="1"/>
          <p:nvPr/>
        </p:nvSpPr>
        <p:spPr>
          <a:xfrm>
            <a:off x="481250" y="394450"/>
            <a:ext cx="7459200" cy="4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Complexity: O(n)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traversal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To count the total number of nodes (n):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Requires visiting each node once → O(n)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Second traversal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To locate: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k-th node from start, and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k-th node from end (at position n - k + 1)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traversal is up to O(n) in the worst case, but together still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O(n)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Swapping values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between two nodes takes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O(1)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time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Total Time = O(n) + O(n) + O(1) = O(n)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 Complexity: O(1)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Only a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constant number of variables and pointers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are used: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example: first, second, temp, and counters like length and i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recursion, no arrays or additional data structures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So space used is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constant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i.e.,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O(1)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3d0138414_0_6"/>
          <p:cNvSpPr txBox="1"/>
          <p:nvPr/>
        </p:nvSpPr>
        <p:spPr>
          <a:xfrm>
            <a:off x="457200" y="473875"/>
            <a:ext cx="8118000" cy="3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Advantages 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Simple and Efficient (When Swapping Values):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Swapping the values (data fields) is straightforward and avoids complex pointer manipulations.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Runs in O(n) time and O(1) space.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Preserves List Structure: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links remain intact (especially when swapping data), reducing the risk of breaking the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Extra Memory Needed: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operation is done in-place with only a few temporary variables.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Works for Any Valid k: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 handle any valid position k, including symmetric positions like middle and ends.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3c1788ac8_0_37"/>
          <p:cNvSpPr txBox="1"/>
          <p:nvPr/>
        </p:nvSpPr>
        <p:spPr>
          <a:xfrm>
            <a:off x="457200" y="473875"/>
            <a:ext cx="81180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Disadvantages : 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Only Swapping Values (Not Actual Nodes):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some cases (e.g., when data must not be modified), swapping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nodes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(not values) is required, which is more complex.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Requires Full Traversal Twice: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One pass to find the length, another to locate target nodes → still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O(n)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but with 2 traversals.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Error-Prone When k is Invalid: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k is less than 1 or greater than the list length, it may cause null pointer errors if not handled properly.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Less Useful in Doubly Linked List Cases: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doubly linked lists, swapping actual nodes is preferred and more efficient due to backward traversal.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 Suitable for Data-Restricted Nodes: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some real-world cases (e.g., secure data), values cannot be swapped directly.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/>
          <p:nvPr>
            <p:ph idx="1" type="subTitle"/>
          </p:nvPr>
        </p:nvSpPr>
        <p:spPr>
          <a:xfrm>
            <a:off x="502550" y="1320225"/>
            <a:ext cx="7220400" cy="3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200"/>
              <a:t>How do you find the k-th node from the end in a singly linked list?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Use the formula: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Position from start = (length - k + 1)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Since singly linked lists can't go backward, you must first traverse the list to find its length.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6901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1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3d0138414_0_28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6901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2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g373d0138414_0_28"/>
          <p:cNvSpPr txBox="1"/>
          <p:nvPr>
            <p:ph idx="1" type="subTitle"/>
          </p:nvPr>
        </p:nvSpPr>
        <p:spPr>
          <a:xfrm>
            <a:off x="502550" y="132022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200"/>
              <a:t>Why do we usually swap values instead of actual nodes?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Swapping node values is easier and avoids breaking or fixing next pointers, especially in a singly linked list.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Swapping nodes requires handling edge cases like adjacent nodes, head/tail changes, etc.</a:t>
            </a:r>
            <a:endParaRPr b="1" sz="1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3d0138414_0_42"/>
          <p:cNvSpPr txBox="1"/>
          <p:nvPr>
            <p:ph idx="1" type="subTitle"/>
          </p:nvPr>
        </p:nvSpPr>
        <p:spPr>
          <a:xfrm>
            <a:off x="502550" y="1320225"/>
            <a:ext cx="85206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200"/>
              <a:t>What edge cases would you consider when swapping nodes?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k is 1 (swap head and tail)</a:t>
            </a: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k equals length/2 (swapping the same node — no change)</a:t>
            </a: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k is greater than list size (invalid — should handle gracefully)</a:t>
            </a: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List is empty or has only 1 node (nothing to swap)</a:t>
            </a:r>
            <a:br>
              <a:rPr lang="en" sz="1200"/>
            </a:b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219" name="Google Shape;219;g373d0138414_0_42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6901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3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3c1788ac8_0_49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6901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4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g373c1788ac8_0_49"/>
          <p:cNvSpPr txBox="1"/>
          <p:nvPr>
            <p:ph idx="1" type="subTitle"/>
          </p:nvPr>
        </p:nvSpPr>
        <p:spPr>
          <a:xfrm>
            <a:off x="502550" y="1320225"/>
            <a:ext cx="8520600" cy="3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200"/>
              <a:t>How would you test your swap function?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sz="13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Odd/even number of nodes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k = 1, k = length, k = length/2</a:t>
            </a: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Edge cases (empty list, 1-node list, invalid k)</a:t>
            </a:r>
            <a:br>
              <a:rPr lang="en" sz="1200"/>
            </a:br>
            <a:br>
              <a:rPr lang="en" sz="1300"/>
            </a:b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fd160f66a_0_0"/>
          <p:cNvSpPr txBox="1"/>
          <p:nvPr>
            <p:ph type="title"/>
          </p:nvPr>
        </p:nvSpPr>
        <p:spPr>
          <a:xfrm>
            <a:off x="1757250" y="725150"/>
            <a:ext cx="41280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807FEC"/>
                </a:solidFill>
              </a:rPr>
              <a:t>Help Desk </a:t>
            </a:r>
            <a:endParaRPr b="1" sz="2000">
              <a:solidFill>
                <a:srgbClr val="807FE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g3efd160f66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0525"/>
            <a:ext cx="1295400" cy="116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efd160f66a_0_0"/>
          <p:cNvSpPr txBox="1"/>
          <p:nvPr/>
        </p:nvSpPr>
        <p:spPr>
          <a:xfrm>
            <a:off x="659100" y="1842250"/>
            <a:ext cx="5316000" cy="2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Any concerns related to attendance/marks/ faculty ; you can reach out to ETHNUS helpdesk through the displayed QR 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22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https://codemithra.com/vit-helpdesk/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3" name="Google Shape;233;g3efd160f66a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6625" y="1842250"/>
            <a:ext cx="2165724" cy="196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fd160f66a_0_53"/>
          <p:cNvSpPr/>
          <p:nvPr/>
        </p:nvSpPr>
        <p:spPr>
          <a:xfrm>
            <a:off x="555120" y="91584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9" name="Google Shape;239;g3efd160f66a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efd160f66a_0_53"/>
          <p:cNvSpPr/>
          <p:nvPr/>
        </p:nvSpPr>
        <p:spPr>
          <a:xfrm>
            <a:off x="1634725" y="3801680"/>
            <a:ext cx="51840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5"/>
          <p:cNvSpPr txBox="1"/>
          <p:nvPr/>
        </p:nvSpPr>
        <p:spPr>
          <a:xfrm>
            <a:off x="3141000" y="2194650"/>
            <a:ext cx="2862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7" name="Google Shape;24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61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61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5"/>
          <p:cNvSpPr txBox="1"/>
          <p:nvPr/>
        </p:nvSpPr>
        <p:spPr>
          <a:xfrm>
            <a:off x="1980750" y="4590801"/>
            <a:ext cx="11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0" name="Google Shape;250;p1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15"/>
          <p:cNvSpPr txBox="1"/>
          <p:nvPr/>
        </p:nvSpPr>
        <p:spPr>
          <a:xfrm>
            <a:off x="3519050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2" name="Google Shape;25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61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5"/>
          <p:cNvSpPr txBox="1"/>
          <p:nvPr/>
        </p:nvSpPr>
        <p:spPr>
          <a:xfrm>
            <a:off x="5457275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4" name="Google Shape;254;p1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