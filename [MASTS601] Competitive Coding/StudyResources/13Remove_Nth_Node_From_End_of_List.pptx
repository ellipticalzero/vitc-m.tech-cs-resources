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7" roundtripDataSignature="AMtx7miON6kuabpdUQN4sOCzQIWPxkqN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fd06c17f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3efd06c17f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I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problem tests your understanding of linked list traversal and pointer manipulation.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I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is commonly solved using the Two-Pointer Technique.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IN"/>
              <a:t>Why Interviewers Ask This Question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IN"/>
              <a:t>Tests understanding of </a:t>
            </a:r>
            <a:r>
              <a:rPr b="1" lang="en-IN"/>
              <a:t>Linked Lists</a:t>
            </a:r>
            <a:r>
              <a:rPr lang="en-IN"/>
              <a:t> 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IN"/>
              <a:t>Evaluates </a:t>
            </a:r>
            <a:r>
              <a:rPr b="1" lang="en-IN"/>
              <a:t>pointer manipulation skills</a:t>
            </a:r>
            <a:r>
              <a:rPr lang="en-IN"/>
              <a:t> 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IN"/>
              <a:t>Checks knowledge of the </a:t>
            </a:r>
            <a:r>
              <a:rPr b="1" lang="en-IN"/>
              <a:t>Two Pointer Technique</a:t>
            </a:r>
            <a:r>
              <a:rPr lang="en-IN"/>
              <a:t> 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IN"/>
              <a:t>Measures ability to handle </a:t>
            </a:r>
            <a:r>
              <a:rPr b="1" lang="en-IN"/>
              <a:t>edge cases</a:t>
            </a:r>
            <a:r>
              <a:rPr lang="en-IN"/>
              <a:t> 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IN"/>
              <a:t>Tests optimization from </a:t>
            </a:r>
            <a:r>
              <a:rPr b="1" lang="en-IN"/>
              <a:t>2-pass → 1-pass solution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IN"/>
              <a:t>“All methods work, but interviews expect optimization. The two-pointer approach reduces traversal and avoids extra memory, which makes it the best solution.”</a:t>
            </a:r>
            <a:endParaRPr/>
          </a:p>
        </p:txBody>
      </p:sp>
      <p:sp>
        <p:nvSpPr>
          <p:cNvPr id="95" name="Google Shape;9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I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problem tests your understanding of linked list traversal and pointer manipulation.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I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is commonly solved using the Two-Pointer Technique.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I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problem tests your understanding of linked list traversal and pointer manipulation.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I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is commonly solved using the Two-Pointer Technique.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I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problem tests your understanding of linked list traversal and pointer manipulation.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I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is commonly solved using the Two-Pointer Technique.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I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problem tests your understanding of linked list traversal and pointer manipulation.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I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is commonly solved using the Two-Pointer Technique.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I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problem tests your understanding of linked list traversal and pointer manipulation.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I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is commonly solved using the Two-Pointer Technique.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I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problem tests your understanding of linked list traversal and pointer manipulation.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I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is commonly solved using the Two-Pointer Technique.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I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problem tests your understanding of linked list traversal and pointer manipulation.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I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is commonly solved using the Two-Pointer Technique.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I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problem tests your understanding of linked list traversal and pointer manipulation.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I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is commonly solved using the Two-Pointer Technique.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fd06c17fa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efd06c17fa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14:notes"/>
          <p:cNvSpPr txBox="1"/>
          <p:nvPr>
            <p:ph idx="1" type="body"/>
          </p:nvPr>
        </p:nvSpPr>
        <p:spPr>
          <a:xfrm>
            <a:off x="685800" y="4400640"/>
            <a:ext cx="54861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8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36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9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1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" name="Google Shape;37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43" name="Google Shape;4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">
  <p:cSld name="4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logo&#10;&#10;Description generated with high confidence" id="49" name="Google Shape;49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colorful, colored&#10;&#10;Description generated with very high confidence" id="50" name="Google Shape;50;p26"/>
          <p:cNvPicPr preferRelativeResize="0"/>
          <p:nvPr/>
        </p:nvPicPr>
        <p:blipFill rotWithShape="1">
          <a:blip r:embed="rId3">
            <a:alphaModFix/>
          </a:blip>
          <a:srcRect b="37530" l="0" r="0" t="55602"/>
          <a:stretch/>
        </p:blipFill>
        <p:spPr>
          <a:xfrm>
            <a:off x="0" y="4849200"/>
            <a:ext cx="9144000" cy="2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26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" name="Google Shape;52;p26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" name="Google Shape;53;p26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" name="Google Shape;54;p26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" name="Google Shape;9;p1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7219"/>
            <a:ext cx="9144003" cy="51362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forms.gle/7eYGAM2jjnwEGgdF6" TargetMode="External"/><Relationship Id="rId4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hyperlink" Target="https://codemithra.com/vit-helpdesk/" TargetMode="External"/><Relationship Id="rId5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hyperlink" Target="https://learn.codemithra.com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jp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62" name="Google Shape;62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63" name="Google Shape;6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4604" y="600291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0054" y="3386141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fd06c17fa_1_0"/>
          <p:cNvSpPr txBox="1"/>
          <p:nvPr>
            <p:ph type="title"/>
          </p:nvPr>
        </p:nvSpPr>
        <p:spPr>
          <a:xfrm>
            <a:off x="590550" y="491300"/>
            <a:ext cx="72192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IN" sz="2000">
                <a:solidFill>
                  <a:srgbClr val="908BFF"/>
                </a:solidFill>
              </a:rPr>
              <a:t>	Test Time </a:t>
            </a:r>
            <a:r>
              <a:rPr b="1" lang="en-IN" sz="1956">
                <a:solidFill>
                  <a:srgbClr val="908BFF"/>
                </a:solidFill>
                <a:highlight>
                  <a:srgbClr val="FFFFFF"/>
                </a:highlight>
              </a:rPr>
              <a:t>Linked List Quiz: Delete the Middle Node</a:t>
            </a:r>
            <a:r>
              <a:rPr b="1" lang="en-IN" sz="656">
                <a:solidFill>
                  <a:srgbClr val="908BFF"/>
                </a:solidFill>
              </a:rPr>
              <a:t> </a:t>
            </a:r>
            <a:endParaRPr b="1" sz="1556">
              <a:solidFill>
                <a:srgbClr val="908BFF"/>
              </a:solidFill>
            </a:endParaRPr>
          </a:p>
        </p:txBody>
      </p:sp>
      <p:sp>
        <p:nvSpPr>
          <p:cNvPr id="71" name="Google Shape;71;g3efd06c17fa_1_0"/>
          <p:cNvSpPr txBox="1"/>
          <p:nvPr/>
        </p:nvSpPr>
        <p:spPr>
          <a:xfrm>
            <a:off x="1936250" y="4239350"/>
            <a:ext cx="53973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lang="en-IN" sz="2100">
                <a:solidFill>
                  <a:srgbClr val="807FEC"/>
                </a:solidFill>
                <a:latin typeface="Roboto"/>
                <a:ea typeface="Roboto"/>
                <a:cs typeface="Roboto"/>
                <a:sym typeface="Roboto"/>
              </a:rPr>
              <a:t> : </a:t>
            </a:r>
            <a:r>
              <a:rPr lang="en-IN" sz="17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https://forms.gle/7eYGAM2jjnwEGgdF6</a:t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2" name="Google Shape;72;g3efd06c17fa_1_0" title="qr-co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12617" y="1048400"/>
            <a:ext cx="3087026" cy="303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79" name="Google Shape;7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"/>
          <p:cNvSpPr txBox="1"/>
          <p:nvPr/>
        </p:nvSpPr>
        <p:spPr>
          <a:xfrm>
            <a:off x="-104083" y="2386195"/>
            <a:ext cx="51165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Remove Nth Node From </a:t>
            </a:r>
            <a:endParaRPr b="1" i="0" sz="2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End of List</a:t>
            </a:r>
            <a:endParaRPr b="1" i="0" sz="2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 txBox="1"/>
          <p:nvPr/>
        </p:nvSpPr>
        <p:spPr>
          <a:xfrm>
            <a:off x="289397" y="773151"/>
            <a:ext cx="523417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Problem Statement</a:t>
            </a:r>
            <a:br>
              <a:rPr b="1" i="0" lang="en-IN" sz="3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"/>
          <p:cNvSpPr txBox="1"/>
          <p:nvPr/>
        </p:nvSpPr>
        <p:spPr>
          <a:xfrm>
            <a:off x="564461" y="1410860"/>
            <a:ext cx="7836124" cy="1668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❑"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Linked List is a linear data structure where elements are connected using pointers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❑"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this problem, we are given the head of a linked list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❑"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task is to remove the Nth node from the end of the list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❑"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list should remain properly connected after deletion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❑"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must return the updated head of the linked 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"/>
          <p:cNvSpPr txBox="1"/>
          <p:nvPr/>
        </p:nvSpPr>
        <p:spPr>
          <a:xfrm>
            <a:off x="159833" y="615619"/>
            <a:ext cx="4572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Interview Problem Statements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 txBox="1"/>
          <p:nvPr/>
        </p:nvSpPr>
        <p:spPr>
          <a:xfrm>
            <a:off x="446050" y="1214288"/>
            <a:ext cx="8051180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Meta — 2025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Statement:</a:t>
            </a:r>
            <a:b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Given the head of a singly linked list, remove the Nth node from the end of the list in </a:t>
            </a: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 traversal</a:t>
            </a: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return the updated head.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Google — 2025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Statement:</a:t>
            </a:r>
            <a:b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 an efficient algorithm to delete the Nth node from the end of a linked list without calculating the total length of the list.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Amazon — 2020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Statement:</a:t>
            </a:r>
            <a:b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Given a linked list and an integer N, find or remove the Nth node from the end using an optimized approach.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"/>
          <p:cNvSpPr txBox="1"/>
          <p:nvPr/>
        </p:nvSpPr>
        <p:spPr>
          <a:xfrm>
            <a:off x="289397" y="773151"/>
            <a:ext cx="523417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Approaches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"/>
          <p:cNvSpPr txBox="1"/>
          <p:nvPr/>
        </p:nvSpPr>
        <p:spPr>
          <a:xfrm>
            <a:off x="401216" y="1360657"/>
            <a:ext cx="5822302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Brute Force Approach (Two Pass)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Traverse the list to find the </a:t>
            </a: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length (L)</a:t>
            </a: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Calculate position to delete → </a:t>
            </a: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(L - N)</a:t>
            </a: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Traverse again to that position 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Remove the node</a:t>
            </a:r>
            <a:endParaRPr/>
          </a:p>
        </p:txBody>
      </p:sp>
      <p:sp>
        <p:nvSpPr>
          <p:cNvPr id="99" name="Google Shape;99;p5"/>
          <p:cNvSpPr txBox="1"/>
          <p:nvPr/>
        </p:nvSpPr>
        <p:spPr>
          <a:xfrm>
            <a:off x="4646646" y="1360657"/>
            <a:ext cx="4572000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Using Extra Space (Stack)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Push all nodes into a </a:t>
            </a: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stack</a:t>
            </a: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Pop N nodes to reach the target 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Adjust pointers to remove the node</a:t>
            </a:r>
            <a:endParaRPr/>
          </a:p>
        </p:txBody>
      </p:sp>
      <p:sp>
        <p:nvSpPr>
          <p:cNvPr id="100" name="Google Shape;100;p5"/>
          <p:cNvSpPr txBox="1"/>
          <p:nvPr/>
        </p:nvSpPr>
        <p:spPr>
          <a:xfrm>
            <a:off x="401216" y="3140126"/>
            <a:ext cx="4609322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Recursive Approach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Traverse till end using recursion 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While backtracking, count nodes 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Remove node when count == N</a:t>
            </a:r>
            <a:endParaRPr/>
          </a:p>
        </p:txBody>
      </p:sp>
      <p:sp>
        <p:nvSpPr>
          <p:cNvPr id="101" name="Google Shape;101;p5"/>
          <p:cNvSpPr txBox="1"/>
          <p:nvPr/>
        </p:nvSpPr>
        <p:spPr>
          <a:xfrm>
            <a:off x="4646646" y="3093075"/>
            <a:ext cx="4609322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Optimal Approach (Two Pointer / One Pass)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 and slow pointers</a:t>
            </a: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Move fast pointer </a:t>
            </a: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steps ahead</a:t>
            </a: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Move both together 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Remove target node</a:t>
            </a:r>
            <a:endParaRPr/>
          </a:p>
        </p:txBody>
      </p:sp>
      <p:cxnSp>
        <p:nvCxnSpPr>
          <p:cNvPr id="102" name="Google Shape;102;p5"/>
          <p:cNvCxnSpPr/>
          <p:nvPr/>
        </p:nvCxnSpPr>
        <p:spPr>
          <a:xfrm>
            <a:off x="4068147" y="1360657"/>
            <a:ext cx="0" cy="3117413"/>
          </a:xfrm>
          <a:prstGeom prst="straightConnector1">
            <a:avLst/>
          </a:prstGeom>
          <a:noFill/>
          <a:ln cap="flat" cmpd="sng" w="9525">
            <a:solidFill>
              <a:srgbClr val="20202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 txBox="1"/>
          <p:nvPr/>
        </p:nvSpPr>
        <p:spPr>
          <a:xfrm>
            <a:off x="289397" y="773151"/>
            <a:ext cx="523417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Pseudocode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6"/>
          <p:cNvSpPr txBox="1"/>
          <p:nvPr/>
        </p:nvSpPr>
        <p:spPr>
          <a:xfrm>
            <a:off x="549479" y="1449641"/>
            <a:ext cx="4572000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 removeNthFromEnd(head, n):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create dummy node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dummy.next = head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fast = dummy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slow = dummy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// Move fast pointer n+1 steps ahead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for i from 0 to n: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fast = fast.next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6"/>
          <p:cNvSpPr txBox="1"/>
          <p:nvPr/>
        </p:nvSpPr>
        <p:spPr>
          <a:xfrm>
            <a:off x="4794309" y="1556087"/>
            <a:ext cx="457200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// Move both pointers until fast reaches end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while fast is not null: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fast = fast.next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slow = slow.next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// Delete the target node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slow.next = slow.next.next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return dummy.next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" name="Google Shape;110;p6"/>
          <p:cNvCxnSpPr/>
          <p:nvPr/>
        </p:nvCxnSpPr>
        <p:spPr>
          <a:xfrm>
            <a:off x="4211273" y="1073791"/>
            <a:ext cx="0" cy="3489820"/>
          </a:xfrm>
          <a:prstGeom prst="straightConnector1">
            <a:avLst/>
          </a:prstGeom>
          <a:noFill/>
          <a:ln cap="flat" cmpd="sng" w="9525">
            <a:solidFill>
              <a:srgbClr val="20202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"/>
          <p:cNvSpPr txBox="1"/>
          <p:nvPr/>
        </p:nvSpPr>
        <p:spPr>
          <a:xfrm>
            <a:off x="155174" y="605371"/>
            <a:ext cx="523417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Sample Test Case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7"/>
          <p:cNvSpPr txBox="1"/>
          <p:nvPr/>
        </p:nvSpPr>
        <p:spPr>
          <a:xfrm>
            <a:off x="817347" y="1448365"/>
            <a:ext cx="4572000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 1 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Input:</a:t>
            </a:r>
            <a:b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head = 1 → 2 → 3 → 4 → 5, n = 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b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→ 2 → 3 → 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7"/>
          <p:cNvSpPr txBox="1"/>
          <p:nvPr/>
        </p:nvSpPr>
        <p:spPr>
          <a:xfrm>
            <a:off x="5123576" y="1448365"/>
            <a:ext cx="4643306" cy="1668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 2 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Input:</a:t>
            </a:r>
            <a:b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head = 1, n = 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b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 ]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"/>
          <p:cNvSpPr txBox="1"/>
          <p:nvPr/>
        </p:nvSpPr>
        <p:spPr>
          <a:xfrm>
            <a:off x="146784" y="567235"/>
            <a:ext cx="523417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Code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" name="Google Shape;123;p8"/>
          <p:cNvCxnSpPr/>
          <p:nvPr/>
        </p:nvCxnSpPr>
        <p:spPr>
          <a:xfrm>
            <a:off x="4420997" y="662730"/>
            <a:ext cx="0" cy="4130983"/>
          </a:xfrm>
          <a:prstGeom prst="straightConnector1">
            <a:avLst/>
          </a:prstGeom>
          <a:noFill/>
          <a:ln cap="flat" cmpd="sng" w="9525">
            <a:solidFill>
              <a:srgbClr val="20202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8"/>
          <p:cNvSpPr txBox="1"/>
          <p:nvPr/>
        </p:nvSpPr>
        <p:spPr>
          <a:xfrm>
            <a:off x="339755" y="1017478"/>
            <a:ext cx="4651694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 java.util.*;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 ListNode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int val;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ListNode next;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ListNode(int v)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val = v;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next = null;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125" name="Google Shape;125;p8"/>
          <p:cNvSpPr txBox="1"/>
          <p:nvPr/>
        </p:nvSpPr>
        <p:spPr>
          <a:xfrm>
            <a:off x="4823670" y="635340"/>
            <a:ext cx="4572000" cy="4185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ListNode fast = dummy;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ListNode slow = dummy;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// Move fast pointer n+1 steps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for (int i = 0; i &lt;= n; i++)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fast = fast.next;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// Move both pointers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while (fast != null)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fast = fast.next;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slow = slow.next;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// Delete node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slow.next = slow.next.next;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return dummy.next;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8"/>
          <p:cNvSpPr txBox="1"/>
          <p:nvPr/>
        </p:nvSpPr>
        <p:spPr>
          <a:xfrm>
            <a:off x="205530" y="3205677"/>
            <a:ext cx="4198689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 class Main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static ListNode removeNthFromEnd(ListNode head, int n)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ListNode dummy = new ListNode(0);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dummy.next = head;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 txBox="1"/>
          <p:nvPr/>
        </p:nvSpPr>
        <p:spPr>
          <a:xfrm>
            <a:off x="138395" y="425803"/>
            <a:ext cx="523417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Code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" name="Google Shape;132;p9"/>
          <p:cNvCxnSpPr/>
          <p:nvPr/>
        </p:nvCxnSpPr>
        <p:spPr>
          <a:xfrm>
            <a:off x="4555221" y="687897"/>
            <a:ext cx="0" cy="4130983"/>
          </a:xfrm>
          <a:prstGeom prst="straightConnector1">
            <a:avLst/>
          </a:prstGeom>
          <a:noFill/>
          <a:ln cap="flat" cmpd="sng" w="9525">
            <a:solidFill>
              <a:srgbClr val="20202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p9"/>
          <p:cNvSpPr txBox="1"/>
          <p:nvPr/>
        </p:nvSpPr>
        <p:spPr>
          <a:xfrm>
            <a:off x="205530" y="1071229"/>
            <a:ext cx="4572000" cy="3754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public static void main(String[] args)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Scanner sc = new Scanner(System.in);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int size = sc.nextInt();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ListNode head = null;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ListNode temp = null;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// Create linked list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for (int i = 0; i &lt; size; i++)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ListNode node = new ListNode(sc.nextInt());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if (head == null)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head = temp = node;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} else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temp.next = node;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temp = node;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9"/>
          <p:cNvSpPr txBox="1"/>
          <p:nvPr/>
        </p:nvSpPr>
        <p:spPr>
          <a:xfrm>
            <a:off x="4978866" y="1017478"/>
            <a:ext cx="4572000" cy="3108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 n = sc.nextInt();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head = removeNthFromEnd(head, n);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// Print result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ListNode curr = head;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while (curr != null)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System.out.print(curr.val + " ");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curr = curr.next;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sc.close();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 txBox="1"/>
          <p:nvPr/>
        </p:nvSpPr>
        <p:spPr>
          <a:xfrm>
            <a:off x="289397" y="773151"/>
            <a:ext cx="523417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Time &amp; Space Complexity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0"/>
          <p:cNvSpPr txBox="1"/>
          <p:nvPr/>
        </p:nvSpPr>
        <p:spPr>
          <a:xfrm>
            <a:off x="564461" y="1410860"/>
            <a:ext cx="7836124" cy="1277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1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❑"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 Complexity: </a:t>
            </a: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O(N)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We traverse the linked list </a:t>
            </a: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only once</a:t>
            </a: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Steps involved: Move fast pointer → O(N)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Move both fast and slow → O(N)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Overall → </a:t>
            </a: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linear 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0"/>
          <p:cNvSpPr txBox="1"/>
          <p:nvPr/>
        </p:nvSpPr>
        <p:spPr>
          <a:xfrm>
            <a:off x="620483" y="2925732"/>
            <a:ext cx="457200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❑"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Space Complexity: </a:t>
            </a: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O(1)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No extra data structures used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Only a few pointers :  </a:t>
            </a:r>
            <a:r>
              <a:rPr b="0" i="0" lang="en-IN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dummy</a:t>
            </a: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IN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fast</a:t>
            </a: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IN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slow</a:t>
            </a: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Memory usage is </a:t>
            </a: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constant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"/>
          <p:cNvSpPr txBox="1"/>
          <p:nvPr/>
        </p:nvSpPr>
        <p:spPr>
          <a:xfrm>
            <a:off x="1865436" y="2279401"/>
            <a:ext cx="523417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36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INTERVIEW QUESTIONS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/>
          <p:cNvSpPr txBox="1"/>
          <p:nvPr/>
        </p:nvSpPr>
        <p:spPr>
          <a:xfrm>
            <a:off x="356532" y="610476"/>
            <a:ext cx="9139806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What is the purpose of using a dummy node in this problem?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</a:t>
            </a:r>
            <a:b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dummy node helps handle edge cases easily, especially when the head node needs to be deleted.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Why is the Two Pointer Technique considered optimal?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</a:t>
            </a:r>
            <a:b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Because it removes the node in a single traversal with O(N) time and O(1) space complexity.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What happens when </a:t>
            </a:r>
            <a:r>
              <a:rPr b="1" i="0" lang="en-IN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equals the size of the linked list?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</a:t>
            </a:r>
            <a:b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first node (head) gets deleted.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What is the time complexity of the two-pointer solution?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</a:t>
            </a:r>
            <a:b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O(N), because the linked list is traversed only once.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"/>
          <p:cNvSpPr txBox="1"/>
          <p:nvPr/>
        </p:nvSpPr>
        <p:spPr>
          <a:xfrm>
            <a:off x="306199" y="660810"/>
            <a:ext cx="9139806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What is the space complexity of this approach?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</a:t>
            </a:r>
            <a:b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O(1), because no extra data structures are used.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Why do we move the fast pointer n+1 steps ahead?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</a:t>
            </a:r>
            <a:b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maintain a gap of n nodes between fast and slow pointers so that slow reaches the node before deletion.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 Which node does the slow pointer reach when fast becomes null?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</a:t>
            </a:r>
            <a:b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slow pointer reaches the node just before the target node.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8. Can this problem be solved using recursion?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</a:t>
            </a:r>
            <a:b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Yes, but recursion uses extra stack memory, making space complexity O(N).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fd06c17fa_2_0"/>
          <p:cNvSpPr txBox="1"/>
          <p:nvPr>
            <p:ph type="title"/>
          </p:nvPr>
        </p:nvSpPr>
        <p:spPr>
          <a:xfrm>
            <a:off x="1757250" y="725150"/>
            <a:ext cx="4128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IN" sz="2000">
                <a:solidFill>
                  <a:srgbClr val="807FEC"/>
                </a:solidFill>
              </a:rPr>
              <a:t>Help Desk </a:t>
            </a:r>
            <a:endParaRPr b="1" sz="2000">
              <a:solidFill>
                <a:srgbClr val="807FE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2" name="Google Shape;162;g3efd06c17fa_2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30525"/>
            <a:ext cx="1295400" cy="11678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3efd06c17fa_2_0"/>
          <p:cNvSpPr txBox="1"/>
          <p:nvPr/>
        </p:nvSpPr>
        <p:spPr>
          <a:xfrm>
            <a:off x="659100" y="1842250"/>
            <a:ext cx="5316000" cy="22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Any concerns related to attendance/marks/ faculty ; you can reach out to ETHNUS helpdesk through the displayed QR code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-IN" sz="2200" u="sng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https://codemithra.com/vit-helpdesk/</a:t>
            </a:r>
            <a:endParaRPr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4" name="Google Shape;164;g3efd06c17fa_2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26625" y="1842250"/>
            <a:ext cx="2165724" cy="196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"/>
          <p:cNvSpPr/>
          <p:nvPr/>
        </p:nvSpPr>
        <p:spPr>
          <a:xfrm>
            <a:off x="555120" y="915840"/>
            <a:ext cx="7545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0" name="Google Shape;17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4385" y="915840"/>
            <a:ext cx="2855119" cy="288845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4"/>
          <p:cNvSpPr/>
          <p:nvPr/>
        </p:nvSpPr>
        <p:spPr>
          <a:xfrm>
            <a:off x="1980000" y="4085310"/>
            <a:ext cx="5184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925" lIns="81625" spcFirstLastPara="1" rIns="81625" wrap="square" tIns="82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https://learn.codemithra.com</a:t>
            </a:r>
            <a:endParaRPr b="0" i="0" sz="1200" u="none" cap="none" strike="noStrik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177" name="Google Shape;17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78" name="Google Shape;17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5"/>
          <p:cNvSpPr txBox="1"/>
          <p:nvPr/>
        </p:nvSpPr>
        <p:spPr>
          <a:xfrm>
            <a:off x="3141000" y="2194650"/>
            <a:ext cx="28620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IN" sz="3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3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0" name="Google Shape;18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5"/>
          <p:cNvSpPr txBox="1"/>
          <p:nvPr/>
        </p:nvSpPr>
        <p:spPr>
          <a:xfrm>
            <a:off x="1980750" y="4590801"/>
            <a:ext cx="118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I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+91 78150 95095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3" name="Google Shape;183;p15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" name="Google Shape;184;p15"/>
          <p:cNvSpPr txBox="1"/>
          <p:nvPr/>
        </p:nvSpPr>
        <p:spPr>
          <a:xfrm>
            <a:off x="3519050" y="4590801"/>
            <a:ext cx="193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I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codemithra@ethnus.com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5" name="Google Shape;18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3771" y="4591063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5"/>
          <p:cNvSpPr txBox="1"/>
          <p:nvPr/>
        </p:nvSpPr>
        <p:spPr>
          <a:xfrm>
            <a:off x="5457275" y="4590801"/>
            <a:ext cx="193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I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www.codemithra.com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7" name="Google Shape;187;p15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