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Black"/>
      <p:bold r:id="rId28"/>
      <p:boldItalic r:id="rId29"/>
    </p:embeddedFon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h0jrMmPNJoO347rP+tEzOToN68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Black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Blac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d0bdbc4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fd0bdbc4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d013841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73d01384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3d41a85a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73d41a85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removeElements(head, val):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dummy ← new Node(0)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dummy.next ←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current ← dummy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current.next ≠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current.next.value == val: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current.next ← current.next.next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else: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current ← current.next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dummy.next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3c1788ac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73c1788a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3c1dcbc4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73c1dcbc4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RemoveElements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Insert at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Remove nodes with target value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removeElements(Node head, int target)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Create dummy node to simplify head removal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dummy = new Node(0);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dummy.next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current = dummy;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(current.next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(current.next.data == target)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current.next = current.next.next; // skip the node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} else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current = current.next;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dummy.next;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Print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node values:");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value to remove: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target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System.out.print("Original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removeElements(head, target);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System.out.print("Updated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sc.close();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3c1dcbc4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73c1dcbc4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3c1788ac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73c1788ac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3d41a85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73d41a85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3c1dcbc4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73c1dcbc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3d01384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73d01384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3c1788ac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73c1788ac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3d01384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73d01384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d013841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73d013841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3c1788ac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73c1788a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fd0bdbc4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fd0bdbc4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fd0bdbc4a_0_157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efd0bdbc4a_0_157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9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9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29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9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9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9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d0bdbc4a_0_2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g3efd0bdbc4a_0_20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3efd0bdbc4a_0_20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g3efd0bdbc4a_0_2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hyperlink" Target="https://docs.google.com/forms/d/e/1FAIpQLScG6YqL6g45TDbe9wrgLQ7zsjofyyHW0JXjFP6JoGR-gS5GWQ/viewform?usp=header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hyperlink" Target="https://learn.codemithra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fd0bdbc4a_0_3"/>
          <p:cNvSpPr txBox="1"/>
          <p:nvPr>
            <p:ph type="title"/>
          </p:nvPr>
        </p:nvSpPr>
        <p:spPr>
          <a:xfrm>
            <a:off x="590550" y="491300"/>
            <a:ext cx="7219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b="1" lang="en" sz="2000">
                <a:solidFill>
                  <a:srgbClr val="908BFF"/>
                </a:solidFill>
              </a:rPr>
              <a:t>	</a:t>
            </a:r>
            <a:r>
              <a:rPr b="1" lang="en" sz="2222">
                <a:solidFill>
                  <a:srgbClr val="908BFF"/>
                </a:solidFill>
              </a:rPr>
              <a:t>Test Time On </a:t>
            </a:r>
            <a:r>
              <a:rPr b="1" lang="en" sz="2222">
                <a:solidFill>
                  <a:srgbClr val="908B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Linked List Quiz: Palindrome Linked List</a:t>
            </a:r>
            <a:r>
              <a:rPr b="1" lang="en" sz="2222">
                <a:solidFill>
                  <a:srgbClr val="908B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222">
              <a:solidFill>
                <a:srgbClr val="908BFF"/>
              </a:solidFill>
            </a:endParaRPr>
          </a:p>
        </p:txBody>
      </p:sp>
      <p:pic>
        <p:nvPicPr>
          <p:cNvPr id="115" name="Google Shape;115;g3efd0bdbc4a_0_3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225" y="1099350"/>
            <a:ext cx="3014824" cy="283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efd0bdbc4a_0_3"/>
          <p:cNvSpPr txBox="1"/>
          <p:nvPr/>
        </p:nvSpPr>
        <p:spPr>
          <a:xfrm>
            <a:off x="1559000" y="4054825"/>
            <a:ext cx="61434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16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:   </a:t>
            </a:r>
            <a:r>
              <a:rPr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https://docs.google.com/forms/d/e/1FAIpQLScG6YqL6g45TDbe9wrgLQ7zsjofyyHW0JXjFP6JoGR-gS5GWQ/viewform?usp=header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16994" y="2006024"/>
            <a:ext cx="46911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Remove Linked 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List Elements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52400" y="45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62721" y="1628019"/>
            <a:ext cx="320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Introduction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Algorithm Pseudocode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Advantages and disadvantages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3d013841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3d0138414_0_18"/>
          <p:cNvSpPr txBox="1"/>
          <p:nvPr>
            <p:ph type="ctrTitle"/>
          </p:nvPr>
        </p:nvSpPr>
        <p:spPr>
          <a:xfrm>
            <a:off x="333201" y="345950"/>
            <a:ext cx="72843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1800"/>
              <a:t>Remove Linked List Elements 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g373d0138414_0_18"/>
          <p:cNvSpPr txBox="1"/>
          <p:nvPr/>
        </p:nvSpPr>
        <p:spPr>
          <a:xfrm>
            <a:off x="481250" y="1232650"/>
            <a:ext cx="71406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Objective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Remove all nodes from a linked list that have a specific value (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val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Challenge: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You might need to delete the very first node, multiple nodes in a row, or the very last node.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[1 -&gt;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6],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Output: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Interview Context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Recency: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core "Easy-Medium" staple in coding rounds through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2024–2026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LeetCode 203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Adobe</a:t>
            </a:r>
            <a:r>
              <a:rPr lang="en" sz="1100">
                <a:solidFill>
                  <a:schemeClr val="dk1"/>
                </a:solidFill>
              </a:rPr>
              <a:t> (Member Technical Staff Round) October 11, 2024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73d41a85a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73d41a85a7_0_0"/>
          <p:cNvSpPr txBox="1"/>
          <p:nvPr>
            <p:ph type="ctrTitle"/>
          </p:nvPr>
        </p:nvSpPr>
        <p:spPr>
          <a:xfrm>
            <a:off x="333201" y="345950"/>
            <a:ext cx="72843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1800"/>
              <a:t>Remove Linked List Elements 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g373d41a85a7_0_0"/>
          <p:cNvSpPr txBox="1"/>
          <p:nvPr/>
        </p:nvSpPr>
        <p:spPr>
          <a:xfrm>
            <a:off x="557450" y="1232650"/>
            <a:ext cx="71406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"Sentinel" Strategy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efficient way to solve this is by using a </a:t>
            </a: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Dummy (Sentinel) Node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Dummy Node: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 create a fake node that points to the original </a:t>
            </a:r>
            <a:r>
              <a:rPr lang="en" sz="17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This acts as a "safety net."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Current Pointer: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 use a pointer (let's call it </a:t>
            </a:r>
            <a:r>
              <a:rPr lang="en" sz="17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to scan the list.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Comparison: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We check the node </a:t>
            </a:r>
            <a:r>
              <a:rPr b="1"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ahead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our pointer (</a:t>
            </a:r>
            <a:r>
              <a:rPr lang="en" sz="17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curr.next</a:t>
            </a: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 If it matches the target, we "jump" over it.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/>
        </p:nvSpPr>
        <p:spPr>
          <a:xfrm>
            <a:off x="533400" y="533400"/>
            <a:ext cx="4003500" cy="40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Pseudocode: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Initialize the Sentinel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a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dummy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node: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dummy.next = 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your tracker: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 = dummy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The Scan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While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not null: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curr.next.val == target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Skip it: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curr.next = curr.next.next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(Value doesn't match):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forward: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curr = curr.next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Return Result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dummy.next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This will be the new head (even if the original head was deleted!).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4968225" y="533400"/>
            <a:ext cx="30000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3c1788ac8_0_4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g373c1788ac8_0_4"/>
          <p:cNvSpPr txBox="1"/>
          <p:nvPr/>
        </p:nvSpPr>
        <p:spPr>
          <a:xfrm>
            <a:off x="533400" y="381000"/>
            <a:ext cx="3753300" cy="47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 List: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→ 2 → 6 → 3 → 6 → null  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 = 6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 all nodes with value 6.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Step-by-Step Explanation: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a dummy node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before the head to handle edge cases safely.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 from the dummy node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check each node’s value using current.next.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node (1):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 ≠ 6 → keep it → move to 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Second node (2):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≠ 6 → keep it → move to 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g373c1788ac8_0_4"/>
          <p:cNvSpPr txBox="1"/>
          <p:nvPr/>
        </p:nvSpPr>
        <p:spPr>
          <a:xfrm>
            <a:off x="4973275" y="675875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5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Third node (6):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 == 6 →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by skipping: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current.next = current.next.next (removes 6)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5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 node (3):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≠ 6 → keep it → move to 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5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 node (6):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6 == 6 →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it → skip this node too.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5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Reached the end of the list.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Final Output List: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1 → 2 → 3 → null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3c1dcbc4c_0_22"/>
          <p:cNvSpPr txBox="1"/>
          <p:nvPr/>
        </p:nvSpPr>
        <p:spPr>
          <a:xfrm>
            <a:off x="457200" y="368300"/>
            <a:ext cx="44229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RemoveElements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73c1dcbc4c_0_22"/>
          <p:cNvSpPr txBox="1"/>
          <p:nvPr/>
        </p:nvSpPr>
        <p:spPr>
          <a:xfrm>
            <a:off x="4220000" y="368300"/>
            <a:ext cx="44229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Node removeElements(Node head, int target)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Create dummy node to simplify head removal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dummy = new Node(0);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dummy.next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current = dummy;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(current.next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(current.next.data == target)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current.next = current.next.next; // skip the node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} else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    current = current.next;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dummy.next;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 + "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3c1dcbc4c_0_27"/>
          <p:cNvSpPr txBox="1"/>
          <p:nvPr/>
        </p:nvSpPr>
        <p:spPr>
          <a:xfrm>
            <a:off x="533400" y="444500"/>
            <a:ext cx="42321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public static void main(String[] args)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nodes: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node values:");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value to remove: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target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System.out.print("Original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73c1dcbc4c_0_27"/>
          <p:cNvSpPr txBox="1"/>
          <p:nvPr/>
        </p:nvSpPr>
        <p:spPr>
          <a:xfrm>
            <a:off x="4495800" y="444500"/>
            <a:ext cx="442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removeElements(head, target);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System.out.print("Updated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sc.close();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3c1788ac8_0_33"/>
          <p:cNvSpPr txBox="1"/>
          <p:nvPr/>
        </p:nvSpPr>
        <p:spPr>
          <a:xfrm>
            <a:off x="457200" y="397675"/>
            <a:ext cx="8118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Explanation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Class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Defines the structure of a node with data and next pointer.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insert() Method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Adds a new node at the end of the linked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build the list from user input.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removeElements() Method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Removes all nodes that match the given target value.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dummy node to simplify edge cases (e.g., head node removal).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the list using a pointer: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 next node matches the target, it’s skipped.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Otherwise, move to the next node.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3d41a85a7_0_10"/>
          <p:cNvSpPr txBox="1"/>
          <p:nvPr/>
        </p:nvSpPr>
        <p:spPr>
          <a:xfrm>
            <a:off x="457200" y="702475"/>
            <a:ext cx="8118000" cy="3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4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printList() Method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and prints the entire linked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 startAt="4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main() Method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Takes input from the user using Scanner: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nodes.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values.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Value to remove.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Prints the original and updated list after removal.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g373c1dcbc4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73c1dcbc4c_0_16"/>
          <p:cNvSpPr txBox="1"/>
          <p:nvPr/>
        </p:nvSpPr>
        <p:spPr>
          <a:xfrm>
            <a:off x="481250" y="546850"/>
            <a:ext cx="71406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traverse each node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once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checking if its value equals the target.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worst case, we look at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n nodes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 is the number of nodes in the linked list.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do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use any extra data structures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— just a few pointers (dummy, current).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Even with the use of a dummy node, the space usage stays constant.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you solve it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recursively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then space becomes O(n) due to the call stack.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3d0138414_0_6"/>
          <p:cNvSpPr txBox="1"/>
          <p:nvPr/>
        </p:nvSpPr>
        <p:spPr>
          <a:xfrm>
            <a:off x="457200" y="550075"/>
            <a:ext cx="8118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Simple and Clean Logic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straightforward pointer manipulation to remove nodes without extra data structures.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 in Time and Space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 (in-place)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Handles Edge Cases Well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Dummy node makes it easy to remove nodes at the beginning (head node).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3c1788ac8_0_37"/>
          <p:cNvSpPr txBox="1"/>
          <p:nvPr/>
        </p:nvSpPr>
        <p:spPr>
          <a:xfrm>
            <a:off x="457200" y="550075"/>
            <a:ext cx="8118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Manual Pointer Updates Required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Careful pointer handling is needed to avoid errors (e.g., skipping nodes accidentally).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Recursive-Friendly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Iterative approach is not naturally recursive; recursive solution needs more memory (O(n) stack).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Built-in Rollback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Once a node is removed, it’s gone; restoring the original list requires extra logic.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idx="1" type="subTitle"/>
          </p:nvPr>
        </p:nvSpPr>
        <p:spPr>
          <a:xfrm>
            <a:off x="502550" y="1320225"/>
            <a:ext cx="85206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What are the different ways to remove a node in a linked list?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00"/>
              <a:t>You can remove a node:</a:t>
            </a:r>
            <a:br>
              <a:rPr lang="en" sz="1300"/>
            </a:b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Roboto"/>
              <a:buChar char="○"/>
            </a:pPr>
            <a:r>
              <a:rPr lang="en" sz="1300"/>
              <a:t>By value (first occurrence)</a:t>
            </a:r>
            <a:br>
              <a:rPr lang="en" sz="1300"/>
            </a:b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○"/>
            </a:pPr>
            <a:r>
              <a:rPr lang="en" sz="1300"/>
              <a:t>By position/index</a:t>
            </a:r>
            <a:br>
              <a:rPr lang="en" sz="1300"/>
            </a:b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○"/>
            </a:pPr>
            <a:r>
              <a:rPr lang="en" sz="1300"/>
              <a:t>Remove head, tail, or a middle node</a:t>
            </a:r>
            <a:br>
              <a:rPr lang="en" sz="1300"/>
            </a:br>
            <a:endParaRPr sz="1300"/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○"/>
            </a:pPr>
            <a:r>
              <a:rPr lang="en" sz="1300"/>
              <a:t>Remove all nodes with a certain value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196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1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3d0138414_0_28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196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2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g373d0138414_0_28"/>
          <p:cNvSpPr txBox="1"/>
          <p:nvPr>
            <p:ph idx="1" type="subTitle"/>
          </p:nvPr>
        </p:nvSpPr>
        <p:spPr>
          <a:xfrm>
            <a:off x="502550" y="132022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How would you remove the Nth node from the end of a singly linked list?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Use two pointers. Move one pointer n steps ahead, then move both until the first reaches the end.</a:t>
            </a:r>
            <a:br>
              <a:rPr lang="en" sz="12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3d0138414_0_42"/>
          <p:cNvSpPr txBox="1"/>
          <p:nvPr>
            <p:ph idx="1" type="subTitle"/>
          </p:nvPr>
        </p:nvSpPr>
        <p:spPr>
          <a:xfrm>
            <a:off x="502550" y="1320225"/>
            <a:ext cx="85206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Write a function to remove the first occurrence of a given value.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/>
              <a:t>Traverse the list, maintain prev and current. If current.data == value, link prev.next = current.next.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13" name="Google Shape;213;g373d0138414_0_42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196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3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3c1788ac8_0_49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70196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4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g373c1788ac8_0_49"/>
          <p:cNvSpPr txBox="1"/>
          <p:nvPr>
            <p:ph idx="1" type="subTitle"/>
          </p:nvPr>
        </p:nvSpPr>
        <p:spPr>
          <a:xfrm>
            <a:off x="502550" y="1320225"/>
            <a:ext cx="85206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200"/>
              <a:t>How to handle removing the head or tail node?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Head</a:t>
            </a:r>
            <a:r>
              <a:rPr lang="en" sz="1200"/>
              <a:t>: Move head to head.next</a:t>
            </a:r>
            <a:br>
              <a:rPr lang="en" sz="1200"/>
            </a:b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</a:pPr>
            <a:r>
              <a:rPr b="1" lang="en" sz="1200"/>
              <a:t>Tail</a:t>
            </a:r>
            <a:r>
              <a:rPr lang="en" sz="1200"/>
              <a:t>: Traverse till second-last node and set next = null</a:t>
            </a:r>
            <a:br>
              <a:rPr lang="en" sz="1200"/>
            </a:b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fd0bdbc4a_0_104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g3efd0bdbc4a_0_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efd0bdbc4a_0_104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7" name="Google Shape;227;g3efd0bdbc4a_0_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fd0bdbc4a_0_157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g3efd0bdbc4a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efd0bdbc4a_0_157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" name="Google Shape;2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" name="Google Shape;248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