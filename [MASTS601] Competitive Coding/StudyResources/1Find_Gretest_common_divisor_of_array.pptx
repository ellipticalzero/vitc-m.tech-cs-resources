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Roboto Black"/>
      <p:bold r:id="rId44"/>
      <p:boldItalic r:id="rId45"/>
    </p:embeddedFont>
    <p:embeddedFont>
      <p:font typeface="Robot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obotoBlack-bold.fntdata"/><Relationship Id="rId43" Type="http://schemas.openxmlformats.org/officeDocument/2006/relationships/slide" Target="slides/slide38.xml"/><Relationship Id="rId46" Type="http://schemas.openxmlformats.org/officeDocument/2006/relationships/font" Target="fonts/Roboto-regular.fntdata"/><Relationship Id="rId45" Type="http://schemas.openxmlformats.org/officeDocument/2006/relationships/font" Target="fonts/RobotoBlack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fcfb3239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fcfb3239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fcfb32396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efcfb32396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ab48835d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ab48835d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bf4175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abf4175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79678c3b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79678c3b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79678c3b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79678c3b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79678c3b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79678c3b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79678c3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79678c3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79678c3b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79678c3b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79678c3b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79678c3b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79678c3b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79678c3b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7b09d112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7b09d112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7b09d112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7b09d112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7b09d112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e7b09d112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7b09d112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7b09d112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7b09d112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7b09d112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7b09d112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7b09d112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7b09d112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7b09d112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7b09d112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7b09d112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7b09d112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e7b09d112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7b09d112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e7b09d112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7b09d112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e7b09d112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7b09d1123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e7b09d112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3fd1af6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3fd1af6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c8e63006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ec8e63006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c8e63006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ec8e63006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cca75e3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ecca75e3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cca75e39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ecca75e39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1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">
  <p:cSld name="10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902326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894683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902326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887040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879397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871754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oboto"/>
              <a:buNone/>
              <a:defRPr b="0" i="0" sz="3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5414"/>
            <a:ext cx="9144003" cy="51380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Relationship Id="rId4" Type="http://schemas.openxmlformats.org/officeDocument/2006/relationships/hyperlink" Target="https://codemithra.com/vit-helpdesk/" TargetMode="External"/><Relationship Id="rId5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Relationship Id="rId4" Type="http://schemas.openxmlformats.org/officeDocument/2006/relationships/hyperlink" Target="https://learn.codemithra.com/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jp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0" y="524088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0" y="3386138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60494" y="1981799"/>
            <a:ext cx="46911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Find the Greatest Common Divisor of an Array </a:t>
            </a:r>
            <a:endParaRPr b="1" i="0" sz="2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" y="1264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311700" y="396210"/>
            <a:ext cx="309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8181EF"/>
                </a:solidFill>
                <a:latin typeface="Roboto Black"/>
                <a:ea typeface="Roboto Black"/>
                <a:cs typeface="Roboto Black"/>
                <a:sym typeface="Roboto Black"/>
              </a:rPr>
              <a:t>TOPICS</a:t>
            </a:r>
            <a:endParaRPr b="0" i="0" sz="1400" u="none" cap="none" strike="noStrike">
              <a:solidFill>
                <a:srgbClr val="8181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423000" y="827300"/>
            <a:ext cx="40593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Introduction to Arrays</a:t>
            </a:r>
            <a:endParaRPr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Types of Arrays</a:t>
            </a:r>
            <a:endParaRPr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GCD of an array</a:t>
            </a:r>
            <a:endParaRPr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Examples for GCD of an array</a:t>
            </a:r>
            <a:endParaRPr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Approaches for GCD of an array</a:t>
            </a:r>
            <a:endParaRPr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GCD of an array - Efficiency Comparison</a:t>
            </a:r>
            <a:endParaRPr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 for finding GCD of an array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Recursive and Iterative Euclidean Approach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and Space Complexity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Real Time Applications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GCD &amp; LCM Based Problem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GCD Subarray Problem  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968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590550" y="348400"/>
            <a:ext cx="72192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000">
                <a:solidFill>
                  <a:srgbClr val="908BFF"/>
                </a:solidFill>
              </a:rPr>
              <a:t>Introduction to Arrays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541650" y="1004775"/>
            <a:ext cx="7268100" cy="361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400"/>
              <a:t>Definition:</a:t>
            </a:r>
            <a:endParaRPr b="1" sz="1400"/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400"/>
              <a:t>A Single Dimensional Array is a linear collection of elements of the same data type, stored in contiguous memory locations.</a:t>
            </a:r>
            <a:endParaRPr sz="1400"/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190"/>
              <a:buNone/>
            </a:pPr>
            <a:r>
              <a:rPr lang="en" sz="1400"/>
              <a:t>It is also called a one-dimensional array and is often used to store lists of values like marks, names, temperatures, etc.</a:t>
            </a:r>
            <a:endParaRPr sz="1400"/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190"/>
              <a:buNone/>
            </a:pPr>
            <a:r>
              <a:rPr b="1" lang="en" sz="1400"/>
              <a:t>Declaration Syntax:</a:t>
            </a:r>
            <a:endParaRPr b="1" sz="14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None/>
            </a:pPr>
            <a:r>
              <a:rPr lang="en" sz="1400"/>
              <a:t>data_type[] array_name;          </a:t>
            </a:r>
            <a:endParaRPr sz="14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None/>
            </a:pPr>
            <a:r>
              <a:rPr lang="en" sz="1400"/>
              <a:t>OR</a:t>
            </a:r>
            <a:endParaRPr sz="14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r>
              <a:rPr lang="en" sz="1400"/>
              <a:t>data_type array_name[];   </a:t>
            </a:r>
            <a:endParaRPr sz="14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r>
              <a:rPr b="1" lang="en" sz="1400"/>
              <a:t>Initialization Syntax:</a:t>
            </a:r>
            <a:endParaRPr b="1" sz="1400"/>
          </a:p>
          <a:p>
            <a:pPr indent="0" lvl="0" marL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400"/>
              <a:t>array_name = new data_type[size];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374500" y="375025"/>
            <a:ext cx="7261500" cy="499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08BFF"/>
                </a:solidFill>
              </a:rPr>
              <a:t>Types of  Array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374500" y="1142425"/>
            <a:ext cx="7576800" cy="3263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Arrays can be classified based on dimensions and structure.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1. One-Dimensional Array (1D Array) - Linear, single index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2. Two-Dimensional Array (2D Array) - Rows &amp; columns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3. Multi-Dimensional Array - More than 2 dimensions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4. Static Array - Fixed size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5. Dynamic Array - Resizable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6. Jagged Array (Irregular Array) - Unequal row sizes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7. Sparse Array - Mostly zero values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350300" y="395825"/>
            <a:ext cx="7442100" cy="532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08BFF"/>
                </a:solidFill>
              </a:rPr>
              <a:t>Finding Greatest Common Divisor of an Array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350300" y="1127176"/>
            <a:ext cx="7886700" cy="3629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400"/>
              <a:t>Definition:</a:t>
            </a:r>
            <a:endParaRPr b="1" sz="1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The </a:t>
            </a:r>
            <a:r>
              <a:rPr b="1" lang="en" sz="1400"/>
              <a:t>Greatest Common Divisor (GCD)</a:t>
            </a:r>
            <a:r>
              <a:rPr lang="en" sz="1400"/>
              <a:t> of an array is the largest number that divides </a:t>
            </a:r>
            <a:r>
              <a:rPr b="1" lang="en" sz="1400"/>
              <a:t>all</a:t>
            </a:r>
            <a:r>
              <a:rPr lang="en" sz="1400"/>
              <a:t> the elements of the array without leaving a remainder. In simple terms, it is the biggest number that all array elements are divisible by.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It is also called </a:t>
            </a:r>
            <a:r>
              <a:rPr b="1" lang="en" sz="1400"/>
              <a:t>HCF (Highest Common Factor)</a:t>
            </a:r>
            <a:r>
              <a:rPr lang="en" sz="1400"/>
              <a:t>.</a:t>
            </a:r>
            <a:br>
              <a:rPr lang="en" sz="1400"/>
            </a:br>
            <a:r>
              <a:rPr b="1" lang="en" sz="1400"/>
              <a:t>Example:</a:t>
            </a:r>
            <a:br>
              <a:rPr b="1" lang="en" sz="1400"/>
            </a:br>
            <a:r>
              <a:rPr lang="en" sz="1400"/>
              <a:t>Let’s take the array:</a:t>
            </a:r>
            <a:br>
              <a:rPr lang="en" sz="1400"/>
            </a:br>
            <a:r>
              <a:rPr lang="en" sz="1400"/>
              <a:t> arr = [12, 24, 36]      Now,GCD(12, 24) = 12</a:t>
            </a:r>
            <a:br>
              <a:rPr lang="en" sz="1400"/>
            </a:br>
            <a:r>
              <a:rPr lang="en" sz="1400"/>
              <a:t>GCD(12, 36) = 12</a:t>
            </a:r>
            <a:br>
              <a:rPr lang="en" sz="1400"/>
            </a:br>
            <a:r>
              <a:rPr lang="en" sz="1400"/>
              <a:t>So, </a:t>
            </a:r>
            <a:r>
              <a:rPr b="1" lang="en" sz="1400"/>
              <a:t>GCD of the entire array is 12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378550" y="371725"/>
            <a:ext cx="7116000" cy="474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08BFF"/>
                </a:solidFill>
              </a:rPr>
              <a:t>GCD of an Array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378550" y="1015525"/>
            <a:ext cx="7886700" cy="3719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Problem Statement                                                                                                        </a:t>
            </a:r>
            <a:r>
              <a:rPr b="1" lang="en" sz="1400">
                <a:highlight>
                  <a:schemeClr val="lt1"/>
                </a:highlight>
              </a:rPr>
              <a:t> </a:t>
            </a:r>
            <a:endParaRPr b="1" sz="14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   You are given an array of N positive integers. Your task is to compute the Greatest Common Divisor </a:t>
            </a:r>
            <a:r>
              <a:rPr b="1" lang="en" sz="1400"/>
              <a:t>(GCD)</a:t>
            </a:r>
            <a:r>
              <a:rPr lang="en" sz="1400"/>
              <a:t> of all the elements in the array.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The GCD of a set of integers is defined as the largest positive integer that divides each element of the array without leaving a remainder.Write a program to determine and print the GCD of the given array.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Input Format</a:t>
            </a:r>
            <a:endParaRPr b="1" sz="1400"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first line contains a single integer </a:t>
            </a:r>
            <a:r>
              <a:rPr b="1" lang="en" sz="1400"/>
              <a:t>N</a:t>
            </a:r>
            <a:r>
              <a:rPr lang="en" sz="1400"/>
              <a:t>, representing the number of elements in the array.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second line contains </a:t>
            </a:r>
            <a:r>
              <a:rPr b="1" lang="en" sz="1400"/>
              <a:t>N space-separated positive integers</a:t>
            </a:r>
            <a:r>
              <a:rPr lang="en" sz="1400"/>
              <a:t> representing the array elements.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400"/>
              <a:t>Output Format</a:t>
            </a:r>
            <a:endParaRPr b="1" sz="1400"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Print a single integer — the </a:t>
            </a:r>
            <a:r>
              <a:rPr b="1" lang="en" sz="1400"/>
              <a:t>GCD of all elements in the array</a:t>
            </a:r>
            <a:r>
              <a:rPr lang="en" sz="1400"/>
              <a:t>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sp>
        <p:nvSpPr>
          <p:cNvPr id="145" name="Google Shape;145;p21"/>
          <p:cNvSpPr txBox="1"/>
          <p:nvPr/>
        </p:nvSpPr>
        <p:spPr>
          <a:xfrm>
            <a:off x="5471900" y="1113525"/>
            <a:ext cx="2631900" cy="261000"/>
          </a:xfrm>
          <a:prstGeom prst="rect">
            <a:avLst/>
          </a:prstGeom>
          <a:noFill/>
          <a:ln cap="flat" cmpd="sng" w="38100">
            <a:solidFill>
              <a:srgbClr val="847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Asked in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TCS Digital (2024)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478475" y="482825"/>
            <a:ext cx="6961800" cy="40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908BFF"/>
                </a:solidFill>
              </a:rPr>
              <a:t>Examples for GCD of an Array</a:t>
            </a:r>
            <a:endParaRPr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411175" y="1032100"/>
            <a:ext cx="7507500" cy="3680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Sample Input 1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5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12 24 18 30 6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Sample Output 1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6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Explanation</a:t>
            </a:r>
            <a:endParaRPr b="1" sz="1400"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Start with first element: gcd = 12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gcd(12, 24) = 12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gcd(12, 18) = 6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gcd(6, 30) = 6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gcd(6, 6) = 6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Final GCD = </a:t>
            </a:r>
            <a:r>
              <a:rPr b="1" lang="en" sz="1400"/>
              <a:t>6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465525" y="395825"/>
            <a:ext cx="7170300" cy="587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908BFF"/>
                </a:solidFill>
              </a:rPr>
              <a:t>Examples for GCD of an Array</a:t>
            </a:r>
            <a:endParaRPr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578500" y="1102650"/>
            <a:ext cx="7231500" cy="3555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Sample Input 2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3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7 11 13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Sample Output 2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1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00"/>
              <a:t>Explanation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7, 11, 13 are all prime numbers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No common factor except 1</a:t>
            </a:r>
            <a:br>
              <a:rPr lang="en" sz="1400"/>
            </a:br>
            <a:r>
              <a:rPr lang="en" sz="1400"/>
              <a:t> GCD = 1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683050" y="493700"/>
            <a:ext cx="6952800" cy="641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908BFF"/>
                </a:solidFill>
              </a:rPr>
              <a:t>Approaches for GCD of an array</a:t>
            </a:r>
            <a:endParaRPr b="1" sz="2100">
              <a:solidFill>
                <a:srgbClr val="908BFF"/>
              </a:solidFill>
            </a:endParaRPr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683050" y="1189650"/>
            <a:ext cx="7300800" cy="350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Brute Force Approach</a:t>
            </a:r>
            <a:r>
              <a:rPr lang="en" sz="1400"/>
              <a:t> - Check every number from min element → 1 and return the largest number dividing all elements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/>
              <a:t>Iterative Euclidean Algorithm</a:t>
            </a:r>
            <a:r>
              <a:rPr lang="en" sz="1400"/>
              <a:t> (Pairwise Reduction) - Start with first element keep doing gcd = gcd(gcd, next element)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/>
              <a:t>Recursive Euclidean Algorithm</a:t>
            </a:r>
            <a:r>
              <a:rPr lang="en" sz="1400"/>
              <a:t> - Apply recursively for array gcd(a, b) = gcd(b, a % b)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/>
              <a:t>Functional Programming Approach </a:t>
            </a:r>
            <a:r>
              <a:rPr lang="en" sz="1400"/>
              <a:t>- Convert array → stream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Prime Factorization Approach </a:t>
            </a:r>
            <a:r>
              <a:rPr lang="en" sz="1400"/>
              <a:t>- Break numbers into prime factors and take common factors with minimum power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/>
              <a:t>Divide and Conquer Approach</a:t>
            </a:r>
            <a:r>
              <a:rPr lang="en" sz="1400"/>
              <a:t> - Split array into halves, find GCD of each half and Combine results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342875" y="349975"/>
            <a:ext cx="7300800" cy="535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908BFF"/>
                </a:solidFill>
              </a:rPr>
              <a:t>GCD of Array – Efficiency Comparison</a:t>
            </a:r>
            <a:endParaRPr b="1" sz="2100">
              <a:solidFill>
                <a:srgbClr val="908BFF"/>
              </a:solidFill>
            </a:endParaRPr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343000" y="1025725"/>
            <a:ext cx="7651800" cy="360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875" y="1025725"/>
            <a:ext cx="7651850" cy="3606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389400" y="439325"/>
            <a:ext cx="7377000" cy="478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08BFF"/>
                </a:solidFill>
              </a:rPr>
              <a:t>Euclidean Algorithm for finding GCD of an Array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89400" y="1053875"/>
            <a:ext cx="7572600" cy="3604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Read the size of the array N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Read all N elements into the array A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Initialize a variable result with the first element of the array A[0]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Traverse the array starting from the second element to the last element</a:t>
            </a:r>
            <a:br>
              <a:rPr lang="en" sz="1400"/>
            </a:br>
            <a:r>
              <a:rPr lang="en" sz="1400"/>
              <a:t>     1. For each element, compute result = gcd(result, A[i]) using Euclidean method</a:t>
            </a:r>
            <a:br>
              <a:rPr lang="en" sz="1400"/>
            </a:br>
            <a:r>
              <a:rPr lang="en" sz="1400"/>
              <a:t>     2. If at any step the value of result becomes 1, stop further computation early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Continue the process until all elements are processed or early termination occurs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Print or return the final value stored in result as the GCD of the array</a:t>
            </a:r>
            <a:endParaRPr sz="1400"/>
          </a:p>
          <a:p>
            <a:pPr indent="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269800" y="341450"/>
            <a:ext cx="7159500" cy="55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08BFF"/>
                </a:solidFill>
              </a:rPr>
              <a:t>Java Code for GCD of an Array - Recursive Euclidean Approach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356800" y="994025"/>
            <a:ext cx="3657900" cy="3740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import java.util.Scanner;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public class Main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static int findGCD(int a, int b)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if (b == 0)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    return a;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return findGCD(b, a % b);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}  // Function to find GCD of array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static int findArrayGCD(int[] arr)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      int result = arr[0];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for (int i = 1; i &lt; arr.length; i++)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    result = findGCD(result, arr[i]);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          if (result == 1)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   return 1;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83" name="Google Shape;183;p27"/>
          <p:cNvSpPr txBox="1"/>
          <p:nvPr>
            <p:ph idx="2" type="body"/>
          </p:nvPr>
        </p:nvSpPr>
        <p:spPr>
          <a:xfrm>
            <a:off x="4014700" y="994025"/>
            <a:ext cx="3827700" cy="3740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r>
              <a:rPr lang="en" sz="1400"/>
              <a:t>   }  return result;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public static void main(String[] args)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Scanner sc = new Scanner(System.in);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 int n = sc.nextInt();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 int[] arr = new int[n];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 for (int i = 0; i &lt; n; i++)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    arr[i] = sc.nextInt();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int gcd = findArrayGCD(arr);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System.out.println(gcd);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sc.close(); } 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 txBox="1"/>
          <p:nvPr>
            <p:ph type="title"/>
          </p:nvPr>
        </p:nvSpPr>
        <p:spPr>
          <a:xfrm>
            <a:off x="302425" y="439325"/>
            <a:ext cx="7648800" cy="54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08BFF"/>
                </a:solidFill>
              </a:rPr>
              <a:t>Euclidean</a:t>
            </a:r>
            <a:r>
              <a:rPr b="1" lang="en" sz="2000">
                <a:solidFill>
                  <a:srgbClr val="908BFF"/>
                </a:solidFill>
              </a:rPr>
              <a:t> Algorithm - Code Explanation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491525" y="1151750"/>
            <a:ext cx="7329300" cy="3539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Explanation of Code: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 sz="1400"/>
              <a:t>findGCD(a, b)</a:t>
            </a:r>
            <a:r>
              <a:rPr lang="en" sz="1400"/>
              <a:t>:</a:t>
            </a:r>
            <a:br>
              <a:rPr lang="en" sz="1400"/>
            </a:br>
            <a:r>
              <a:rPr lang="en" sz="1400"/>
              <a:t> Uses recursion and Euclidean algorithm to compute the GCD of two numbers.</a:t>
            </a:r>
            <a:br>
              <a:rPr lang="en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 sz="1400"/>
              <a:t>findArrayGCD(arr)</a:t>
            </a:r>
            <a:r>
              <a:rPr lang="en" sz="1400"/>
              <a:t>:</a:t>
            </a:r>
            <a:br>
              <a:rPr lang="en" sz="1400"/>
            </a:br>
            <a:r>
              <a:rPr lang="en" sz="1400"/>
              <a:t> Iterates over the array, keep updating the GCD of the array from left to right.</a:t>
            </a:r>
            <a:br>
              <a:rPr lang="en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 sz="1400"/>
              <a:t>Early exit</a:t>
            </a:r>
            <a:r>
              <a:rPr lang="en" sz="1400"/>
              <a:t>:</a:t>
            </a:r>
            <a:br>
              <a:rPr lang="en" sz="1400"/>
            </a:br>
            <a:r>
              <a:rPr lang="en" sz="1400"/>
              <a:t> If GCD becomes 1, we return early because 1 is the smallest possible GCD.</a:t>
            </a:r>
            <a:br>
              <a:rPr lang="en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 sz="1400"/>
              <a:t>In main()</a:t>
            </a:r>
            <a:r>
              <a:rPr lang="en" sz="1400"/>
              <a:t>:</a:t>
            </a:r>
            <a:br>
              <a:rPr lang="en" sz="1400"/>
            </a:br>
            <a:r>
              <a:rPr lang="en" sz="1400"/>
              <a:t> We pass the array and print the result.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509050" y="959275"/>
            <a:ext cx="7311600" cy="3784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/>
              <a:t>Time Complexity</a:t>
            </a:r>
            <a:endParaRPr b="1" sz="5600"/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/>
              <a:t>The GCD of two numbers using Euclidean Algorithm takes O(log M), where M = larger number</a:t>
            </a:r>
            <a:endParaRPr sz="56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600"/>
              <a:t>For an array of n elements, GCD is computed sequentially for all elements</a:t>
            </a:r>
            <a:endParaRPr sz="56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" sz="5600"/>
              <a:t>Each element contributes a logarithmic cost</a:t>
            </a:r>
            <a:endParaRPr sz="5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/>
              <a:t>                </a:t>
            </a:r>
            <a:endParaRPr b="1" sz="5600"/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/>
              <a:t>Space Complexity</a:t>
            </a:r>
            <a:endParaRPr b="1" sz="5600"/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/>
              <a:t>Input array stores n elements → O(n)</a:t>
            </a:r>
            <a:endParaRPr sz="56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600"/>
              <a:t>Recursion stack for GCD function takes O(log M)</a:t>
            </a:r>
            <a:endParaRPr sz="5600"/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5600"/>
              <a:t>             </a:t>
            </a:r>
            <a:r>
              <a:rPr b="1" lang="en" sz="5600"/>
              <a:t>   </a:t>
            </a:r>
            <a:endParaRPr b="1" sz="5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96" name="Google Shape;196;p29"/>
          <p:cNvSpPr txBox="1"/>
          <p:nvPr>
            <p:ph type="title"/>
          </p:nvPr>
        </p:nvSpPr>
        <p:spPr>
          <a:xfrm>
            <a:off x="465550" y="375025"/>
            <a:ext cx="6952800" cy="499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08BFF"/>
                </a:solidFill>
              </a:rPr>
              <a:t>Time and Space Complexity – GCD of Array (Recursive)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197" name="Google Shape;197;p29"/>
          <p:cNvSpPr/>
          <p:nvPr/>
        </p:nvSpPr>
        <p:spPr>
          <a:xfrm>
            <a:off x="2209650" y="2677375"/>
            <a:ext cx="3055500" cy="348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847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Final Time Complexity:  O(n log M)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2182350" y="4288825"/>
            <a:ext cx="3110100" cy="348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847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Final Space Complexity: O(n)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393650" y="395825"/>
            <a:ext cx="7470600" cy="619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908BFF"/>
                </a:solidFill>
              </a:rPr>
              <a:t>Java Code for GCD of an Array - Iterative Euclidean Approach</a:t>
            </a:r>
            <a:endParaRPr/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393650" y="1140875"/>
            <a:ext cx="3886200" cy="3572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import java.util.Scanner;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public class Main {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static int findGCD(int a, int b)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while (b != 0)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int temp = b;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b = a % b;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a = temp; 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return a; </a:t>
            </a:r>
            <a:r>
              <a:rPr lang="en" sz="1400"/>
              <a:t>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static int findArrayGCD(int[] arr)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int result = arr[0];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for (int i = 1; i &lt; arr.length; i++)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      result = findGCD(result, arr[i]);</a:t>
            </a:r>
            <a:endParaRPr sz="1400"/>
          </a:p>
        </p:txBody>
      </p:sp>
      <p:sp>
        <p:nvSpPr>
          <p:cNvPr id="205" name="Google Shape;205;p30"/>
          <p:cNvSpPr txBox="1"/>
          <p:nvPr>
            <p:ph idx="2" type="body"/>
          </p:nvPr>
        </p:nvSpPr>
        <p:spPr>
          <a:xfrm>
            <a:off x="4279850" y="1140875"/>
            <a:ext cx="3834600" cy="3572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     if (result == 1)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     return 1; 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return result; 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public static void main(String[] args)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Scanner sc = new Scanner(System.in);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int n = sc.nextInt();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int[] arr = new int[n];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for (int i = 0; i &lt; n; i++)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arr[i] = sc.nextInt(); 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int gcd = findArrayGCD(arr);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System.out.println(gcd);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 sc.close(); } </a:t>
            </a:r>
            <a:r>
              <a:rPr lang="en" sz="1400"/>
              <a:t>}</a:t>
            </a: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258925" y="417575"/>
            <a:ext cx="7377000" cy="510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908BFF"/>
                </a:solidFill>
              </a:rPr>
              <a:t>Time and Space Complexity – GCD of Array (Iterative)</a:t>
            </a:r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302425" y="1043025"/>
            <a:ext cx="7616100" cy="3680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0000"/>
                </a:solidFill>
              </a:rPr>
              <a:t>Time Complexity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Array traversal runs for n elements → O(n)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Each iterative GCD computation takes O(log M)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               </a:t>
            </a:r>
            <a:r>
              <a:rPr b="1" lang="en" sz="1400">
                <a:solidFill>
                  <a:srgbClr val="000000"/>
                </a:solidFill>
              </a:rPr>
              <a:t>             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0000"/>
                </a:solidFill>
              </a:rPr>
              <a:t>Space Complexity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00000"/>
                </a:solidFill>
              </a:rPr>
              <a:t>Uses only a few variables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00000"/>
                </a:solidFill>
              </a:rPr>
              <a:t>No recursion stack is used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                     </a:t>
            </a:r>
            <a:endParaRPr b="1"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212" name="Google Shape;212;p31"/>
          <p:cNvSpPr/>
          <p:nvPr/>
        </p:nvSpPr>
        <p:spPr>
          <a:xfrm>
            <a:off x="2274875" y="2320525"/>
            <a:ext cx="3110100" cy="413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847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Final Time Complexity: O(n log M)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31"/>
          <p:cNvSpPr/>
          <p:nvPr/>
        </p:nvSpPr>
        <p:spPr>
          <a:xfrm>
            <a:off x="2463175" y="4049550"/>
            <a:ext cx="2968500" cy="413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847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Final Space Complexity: O(1)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389425" y="494625"/>
            <a:ext cx="7094100" cy="52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08BFF"/>
                </a:solidFill>
              </a:rPr>
              <a:t>Real Time Applications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389425" y="1140875"/>
            <a:ext cx="7594500" cy="3593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Network Packet Synchronization</a:t>
            </a:r>
            <a:br>
              <a:rPr b="1" lang="en" sz="1400"/>
            </a:br>
            <a:r>
              <a:rPr lang="en" sz="1400"/>
              <a:t> Finds the largest common transmission interval for multiple devices in communication systems.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Audio &amp; Video Processing</a:t>
            </a:r>
            <a:br>
              <a:rPr b="1" lang="en" sz="1400"/>
            </a:br>
            <a:r>
              <a:rPr lang="en" sz="1400"/>
              <a:t> Used to synchronize different sampling rates and frame rates efficiently.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Cryptography &amp; Cybersecurity</a:t>
            </a:r>
            <a:br>
              <a:rPr b="1" lang="en" sz="1400"/>
            </a:br>
            <a:r>
              <a:rPr lang="en" sz="1400"/>
              <a:t> Core concept in RSA encryption, modular arithmetic, and secure key generation.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Parallel Computing &amp; Task Scheduling</a:t>
            </a:r>
            <a:br>
              <a:rPr b="1" lang="en" sz="1400"/>
            </a:br>
            <a:r>
              <a:rPr lang="en" sz="1400"/>
              <a:t> Determines optimal chunk sizes and common execution cycles among processors.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Image Processing &amp; Screen Resolution Scaling</a:t>
            </a:r>
            <a:br>
              <a:rPr b="1" lang="en" sz="1400"/>
            </a:br>
            <a:r>
              <a:rPr lang="en" sz="1400"/>
              <a:t> Simplifies aspect ratios like 1920×1080 → 16:9 using GCD.</a:t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404525" y="480450"/>
            <a:ext cx="7307400" cy="480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908BFF"/>
                </a:solidFill>
              </a:rPr>
              <a:t>Real Time Applications</a:t>
            </a:r>
            <a:endParaRPr/>
          </a:p>
        </p:txBody>
      </p:sp>
      <p:sp>
        <p:nvSpPr>
          <p:cNvPr id="225" name="Google Shape;225;p33"/>
          <p:cNvSpPr txBox="1"/>
          <p:nvPr>
            <p:ph idx="1" type="body"/>
          </p:nvPr>
        </p:nvSpPr>
        <p:spPr>
          <a:xfrm>
            <a:off x="541650" y="1184375"/>
            <a:ext cx="7431300" cy="3263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Traffic Signal Coordination</a:t>
            </a:r>
            <a:br>
              <a:rPr b="1" lang="en" sz="1400"/>
            </a:br>
            <a:r>
              <a:rPr lang="en" sz="1400"/>
              <a:t> Finds common timing intervals for synchronizing traffic lights.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Database Sharding &amp; Storage Allocation</a:t>
            </a:r>
            <a:br>
              <a:rPr b="1" lang="en" sz="1400"/>
            </a:br>
            <a:r>
              <a:rPr lang="en" sz="1400"/>
              <a:t> Used to evenly partition data blocks and storage units.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Game Development</a:t>
            </a:r>
            <a:br>
              <a:rPr b="1" lang="en" sz="1400"/>
            </a:br>
            <a:r>
              <a:rPr lang="en" sz="1400"/>
              <a:t> Helps in map tiling, grid alignment, animation cycles, and movement synchronization.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Robotics &amp; Embedded Systems</a:t>
            </a:r>
            <a:br>
              <a:rPr b="1" lang="en" sz="1400"/>
            </a:br>
            <a:r>
              <a:rPr lang="en" sz="1400"/>
              <a:t> Synchronizes repeated sensor readings and motorcycles efficiently.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Manufacturing &amp; Cutting Optimization</a:t>
            </a:r>
            <a:br>
              <a:rPr b="1" lang="en" sz="1400"/>
            </a:br>
            <a:r>
              <a:rPr lang="en" sz="1400"/>
              <a:t> Helps cut materials into maximum equal-sized pieces with zero wastage.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432900" y="352325"/>
            <a:ext cx="7246500" cy="576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08BFF"/>
                </a:solidFill>
              </a:rPr>
              <a:t>GCD &amp; LCM Based Problem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231" name="Google Shape;231;p34"/>
          <p:cNvSpPr txBox="1"/>
          <p:nvPr>
            <p:ph idx="1" type="body"/>
          </p:nvPr>
        </p:nvSpPr>
        <p:spPr>
          <a:xfrm>
            <a:off x="432900" y="1097375"/>
            <a:ext cx="7464000" cy="362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Problem Statement                   </a:t>
            </a:r>
            <a:r>
              <a:rPr lang="en" sz="1400"/>
              <a:t>                                          </a:t>
            </a:r>
            <a:r>
              <a:rPr b="1" lang="en" sz="1400"/>
              <a:t>               </a:t>
            </a:r>
            <a:r>
              <a:rPr b="1" lang="en" sz="1400">
                <a:highlight>
                  <a:schemeClr val="lt1"/>
                </a:highlight>
              </a:rPr>
              <a:t> </a:t>
            </a:r>
            <a:endParaRPr b="1" sz="14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        You are given two integers G and L representing the GCD and LCM of two numbers respectively.Your task is to determine whether it is possible to find two positive integers whose, Greatest Common Divisor (GCD) is G and Least Common Multiple (LCM) is L. If possible, print any such pair of numbers. Otherwise, print -1.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Input Format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First line contains integer G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Second line contains integer L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Output Format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Print two space-separated integers representing the pair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If no such pair exists, print -1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32" name="Google Shape;232;p34"/>
          <p:cNvSpPr txBox="1"/>
          <p:nvPr/>
        </p:nvSpPr>
        <p:spPr>
          <a:xfrm>
            <a:off x="5124000" y="1167900"/>
            <a:ext cx="2555400" cy="326100"/>
          </a:xfrm>
          <a:prstGeom prst="rect">
            <a:avLst/>
          </a:prstGeom>
          <a:noFill/>
          <a:ln cap="flat" cmpd="sng" w="38100">
            <a:solidFill>
              <a:srgbClr val="847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Infosys SP OA (2025 &amp; 2026)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>
            <p:ph type="title"/>
          </p:nvPr>
        </p:nvSpPr>
        <p:spPr>
          <a:xfrm>
            <a:off x="411175" y="450200"/>
            <a:ext cx="7105200" cy="532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908BFF"/>
                </a:solidFill>
              </a:rPr>
              <a:t>GCD &amp; LCM Based Problem</a:t>
            </a:r>
            <a:endParaRPr/>
          </a:p>
        </p:txBody>
      </p:sp>
      <p:sp>
        <p:nvSpPr>
          <p:cNvPr id="238" name="Google Shape;238;p35"/>
          <p:cNvSpPr txBox="1"/>
          <p:nvPr>
            <p:ph idx="1" type="body"/>
          </p:nvPr>
        </p:nvSpPr>
        <p:spPr>
          <a:xfrm>
            <a:off x="487275" y="1268050"/>
            <a:ext cx="3670200" cy="3263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Constraints</a:t>
            </a:r>
            <a:endParaRPr b="1"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1 ≤ G, L ≤ 10^9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Sample Input 1</a:t>
            </a:r>
            <a:endParaRPr b="1"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4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24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Sample Output 1</a:t>
            </a:r>
            <a:endParaRPr b="1"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4 24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Explanation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GCD(4, 24) = 4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LCM(4, 24) = 24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39" name="Google Shape;239;p35"/>
          <p:cNvSpPr txBox="1"/>
          <p:nvPr>
            <p:ph idx="2" type="body"/>
          </p:nvPr>
        </p:nvSpPr>
        <p:spPr>
          <a:xfrm>
            <a:off x="4157475" y="1268050"/>
            <a:ext cx="3761100" cy="3263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Sample Input 2</a:t>
            </a:r>
            <a:endParaRPr b="1"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5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14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Sample Output 2</a:t>
            </a:r>
            <a:endParaRPr b="1"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-1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400"/>
              <a:t>Explanation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No pair exists because: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14 mod  5 ≠ 0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So LCM is not divisible by GCD.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>
            <p:ph type="title"/>
          </p:nvPr>
        </p:nvSpPr>
        <p:spPr>
          <a:xfrm>
            <a:off x="393650" y="453625"/>
            <a:ext cx="7536000" cy="681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08BFF"/>
                </a:solidFill>
              </a:rPr>
              <a:t>Number Theory Approach for </a:t>
            </a:r>
            <a:r>
              <a:rPr b="1" lang="en" sz="2000">
                <a:solidFill>
                  <a:srgbClr val="908BFF"/>
                </a:solidFill>
              </a:rPr>
              <a:t>GCD &amp; LCM Based Problem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245" name="Google Shape;245;p3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import java.util.Scanner;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public class Main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public static void main(String[] args)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Scanner sc = new Scanner(System.in);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int G = sc.nextInt();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int L = sc.nextInt();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if (L % G != 0)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System.out.println(-1);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}  </a:t>
            </a:r>
            <a:endParaRPr sz="1400"/>
          </a:p>
        </p:txBody>
      </p:sp>
      <p:sp>
        <p:nvSpPr>
          <p:cNvPr id="246" name="Google Shape;246;p36"/>
          <p:cNvSpPr txBox="1"/>
          <p:nvPr>
            <p:ph idx="2" type="body"/>
          </p:nvPr>
        </p:nvSpPr>
        <p:spPr>
          <a:xfrm>
            <a:off x="4514850" y="1369225"/>
            <a:ext cx="3664800" cy="3263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else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System.out.println(G + " " + L);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sc.close();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</p:txBody>
      </p:sp>
      <p:sp>
        <p:nvSpPr>
          <p:cNvPr id="247" name="Google Shape;247;p36"/>
          <p:cNvSpPr/>
          <p:nvPr/>
        </p:nvSpPr>
        <p:spPr>
          <a:xfrm>
            <a:off x="4988000" y="3229325"/>
            <a:ext cx="2582700" cy="681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847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Complexity : O(1)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 Complexity : O(1)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type="title"/>
          </p:nvPr>
        </p:nvSpPr>
        <p:spPr>
          <a:xfrm>
            <a:off x="389400" y="428450"/>
            <a:ext cx="7311600" cy="42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08BFF"/>
                </a:solidFill>
              </a:rPr>
              <a:t>GCD Subarray Problem  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253" name="Google Shape;253;p37"/>
          <p:cNvSpPr txBox="1"/>
          <p:nvPr>
            <p:ph idx="1" type="body"/>
          </p:nvPr>
        </p:nvSpPr>
        <p:spPr>
          <a:xfrm>
            <a:off x="443775" y="1015550"/>
            <a:ext cx="7746600" cy="3697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Problem Statement                                                                                                 </a:t>
            </a:r>
            <a:r>
              <a:rPr b="1" lang="en" sz="1400">
                <a:highlight>
                  <a:schemeClr val="lt1"/>
                </a:highlight>
              </a:rPr>
              <a:t>   </a:t>
            </a:r>
            <a:endParaRPr b="1" sz="14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 network security team monitors packets represented as an array of integers.</a:t>
            </a:r>
            <a:br>
              <a:rPr lang="en" sz="1400"/>
            </a:br>
            <a:r>
              <a:rPr lang="en" sz="1400"/>
              <a:t> A communication segment is considered stable if the common synchronization factor among all packets in that segment is greater than 1.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team is allowed to modify at most k packets in the system.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Your task is to determine the </a:t>
            </a:r>
            <a:r>
              <a:rPr b="1" lang="en" sz="1400"/>
              <a:t>minimum length continuous communication segment</a:t>
            </a:r>
            <a:r>
              <a:rPr lang="en" sz="1400"/>
              <a:t> that can become stable after performing at most k modifications.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Formally, find the minimum length contiguous subarray whose GCD can become greater than 1.   If no such segment exists, print -1.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54" name="Google Shape;254;p37"/>
          <p:cNvSpPr txBox="1"/>
          <p:nvPr/>
        </p:nvSpPr>
        <p:spPr>
          <a:xfrm>
            <a:off x="5711100" y="1135275"/>
            <a:ext cx="2207400" cy="337200"/>
          </a:xfrm>
          <a:prstGeom prst="rect">
            <a:avLst/>
          </a:prstGeom>
          <a:noFill/>
          <a:ln cap="flat" cmpd="sng" w="38100">
            <a:solidFill>
              <a:srgbClr val="847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Asked in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Amazon (2025)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type="title"/>
          </p:nvPr>
        </p:nvSpPr>
        <p:spPr>
          <a:xfrm>
            <a:off x="417325" y="406700"/>
            <a:ext cx="7262100" cy="391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908BFF"/>
                </a:solidFill>
              </a:rPr>
              <a:t>GCD Subarray Problem  </a:t>
            </a:r>
            <a:endParaRPr/>
          </a:p>
        </p:txBody>
      </p:sp>
      <p:sp>
        <p:nvSpPr>
          <p:cNvPr id="260" name="Google Shape;260;p38"/>
          <p:cNvSpPr txBox="1"/>
          <p:nvPr>
            <p:ph idx="1" type="body"/>
          </p:nvPr>
        </p:nvSpPr>
        <p:spPr>
          <a:xfrm>
            <a:off x="417325" y="906800"/>
            <a:ext cx="7584600" cy="3914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Input Format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First line contains integer n — number of packets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Second line contains n space-separated integers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Third line contains integer k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Output Format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Print the minimum length of the required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          contiguous subarray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Constraints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1 ≤ n ≤ 10^5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1 ≤ nums[i] ≤ 10^9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0 ≤ k ≤ n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61" name="Google Shape;26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6225" y="1833450"/>
            <a:ext cx="3595700" cy="29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>
            <p:ph type="title"/>
          </p:nvPr>
        </p:nvSpPr>
        <p:spPr>
          <a:xfrm>
            <a:off x="335025" y="428450"/>
            <a:ext cx="7257300" cy="630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908BFF"/>
                </a:solidFill>
              </a:rPr>
              <a:t>GCD Subarray Problem </a:t>
            </a:r>
            <a:endParaRPr/>
          </a:p>
        </p:txBody>
      </p:sp>
      <p:sp>
        <p:nvSpPr>
          <p:cNvPr id="267" name="Google Shape;267;p39"/>
          <p:cNvSpPr txBox="1"/>
          <p:nvPr>
            <p:ph idx="1" type="body"/>
          </p:nvPr>
        </p:nvSpPr>
        <p:spPr>
          <a:xfrm>
            <a:off x="400300" y="1059050"/>
            <a:ext cx="7518300" cy="3458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Sample Input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5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2 2 4 9 6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1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Sample Output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1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Explanation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Subarray [2] already has GCD greater than 1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Minimum possible length is 1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0"/>
          <p:cNvSpPr txBox="1"/>
          <p:nvPr>
            <p:ph type="title"/>
          </p:nvPr>
        </p:nvSpPr>
        <p:spPr>
          <a:xfrm>
            <a:off x="545875" y="417575"/>
            <a:ext cx="7372800" cy="641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08BFF"/>
                </a:solidFill>
              </a:rPr>
              <a:t>            Brute Force Subarray Traversal + Running GCD</a:t>
            </a:r>
            <a:endParaRPr b="1" sz="2000">
              <a:solidFill>
                <a:srgbClr val="908B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08BFF"/>
                </a:solidFill>
              </a:rPr>
              <a:t>                           (Euclidean Algorithm)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273" name="Google Shape;273;p40"/>
          <p:cNvSpPr txBox="1"/>
          <p:nvPr>
            <p:ph idx="1" type="body"/>
          </p:nvPr>
        </p:nvSpPr>
        <p:spPr>
          <a:xfrm>
            <a:off x="469775" y="1124400"/>
            <a:ext cx="3816900" cy="3697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import java.util.*;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public class Main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static int gcd(int a, int b)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while (b != 0)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int temp = b;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b = a % b;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 = temp;}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return a;}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public static void main(String[] args)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Scanner sc = new Scanner(System.in);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int n = sc.nextInt();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int[] arr = new int[n];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4" name="Google Shape;274;p40"/>
          <p:cNvSpPr txBox="1"/>
          <p:nvPr>
            <p:ph idx="2" type="body"/>
          </p:nvPr>
        </p:nvSpPr>
        <p:spPr>
          <a:xfrm>
            <a:off x="4286675" y="1124400"/>
            <a:ext cx="3958200" cy="3697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for(int i=0;i&lt;n;i++)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arr[i] = sc.nextInt();}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int k = sc.nextInt();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int ans = Integer.MAX_VALUE;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for(int i=0;i&lt;n;i++)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int g = 0;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for(int j=i;j&lt;n;j++)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g = gcd(g, arr[j]);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if(g &gt; 1) {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ans = Math.min(ans, j-i+1);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}}}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System.out.println(ans == Integer.MAX_VALUE ? -1 : ans);   sc.close();    }}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1"/>
          <p:cNvSpPr txBox="1"/>
          <p:nvPr>
            <p:ph type="title"/>
          </p:nvPr>
        </p:nvSpPr>
        <p:spPr>
          <a:xfrm>
            <a:off x="628650" y="428450"/>
            <a:ext cx="7083300" cy="478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08BFF"/>
                </a:solidFill>
              </a:rPr>
              <a:t>Time and Space Complexity 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280" name="Google Shape;280;p41"/>
          <p:cNvSpPr txBox="1"/>
          <p:nvPr>
            <p:ph idx="1" type="body"/>
          </p:nvPr>
        </p:nvSpPr>
        <p:spPr>
          <a:xfrm>
            <a:off x="628650" y="1249625"/>
            <a:ext cx="7083300" cy="3263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Time Complexity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n² → generating all subarrays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log M → GCD computation using Euclidean Algorithm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Space Complexity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Uses only constant extra variables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No extra data structures are used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               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         </a:t>
            </a:r>
            <a:endParaRPr b="1" sz="14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     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81" name="Google Shape;281;p41"/>
          <p:cNvSpPr txBox="1"/>
          <p:nvPr/>
        </p:nvSpPr>
        <p:spPr>
          <a:xfrm>
            <a:off x="1970400" y="3375350"/>
            <a:ext cx="2903400" cy="848100"/>
          </a:xfrm>
          <a:prstGeom prst="rect">
            <a:avLst/>
          </a:prstGeom>
          <a:noFill/>
          <a:ln cap="flat" cmpd="sng" w="38100">
            <a:solidFill>
              <a:srgbClr val="847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Complexity : O(n² log M)</a:t>
            </a:r>
            <a:endParaRPr b="1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   Space Complexity : O(1)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/>
          <p:nvPr>
            <p:ph type="title"/>
          </p:nvPr>
        </p:nvSpPr>
        <p:spPr>
          <a:xfrm>
            <a:off x="535000" y="450200"/>
            <a:ext cx="6201300" cy="45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" sz="2000">
                <a:solidFill>
                  <a:srgbClr val="8474F5"/>
                </a:solidFill>
              </a:rPr>
              <a:t>Interview questions</a:t>
            </a:r>
            <a:endParaRPr/>
          </a:p>
        </p:txBody>
      </p:sp>
      <p:sp>
        <p:nvSpPr>
          <p:cNvPr id="287" name="Google Shape;287;p42"/>
          <p:cNvSpPr txBox="1"/>
          <p:nvPr>
            <p:ph idx="1" type="body"/>
          </p:nvPr>
        </p:nvSpPr>
        <p:spPr>
          <a:xfrm>
            <a:off x="513250" y="1391500"/>
            <a:ext cx="7340100" cy="1934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/>
              <a:t>Which algorithm is most commonly used to find the GCD of two numbers  efficiently?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/>
              <a:t> A) Binary Search</a:t>
            </a:r>
            <a:br>
              <a:rPr lang="en" sz="1600"/>
            </a:br>
            <a:r>
              <a:rPr lang="en" sz="1600"/>
              <a:t> B) Euclidean Algorithm</a:t>
            </a:r>
            <a:br>
              <a:rPr lang="en" sz="1600"/>
            </a:br>
            <a:r>
              <a:rPr lang="en" sz="1600"/>
              <a:t> C) Merge Sort</a:t>
            </a:r>
            <a:br>
              <a:rPr lang="en" sz="1600"/>
            </a:br>
            <a:r>
              <a:rPr lang="en" sz="1600"/>
              <a:t> D) BFS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2"/>
          <p:cNvSpPr txBox="1"/>
          <p:nvPr/>
        </p:nvSpPr>
        <p:spPr>
          <a:xfrm>
            <a:off x="600250" y="3527600"/>
            <a:ext cx="72531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B) Euclidean Algorithm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42"/>
          <p:cNvSpPr txBox="1"/>
          <p:nvPr/>
        </p:nvSpPr>
        <p:spPr>
          <a:xfrm>
            <a:off x="5252075" y="816625"/>
            <a:ext cx="2735700" cy="372900"/>
          </a:xfrm>
          <a:prstGeom prst="rect">
            <a:avLst/>
          </a:prstGeom>
          <a:noFill/>
          <a:ln cap="flat" cmpd="sng" w="38100">
            <a:solidFill>
              <a:srgbClr val="847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Asked in Amazon (2026) - MCQ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 txBox="1"/>
          <p:nvPr>
            <p:ph type="title"/>
          </p:nvPr>
        </p:nvSpPr>
        <p:spPr>
          <a:xfrm>
            <a:off x="628650" y="469600"/>
            <a:ext cx="3427200" cy="598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" sz="2000">
                <a:solidFill>
                  <a:srgbClr val="8474F5"/>
                </a:solidFill>
              </a:rPr>
              <a:t>Interview questions</a:t>
            </a:r>
            <a:endParaRPr/>
          </a:p>
        </p:txBody>
      </p:sp>
      <p:sp>
        <p:nvSpPr>
          <p:cNvPr id="295" name="Google Shape;295;p43"/>
          <p:cNvSpPr txBox="1"/>
          <p:nvPr>
            <p:ph idx="1" type="body"/>
          </p:nvPr>
        </p:nvSpPr>
        <p:spPr>
          <a:xfrm>
            <a:off x="628650" y="1302775"/>
            <a:ext cx="6583800" cy="209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To find the GCD of an array of N elements, the optimal approach is to: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A) Compare every pair of elements</a:t>
            </a:r>
            <a:br>
              <a:rPr lang="en" sz="1400"/>
            </a:br>
            <a:r>
              <a:rPr lang="en" sz="1400"/>
              <a:t> B) Sort the array first</a:t>
            </a:r>
            <a:br>
              <a:rPr lang="en" sz="1400"/>
            </a:br>
            <a:r>
              <a:rPr lang="en" sz="1400"/>
              <a:t> C) Compute GCD cumulatively from left to right</a:t>
            </a:r>
            <a:br>
              <a:rPr lang="en" sz="1400"/>
            </a:br>
            <a:r>
              <a:rPr lang="en" sz="1400"/>
              <a:t> D) Use Dynamic Programming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3"/>
          <p:cNvSpPr txBox="1"/>
          <p:nvPr/>
        </p:nvSpPr>
        <p:spPr>
          <a:xfrm>
            <a:off x="677875" y="3548625"/>
            <a:ext cx="66564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C) Compute GCD cumulatively from left to right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43"/>
          <p:cNvSpPr txBox="1"/>
          <p:nvPr/>
        </p:nvSpPr>
        <p:spPr>
          <a:xfrm>
            <a:off x="4509975" y="790800"/>
            <a:ext cx="3366900" cy="427800"/>
          </a:xfrm>
          <a:prstGeom prst="rect">
            <a:avLst/>
          </a:prstGeom>
          <a:noFill/>
          <a:ln cap="flat" cmpd="sng" w="38100">
            <a:solidFill>
              <a:srgbClr val="847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Asked in Goldman Sachs (2025) - MCQ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4"/>
          <p:cNvSpPr txBox="1"/>
          <p:nvPr>
            <p:ph type="title"/>
          </p:nvPr>
        </p:nvSpPr>
        <p:spPr>
          <a:xfrm>
            <a:off x="506825" y="380975"/>
            <a:ext cx="7336800" cy="487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" sz="2000">
                <a:solidFill>
                  <a:srgbClr val="8474F5"/>
                </a:solidFill>
              </a:rPr>
              <a:t>Interview questions</a:t>
            </a:r>
            <a:endParaRPr/>
          </a:p>
        </p:txBody>
      </p:sp>
      <p:sp>
        <p:nvSpPr>
          <p:cNvPr id="303" name="Google Shape;303;p44"/>
          <p:cNvSpPr txBox="1"/>
          <p:nvPr>
            <p:ph idx="1" type="body"/>
          </p:nvPr>
        </p:nvSpPr>
        <p:spPr>
          <a:xfrm>
            <a:off x="506825" y="1546400"/>
            <a:ext cx="6772200" cy="1747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During array GCD computation, if the current GCD becomes 1, what can be done?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A) Continue checking all elements compulsorily</a:t>
            </a:r>
            <a:br>
              <a:rPr lang="en" sz="1400"/>
            </a:br>
            <a:r>
              <a:rPr lang="en" sz="1400"/>
              <a:t> B) Stop immediately since final GCD cannot become smaller than 1</a:t>
            </a:r>
            <a:br>
              <a:rPr lang="en" sz="1400"/>
            </a:br>
            <a:r>
              <a:rPr lang="en" sz="1400"/>
              <a:t> C) Sort the array</a:t>
            </a:r>
            <a:br>
              <a:rPr lang="en" sz="1400"/>
            </a:br>
            <a:r>
              <a:rPr lang="en" sz="1400"/>
              <a:t> D) Reverse the array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04" name="Google Shape;304;p44"/>
          <p:cNvSpPr txBox="1"/>
          <p:nvPr/>
        </p:nvSpPr>
        <p:spPr>
          <a:xfrm>
            <a:off x="536975" y="3439225"/>
            <a:ext cx="67119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B) Stop immediately since final GCD cannot become smaller than 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44"/>
          <p:cNvSpPr txBox="1"/>
          <p:nvPr/>
        </p:nvSpPr>
        <p:spPr>
          <a:xfrm>
            <a:off x="5174525" y="1013475"/>
            <a:ext cx="2669100" cy="387600"/>
          </a:xfrm>
          <a:prstGeom prst="rect">
            <a:avLst/>
          </a:prstGeom>
          <a:noFill/>
          <a:ln cap="flat" cmpd="sng" w="38100">
            <a:solidFill>
              <a:srgbClr val="847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Asked in Zoho (2026) - MCQ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5"/>
          <p:cNvSpPr txBox="1"/>
          <p:nvPr>
            <p:ph idx="1" type="subTitle"/>
          </p:nvPr>
        </p:nvSpPr>
        <p:spPr>
          <a:xfrm>
            <a:off x="611375" y="1255050"/>
            <a:ext cx="7553400" cy="3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are given an array of positive integers. How will you 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optimize</a:t>
            </a: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GCD calculation to stop early?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b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If at any point, GCD == 1, we can 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stop further checks</a:t>
            </a: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Reason: 1 is the minimum GCD possible, and no further calculation can reduce it.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Form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if (result == 1) return 1; 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45"/>
          <p:cNvSpPr txBox="1"/>
          <p:nvPr/>
        </p:nvSpPr>
        <p:spPr>
          <a:xfrm>
            <a:off x="311700" y="6202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8474F5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6"/>
          <p:cNvSpPr txBox="1"/>
          <p:nvPr>
            <p:ph idx="1" type="subTitle"/>
          </p:nvPr>
        </p:nvSpPr>
        <p:spPr>
          <a:xfrm>
            <a:off x="311700" y="1273375"/>
            <a:ext cx="7177500" cy="31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is the 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Euclidean algorithm</a:t>
            </a: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preferred for finding the GCD of two numbers?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b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It reduces the problem size significantly using modulo: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Instead of checking all divisors, it reduces to:</a:t>
            </a:r>
            <a:b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GCD(a, b) = GCD(b, a % b)</a:t>
            </a:r>
            <a:b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Much faster and efficient: O(log min(a, b))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6"/>
          <p:cNvSpPr txBox="1"/>
          <p:nvPr/>
        </p:nvSpPr>
        <p:spPr>
          <a:xfrm>
            <a:off x="311700" y="5981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8474F5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idx="1" type="subTitle"/>
          </p:nvPr>
        </p:nvSpPr>
        <p:spPr>
          <a:xfrm>
            <a:off x="521900" y="1339500"/>
            <a:ext cx="7377300" cy="26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Given arr = [72, 108, 180, 252], write the steps to compute the GCD of the array.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1: GCD(72, 108) = 36  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2: GCD(36, 180) = 36  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3: GCD(36, 252) = 36  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GCD is = 36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47"/>
          <p:cNvSpPr txBox="1"/>
          <p:nvPr/>
        </p:nvSpPr>
        <p:spPr>
          <a:xfrm>
            <a:off x="211775" y="6091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8474F5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8"/>
          <p:cNvSpPr txBox="1"/>
          <p:nvPr>
            <p:ph idx="1" type="subTitle"/>
          </p:nvPr>
        </p:nvSpPr>
        <p:spPr>
          <a:xfrm>
            <a:off x="511700" y="1187600"/>
            <a:ext cx="7376400" cy="3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What is the </a:t>
            </a:r>
            <a:r>
              <a:rPr b="1" lang="en" sz="1400">
                <a:solidFill>
                  <a:schemeClr val="dk1"/>
                </a:solidFill>
              </a:rPr>
              <a:t>time and space complexity</a:t>
            </a:r>
            <a:r>
              <a:rPr lang="en" sz="1400">
                <a:solidFill>
                  <a:schemeClr val="dk1"/>
                </a:solidFill>
              </a:rPr>
              <a:t> of finding the GCD of an array with n elements using the Euclidean Algorithm?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Answer: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Time Complexity:</a:t>
            </a:r>
            <a:r>
              <a:rPr lang="en" sz="1400">
                <a:solidFill>
                  <a:schemeClr val="dk1"/>
                </a:solidFill>
              </a:rPr>
              <a:t> O(n * log M)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(where M = max element in the array)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1" lang="en" sz="1400">
                <a:solidFill>
                  <a:schemeClr val="dk1"/>
                </a:solidFill>
              </a:rPr>
              <a:t>Space Complexity:</a:t>
            </a:r>
            <a:endParaRPr b="1" sz="14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Recursive: O(log M)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Iterative: O(1)</a:t>
            </a:r>
            <a:endParaRPr sz="1400"/>
          </a:p>
        </p:txBody>
      </p:sp>
      <p:sp>
        <p:nvSpPr>
          <p:cNvPr id="329" name="Google Shape;329;p48"/>
          <p:cNvSpPr txBox="1"/>
          <p:nvPr/>
        </p:nvSpPr>
        <p:spPr>
          <a:xfrm>
            <a:off x="166125" y="5427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8474F5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9"/>
          <p:cNvSpPr txBox="1"/>
          <p:nvPr>
            <p:ph idx="1" type="subTitle"/>
          </p:nvPr>
        </p:nvSpPr>
        <p:spPr>
          <a:xfrm>
            <a:off x="555350" y="1339325"/>
            <a:ext cx="7421400" cy="3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the 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Greatest Common Divisor (GCD)</a:t>
            </a: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an array?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Give a real-world scenario where GCD helps in solving problems.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b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GCD of an array is the 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largest number</a:t>
            </a: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that divides all elements of the array without leaving a remainder.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Real-world Use Case:</a:t>
            </a: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split something equally — like cutting wires of different lengths into equal pieces without waste.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49"/>
          <p:cNvSpPr txBox="1"/>
          <p:nvPr/>
        </p:nvSpPr>
        <p:spPr>
          <a:xfrm>
            <a:off x="265800" y="642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8474F5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025" y="430538"/>
            <a:ext cx="1295400" cy="116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0"/>
          <p:cNvSpPr txBox="1"/>
          <p:nvPr/>
        </p:nvSpPr>
        <p:spPr>
          <a:xfrm>
            <a:off x="1718475" y="7246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Help Desk </a:t>
            </a:r>
            <a:endParaRPr/>
          </a:p>
        </p:txBody>
      </p:sp>
      <p:sp>
        <p:nvSpPr>
          <p:cNvPr id="342" name="Google Shape;342;p50"/>
          <p:cNvSpPr txBox="1"/>
          <p:nvPr/>
        </p:nvSpPr>
        <p:spPr>
          <a:xfrm>
            <a:off x="850375" y="1885600"/>
            <a:ext cx="4991400" cy="21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Any concerns related to attendance/marks/ faculty ; you can reach out to ETHNUS helpdesk through the displayed QR 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</a:t>
            </a:r>
            <a:r>
              <a:rPr lang="en" sz="2200" u="sng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https://codemithra.com/vit-helpdesk/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3" name="Google Shape;343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6900" y="1590475"/>
            <a:ext cx="2165724" cy="196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51"/>
          <p:cNvSpPr txBox="1"/>
          <p:nvPr/>
        </p:nvSpPr>
        <p:spPr>
          <a:xfrm>
            <a:off x="2726713" y="38822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52"/>
          <p:cNvSpPr txBox="1"/>
          <p:nvPr/>
        </p:nvSpPr>
        <p:spPr>
          <a:xfrm>
            <a:off x="3141000" y="2194650"/>
            <a:ext cx="2862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6" name="Google Shape;35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61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61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52"/>
          <p:cNvSpPr txBox="1"/>
          <p:nvPr/>
        </p:nvSpPr>
        <p:spPr>
          <a:xfrm>
            <a:off x="1980750" y="4590801"/>
            <a:ext cx="11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" name="Google Shape;359;p52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52"/>
          <p:cNvSpPr txBox="1"/>
          <p:nvPr/>
        </p:nvSpPr>
        <p:spPr>
          <a:xfrm>
            <a:off x="3519050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1" name="Google Shape;361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61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2"/>
          <p:cNvSpPr txBox="1"/>
          <p:nvPr/>
        </p:nvSpPr>
        <p:spPr>
          <a:xfrm>
            <a:off x="5457275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3" name="Google Shape;363;p52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