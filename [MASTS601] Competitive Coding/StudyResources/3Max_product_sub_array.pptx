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Roboto Black"/>
      <p:bold r:id="rId46"/>
      <p:boldItalic r:id="rId47"/>
    </p:embeddedFont>
    <p:embeddedFont>
      <p:font typeface="Roboto"/>
      <p:regular r:id="rId48"/>
      <p:bold r:id="rId49"/>
      <p:italic r:id="rId50"/>
      <p:boldItalic r:id="rId51"/>
    </p:embeddedFont>
    <p:embeddedFont>
      <p:font typeface="Roboto Medium"/>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6" roundtripDataSignature="AMtx7mh+YvP9RCu10HA0jE3nqbDu2jMw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Black-bold.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regular.fntdata"/><Relationship Id="rId47" Type="http://schemas.openxmlformats.org/officeDocument/2006/relationships/font" Target="fonts/RobotoBlack-boldItalic.fntdata"/><Relationship Id="rId49"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RobotoMedium-bold.fntdata"/><Relationship Id="rId52" Type="http://schemas.openxmlformats.org/officeDocument/2006/relationships/font" Target="fonts/RobotoMedium-regular.fntdata"/><Relationship Id="rId11" Type="http://schemas.openxmlformats.org/officeDocument/2006/relationships/slide" Target="slides/slide6.xml"/><Relationship Id="rId55" Type="http://schemas.openxmlformats.org/officeDocument/2006/relationships/font" Target="fonts/RobotoMedium-boldItalic.fntdata"/><Relationship Id="rId10" Type="http://schemas.openxmlformats.org/officeDocument/2006/relationships/slide" Target="slides/slide5.xml"/><Relationship Id="rId54" Type="http://schemas.openxmlformats.org/officeDocument/2006/relationships/font" Target="fonts/RobotoMedium-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efcf3fd050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efcf3fd050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27c63ab7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27c63ab7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27c63ab7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27c63ab7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1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27c63ab7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27c63ab7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27c63ab7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27c63ab7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27c63ab7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27c63ab7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27c63ab7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27c63ab7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27c63ab7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27c63ab7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27c63ab7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27c63ab7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27c63ab7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27c63ab7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27c63ab7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27c63ab7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27c63ab7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27c63ab7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27c63ab7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e27c63ab7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27c63ab7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e27c63ab7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27c63ab70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27c63ab70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27c63ab70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27c63ab70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27c63ab70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27c63ab70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27c63ab70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e27c63ab70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27c63ab7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e27c63ab7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27c63ab7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e27c63ab7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27c63ab70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27c63ab70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27c63ab7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e27c63ab7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e27c63ab70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e27c63ab70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e27c63ab7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e27c63ab7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27c63ab70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e27c63ab70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27c63ab70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e27c63ab70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27c63ab7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e27c63ab7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e27c63ab70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e27c63ab70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e27c63ab70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e27c63ab7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27c63ab70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e27c63ab70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3f307fc558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23f307fc55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3f307fc558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23f307fc558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3f307fc558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23f307fc558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9c74afdb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e9c74afdb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 name="Google Shape;333;p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17" name="Google Shape;1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0" name="Google Shape;40;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6" name="Google Shape;4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sp>
        <p:nvSpPr>
          <p:cNvPr id="52" name="Google Shape;52;g3efcf3fd050_1_10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g3efcf3fd050_1_10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 name="Google Shape;54;g3efcf3fd050_1_10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5" name="Google Shape;55;g3efcf3fd050_1_10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g3efcf3fd050_1_10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hyperlink" Target="https://forms.gle/oJNdVMtmfUVRQVrs9" TargetMode="Externa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7.png"/><Relationship Id="rId4" Type="http://schemas.openxmlformats.org/officeDocument/2006/relationships/hyperlink" Target="https://codemithra.com/vit-helpdesk/" TargetMode="External"/><Relationship Id="rId5"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8.png"/><Relationship Id="rId4" Type="http://schemas.openxmlformats.org/officeDocument/2006/relationships/hyperlink" Target="https://learn.codemithra.co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9.jp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62" name="Google Shape;62;p1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63" name="Google Shape;63;p18"/>
          <p:cNvPicPr preferRelativeResize="0"/>
          <p:nvPr/>
        </p:nvPicPr>
        <p:blipFill rotWithShape="1">
          <a:blip r:embed="rId3">
            <a:alphaModFix/>
          </a:blip>
          <a:srcRect b="0" l="0" r="0" t="0"/>
          <a:stretch/>
        </p:blipFill>
        <p:spPr>
          <a:xfrm>
            <a:off x="1" y="3"/>
            <a:ext cx="9144003" cy="5143501"/>
          </a:xfrm>
          <a:prstGeom prst="rect">
            <a:avLst/>
          </a:prstGeom>
          <a:noFill/>
          <a:ln>
            <a:noFill/>
          </a:ln>
        </p:spPr>
      </p:pic>
      <p:pic>
        <p:nvPicPr>
          <p:cNvPr id="64" name="Google Shape;64;p18"/>
          <p:cNvPicPr preferRelativeResize="0"/>
          <p:nvPr/>
        </p:nvPicPr>
        <p:blipFill rotWithShape="1">
          <a:blip r:embed="rId4">
            <a:alphaModFix/>
          </a:blip>
          <a:srcRect b="0" l="0" r="0" t="0"/>
          <a:stretch/>
        </p:blipFill>
        <p:spPr>
          <a:xfrm>
            <a:off x="2504603" y="600290"/>
            <a:ext cx="4134799" cy="2923400"/>
          </a:xfrm>
          <a:prstGeom prst="rect">
            <a:avLst/>
          </a:prstGeom>
          <a:noFill/>
          <a:ln>
            <a:noFill/>
          </a:ln>
        </p:spPr>
      </p:pic>
      <p:pic>
        <p:nvPicPr>
          <p:cNvPr id="65" name="Google Shape;65;p18"/>
          <p:cNvPicPr preferRelativeResize="0"/>
          <p:nvPr/>
        </p:nvPicPr>
        <p:blipFill rotWithShape="1">
          <a:blip r:embed="rId5">
            <a:alphaModFix/>
          </a:blip>
          <a:srcRect b="0" l="0" r="0" t="0"/>
          <a:stretch/>
        </p:blipFill>
        <p:spPr>
          <a:xfrm>
            <a:off x="2200053" y="3386140"/>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efcf3fd050_1_3"/>
          <p:cNvSpPr txBox="1"/>
          <p:nvPr>
            <p:ph type="title"/>
          </p:nvPr>
        </p:nvSpPr>
        <p:spPr>
          <a:xfrm>
            <a:off x="590550" y="491300"/>
            <a:ext cx="7219200" cy="404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US" sz="2000">
                <a:solidFill>
                  <a:srgbClr val="908BFF"/>
                </a:solidFill>
              </a:rPr>
              <a:t>				Test Time </a:t>
            </a:r>
            <a:r>
              <a:rPr b="1" lang="en-US" sz="2000">
                <a:solidFill>
                  <a:srgbClr val="908BFF"/>
                </a:solidFill>
              </a:rPr>
              <a:t>Block Swap algorithm</a:t>
            </a:r>
            <a:endParaRPr b="1" sz="2000">
              <a:solidFill>
                <a:srgbClr val="908BFF"/>
              </a:solidFill>
            </a:endParaRPr>
          </a:p>
        </p:txBody>
      </p:sp>
      <p:sp>
        <p:nvSpPr>
          <p:cNvPr id="71" name="Google Shape;71;g3efcf3fd050_1_3"/>
          <p:cNvSpPr txBox="1"/>
          <p:nvPr/>
        </p:nvSpPr>
        <p:spPr>
          <a:xfrm>
            <a:off x="1936250" y="4239350"/>
            <a:ext cx="5397300" cy="34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chemeClr val="dk1"/>
                </a:solidFill>
                <a:latin typeface="Roboto"/>
                <a:ea typeface="Roboto"/>
                <a:cs typeface="Roboto"/>
                <a:sym typeface="Roboto"/>
              </a:rPr>
              <a:t>URL</a:t>
            </a:r>
            <a:r>
              <a:rPr lang="en-US" sz="2100">
                <a:solidFill>
                  <a:srgbClr val="807FEC"/>
                </a:solidFill>
                <a:latin typeface="Roboto"/>
                <a:ea typeface="Roboto"/>
                <a:cs typeface="Roboto"/>
                <a:sym typeface="Roboto"/>
              </a:rPr>
              <a:t> : </a:t>
            </a:r>
            <a:r>
              <a:rPr lang="en-US" sz="1700" u="sng">
                <a:solidFill>
                  <a:schemeClr val="hlink"/>
                </a:solidFill>
                <a:latin typeface="Roboto"/>
                <a:ea typeface="Roboto"/>
                <a:cs typeface="Roboto"/>
                <a:sym typeface="Roboto"/>
                <a:hlinkClick r:id="rId3"/>
              </a:rPr>
              <a:t>https://forms.gle/oJNdVMtmfUVRQVrs9</a:t>
            </a:r>
            <a:endParaRPr sz="2100">
              <a:solidFill>
                <a:schemeClr val="dk1"/>
              </a:solidFill>
              <a:latin typeface="Roboto"/>
              <a:ea typeface="Roboto"/>
              <a:cs typeface="Roboto"/>
              <a:sym typeface="Roboto"/>
            </a:endParaRPr>
          </a:p>
        </p:txBody>
      </p:sp>
      <p:pic>
        <p:nvPicPr>
          <p:cNvPr id="72" name="Google Shape;72;g3efcf3fd050_1_3" title="qr-code.png"/>
          <p:cNvPicPr preferRelativeResize="0"/>
          <p:nvPr/>
        </p:nvPicPr>
        <p:blipFill>
          <a:blip r:embed="rId4">
            <a:alphaModFix/>
          </a:blip>
          <a:stretch>
            <a:fillRect/>
          </a:stretch>
        </p:blipFill>
        <p:spPr>
          <a:xfrm>
            <a:off x="2643422" y="1048400"/>
            <a:ext cx="3038550" cy="3038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8" name="Google Shape;78;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9" name="Google Shape;79;p4"/>
          <p:cNvPicPr preferRelativeResize="0"/>
          <p:nvPr/>
        </p:nvPicPr>
        <p:blipFill rotWithShape="1">
          <a:blip r:embed="rId3">
            <a:alphaModFix/>
          </a:blip>
          <a:srcRect b="0" l="0" r="0" t="0"/>
          <a:stretch/>
        </p:blipFill>
        <p:spPr>
          <a:xfrm>
            <a:off x="1" y="3"/>
            <a:ext cx="9144003" cy="5143501"/>
          </a:xfrm>
          <a:prstGeom prst="rect">
            <a:avLst/>
          </a:prstGeom>
          <a:noFill/>
          <a:ln>
            <a:noFill/>
          </a:ln>
        </p:spPr>
      </p:pic>
      <p:sp>
        <p:nvSpPr>
          <p:cNvPr id="80" name="Google Shape;80;p4"/>
          <p:cNvSpPr txBox="1"/>
          <p:nvPr/>
        </p:nvSpPr>
        <p:spPr>
          <a:xfrm>
            <a:off x="232775" y="2060275"/>
            <a:ext cx="4282200" cy="1600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1" i="0" lang="en-US" sz="2800" u="none" cap="none" strike="noStrike">
                <a:solidFill>
                  <a:schemeClr val="lt1"/>
                </a:solidFill>
                <a:latin typeface="Roboto"/>
                <a:ea typeface="Roboto"/>
                <a:cs typeface="Roboto"/>
                <a:sym typeface="Roboto"/>
              </a:rPr>
              <a:t>MAXIMUM PRODUCT SUBARRAY</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g3e27c63ab70_0_5"/>
          <p:cNvPicPr preferRelativeResize="0"/>
          <p:nvPr/>
        </p:nvPicPr>
        <p:blipFill rotWithShape="1">
          <a:blip r:embed="rId3">
            <a:alphaModFix/>
          </a:blip>
          <a:srcRect b="0" l="0" r="0" t="0"/>
          <a:stretch/>
        </p:blipFill>
        <p:spPr>
          <a:xfrm>
            <a:off x="1" y="3"/>
            <a:ext cx="9144003" cy="5143501"/>
          </a:xfrm>
          <a:prstGeom prst="rect">
            <a:avLst/>
          </a:prstGeom>
          <a:noFill/>
          <a:ln>
            <a:noFill/>
          </a:ln>
        </p:spPr>
      </p:pic>
      <p:sp>
        <p:nvSpPr>
          <p:cNvPr id="86" name="Google Shape;86;g3e27c63ab70_0_5"/>
          <p:cNvSpPr txBox="1"/>
          <p:nvPr/>
        </p:nvSpPr>
        <p:spPr>
          <a:xfrm>
            <a:off x="709900" y="829750"/>
            <a:ext cx="4023000" cy="38205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Introduction to Maximum Product Subarray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Difference between Subarray and Subsequence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Variants of Maximum Product Subarray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Examples of Maximum Product Subarray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Different Approaches for Maximum Product Subarray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 Efficiency Comparison of Maximum Product Subarray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Brute Force Approach - Maximum Product Subarray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Prefix Suffix Approach - Maximum Product Subarray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Dynamic Programming Approach - Maximum Product Subarray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Why DP Approach is Efficient ?</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Real-Time Applications of Maximum Product Subarray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Company Questions</a:t>
            </a:r>
            <a:endParaRPr sz="1200">
              <a:solidFill>
                <a:schemeClr val="dk1"/>
              </a:solidFill>
              <a:latin typeface="Roboto"/>
              <a:ea typeface="Roboto"/>
              <a:cs typeface="Roboto"/>
              <a:sym typeface="Roboto"/>
            </a:endParaRPr>
          </a:p>
        </p:txBody>
      </p:sp>
      <p:sp>
        <p:nvSpPr>
          <p:cNvPr id="87" name="Google Shape;87;g3e27c63ab70_0_5"/>
          <p:cNvSpPr txBox="1"/>
          <p:nvPr/>
        </p:nvSpPr>
        <p:spPr>
          <a:xfrm>
            <a:off x="954600" y="398650"/>
            <a:ext cx="1799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600"/>
              <a:buFont typeface="Arial"/>
              <a:buNone/>
            </a:pPr>
            <a:r>
              <a:rPr lang="en-US" sz="1600">
                <a:solidFill>
                  <a:srgbClr val="8181EF"/>
                </a:solidFill>
                <a:latin typeface="Roboto Black"/>
                <a:ea typeface="Roboto Black"/>
                <a:cs typeface="Roboto Black"/>
                <a:sym typeface="Roboto Black"/>
              </a:rPr>
              <a:t>TOPICS</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e27c63ab70_0_20"/>
          <p:cNvSpPr txBox="1"/>
          <p:nvPr>
            <p:ph type="title"/>
          </p:nvPr>
        </p:nvSpPr>
        <p:spPr>
          <a:xfrm>
            <a:off x="311700" y="445025"/>
            <a:ext cx="7378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1" lang="en-US" sz="2020">
                <a:solidFill>
                  <a:srgbClr val="8474F5"/>
                </a:solidFill>
              </a:rPr>
              <a:t>Introduction to Maximum Product Subarray</a:t>
            </a:r>
            <a:endParaRPr/>
          </a:p>
        </p:txBody>
      </p:sp>
      <p:sp>
        <p:nvSpPr>
          <p:cNvPr id="93" name="Google Shape;93;g3e27c63ab70_0_20"/>
          <p:cNvSpPr txBox="1"/>
          <p:nvPr>
            <p:ph idx="1" type="body"/>
          </p:nvPr>
        </p:nvSpPr>
        <p:spPr>
          <a:xfrm>
            <a:off x="437150" y="1152475"/>
            <a:ext cx="42192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lnSpc>
                <a:spcPct val="150000"/>
              </a:lnSpc>
              <a:spcBef>
                <a:spcPts val="1200"/>
              </a:spcBef>
              <a:spcAft>
                <a:spcPts val="0"/>
              </a:spcAft>
              <a:buClr>
                <a:schemeClr val="dk1"/>
              </a:buClr>
              <a:buSzPts val="1400"/>
              <a:buChar char="●"/>
            </a:pPr>
            <a:r>
              <a:rPr lang="en-US" sz="1400">
                <a:solidFill>
                  <a:schemeClr val="dk1"/>
                </a:solidFill>
              </a:rPr>
              <a:t>The </a:t>
            </a:r>
            <a:r>
              <a:rPr b="1" lang="en-US" sz="1400">
                <a:solidFill>
                  <a:schemeClr val="dk1"/>
                </a:solidFill>
              </a:rPr>
              <a:t>Maximum Product Subarray</a:t>
            </a:r>
            <a:r>
              <a:rPr lang="en-US" sz="1400">
                <a:solidFill>
                  <a:schemeClr val="dk1"/>
                </a:solidFill>
              </a:rPr>
              <a:t> problem is a famous array-based interview question frequently asked in both product-based and service-based companies.</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US" sz="1400">
                <a:solidFill>
                  <a:schemeClr val="dk1"/>
                </a:solidFill>
              </a:rPr>
              <a:t>In this problem, we need to find the contiguous subarray within a given array that produces the largest product among all possible subarrays.</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US" sz="1400">
                <a:solidFill>
                  <a:schemeClr val="dk1"/>
                </a:solidFill>
              </a:rPr>
              <a:t>A subarray is a </a:t>
            </a:r>
            <a:r>
              <a:rPr b="1" lang="en-US" sz="1400">
                <a:solidFill>
                  <a:schemeClr val="dk1"/>
                </a:solidFill>
              </a:rPr>
              <a:t>continuous sequence </a:t>
            </a:r>
            <a:r>
              <a:rPr lang="en-US" sz="1400">
                <a:solidFill>
                  <a:schemeClr val="dk1"/>
                </a:solidFill>
              </a:rPr>
              <a:t>of elements taken from an array.</a:t>
            </a:r>
            <a:endParaRPr sz="1400">
              <a:solidFill>
                <a:schemeClr val="dk1"/>
              </a:solidFill>
            </a:endParaRPr>
          </a:p>
          <a:p>
            <a:pPr indent="0" lvl="0" marL="0" rtl="0" algn="l">
              <a:spcBef>
                <a:spcPts val="1200"/>
              </a:spcBef>
              <a:spcAft>
                <a:spcPts val="0"/>
              </a:spcAft>
              <a:buNone/>
            </a:pPr>
            <a:r>
              <a:t/>
            </a:r>
            <a:endParaRPr sz="1400">
              <a:solidFill>
                <a:schemeClr val="dk1"/>
              </a:solidFill>
            </a:endParaRPr>
          </a:p>
        </p:txBody>
      </p:sp>
      <p:sp>
        <p:nvSpPr>
          <p:cNvPr id="94" name="Google Shape;94;g3e27c63ab70_0_20"/>
          <p:cNvSpPr txBox="1"/>
          <p:nvPr/>
        </p:nvSpPr>
        <p:spPr>
          <a:xfrm>
            <a:off x="4862950" y="1124400"/>
            <a:ext cx="3284100" cy="35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95" name="Google Shape;95;g3e27c63ab70_0_20"/>
          <p:cNvPicPr preferRelativeResize="0"/>
          <p:nvPr/>
        </p:nvPicPr>
        <p:blipFill>
          <a:blip r:embed="rId3">
            <a:alphaModFix/>
          </a:blip>
          <a:stretch>
            <a:fillRect/>
          </a:stretch>
        </p:blipFill>
        <p:spPr>
          <a:xfrm>
            <a:off x="4656350" y="1152475"/>
            <a:ext cx="3367374" cy="3388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3"/>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01" name="Google Shape;101;p13"/>
          <p:cNvSpPr/>
          <p:nvPr/>
        </p:nvSpPr>
        <p:spPr>
          <a:xfrm>
            <a:off x="415400" y="1044775"/>
            <a:ext cx="7253100" cy="37008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rtl="0" algn="l">
              <a:lnSpc>
                <a:spcPct val="150000"/>
              </a:lnSpc>
              <a:spcBef>
                <a:spcPts val="1400"/>
              </a:spcBef>
              <a:spcAft>
                <a:spcPts val="0"/>
              </a:spcAft>
              <a:buClr>
                <a:schemeClr val="dk1"/>
              </a:buClr>
              <a:buSzPts val="1100"/>
              <a:buFont typeface="Arial"/>
              <a:buNone/>
            </a:pPr>
            <a:r>
              <a:rPr b="1" lang="en-US">
                <a:solidFill>
                  <a:schemeClr val="dk1"/>
                </a:solidFill>
                <a:latin typeface="Roboto"/>
                <a:ea typeface="Roboto"/>
                <a:cs typeface="Roboto"/>
                <a:sym typeface="Roboto"/>
              </a:rPr>
              <a:t>What is a Subarray?</a:t>
            </a:r>
            <a:endParaRPr b="1">
              <a:solidFill>
                <a:schemeClr val="dk1"/>
              </a:solidFill>
              <a:latin typeface="Roboto"/>
              <a:ea typeface="Roboto"/>
              <a:cs typeface="Roboto"/>
              <a:sym typeface="Roboto"/>
            </a:endParaRPr>
          </a:p>
          <a:p>
            <a:pPr indent="0" lvl="0" marL="0" rtl="0" algn="l">
              <a:lnSpc>
                <a:spcPct val="150000"/>
              </a:lnSpc>
              <a:spcBef>
                <a:spcPts val="1200"/>
              </a:spcBef>
              <a:spcAft>
                <a:spcPts val="0"/>
              </a:spcAft>
              <a:buClr>
                <a:schemeClr val="dk1"/>
              </a:buClr>
              <a:buSzPts val="1100"/>
              <a:buFont typeface="Arial"/>
              <a:buNone/>
            </a:pPr>
            <a:r>
              <a:rPr lang="en-US">
                <a:solidFill>
                  <a:schemeClr val="dk1"/>
                </a:solidFill>
                <a:latin typeface="Roboto"/>
                <a:ea typeface="Roboto"/>
                <a:cs typeface="Roboto"/>
                <a:sym typeface="Roboto"/>
              </a:rPr>
              <a:t>A </a:t>
            </a:r>
            <a:r>
              <a:rPr b="1" lang="en-US">
                <a:solidFill>
                  <a:schemeClr val="dk1"/>
                </a:solidFill>
                <a:latin typeface="Roboto"/>
                <a:ea typeface="Roboto"/>
                <a:cs typeface="Roboto"/>
                <a:sym typeface="Roboto"/>
              </a:rPr>
              <a:t>subarray</a:t>
            </a:r>
            <a:r>
              <a:rPr lang="en-US">
                <a:solidFill>
                  <a:schemeClr val="dk1"/>
                </a:solidFill>
                <a:latin typeface="Roboto"/>
                <a:ea typeface="Roboto"/>
                <a:cs typeface="Roboto"/>
                <a:sym typeface="Roboto"/>
              </a:rPr>
              <a:t> is a </a:t>
            </a:r>
            <a:r>
              <a:rPr b="1" lang="en-US">
                <a:solidFill>
                  <a:schemeClr val="dk1"/>
                </a:solidFill>
                <a:latin typeface="Roboto"/>
                <a:ea typeface="Roboto"/>
                <a:cs typeface="Roboto"/>
                <a:sym typeface="Roboto"/>
              </a:rPr>
              <a:t>continuous part</a:t>
            </a:r>
            <a:r>
              <a:rPr lang="en-US">
                <a:solidFill>
                  <a:schemeClr val="dk1"/>
                </a:solidFill>
                <a:latin typeface="Roboto"/>
                <a:ea typeface="Roboto"/>
                <a:cs typeface="Roboto"/>
                <a:sym typeface="Roboto"/>
              </a:rPr>
              <a:t> of an array.</a:t>
            </a:r>
            <a:endParaRPr>
              <a:solidFill>
                <a:schemeClr val="dk1"/>
              </a:solidFill>
              <a:latin typeface="Roboto"/>
              <a:ea typeface="Roboto"/>
              <a:cs typeface="Roboto"/>
              <a:sym typeface="Roboto"/>
            </a:endParaRPr>
          </a:p>
          <a:p>
            <a:pPr indent="0" lvl="0" marL="0" rtl="0" algn="l">
              <a:lnSpc>
                <a:spcPct val="150000"/>
              </a:lnSpc>
              <a:spcBef>
                <a:spcPts val="1200"/>
              </a:spcBef>
              <a:spcAft>
                <a:spcPts val="0"/>
              </a:spcAft>
              <a:buClr>
                <a:schemeClr val="dk1"/>
              </a:buClr>
              <a:buSzPts val="1100"/>
              <a:buFont typeface="Arial"/>
              <a:buNone/>
            </a:pPr>
            <a:r>
              <a:rPr lang="en-US">
                <a:solidFill>
                  <a:schemeClr val="dk1"/>
                </a:solidFill>
                <a:latin typeface="Roboto"/>
                <a:ea typeface="Roboto"/>
                <a:cs typeface="Roboto"/>
                <a:sym typeface="Roboto"/>
              </a:rPr>
              <a:t>Example:</a:t>
            </a:r>
            <a:br>
              <a:rPr lang="en-US">
                <a:solidFill>
                  <a:schemeClr val="dk1"/>
                </a:solidFill>
                <a:latin typeface="Roboto"/>
                <a:ea typeface="Roboto"/>
                <a:cs typeface="Roboto"/>
                <a:sym typeface="Roboto"/>
              </a:rPr>
            </a:br>
            <a:r>
              <a:rPr lang="en-US">
                <a:solidFill>
                  <a:schemeClr val="dk1"/>
                </a:solidFill>
                <a:latin typeface="Roboto"/>
                <a:ea typeface="Roboto"/>
                <a:cs typeface="Roboto"/>
                <a:sym typeface="Roboto"/>
              </a:rPr>
              <a:t> Array = [2, 3, -2, 4]</a:t>
            </a:r>
            <a:endParaRPr>
              <a:solidFill>
                <a:schemeClr val="dk1"/>
              </a:solidFill>
              <a:latin typeface="Roboto"/>
              <a:ea typeface="Roboto"/>
              <a:cs typeface="Roboto"/>
              <a:sym typeface="Roboto"/>
            </a:endParaRPr>
          </a:p>
          <a:p>
            <a:pPr indent="0" lvl="0" marL="0" rtl="0" algn="l">
              <a:lnSpc>
                <a:spcPct val="150000"/>
              </a:lnSpc>
              <a:spcBef>
                <a:spcPts val="1200"/>
              </a:spcBef>
              <a:spcAft>
                <a:spcPts val="0"/>
              </a:spcAft>
              <a:buClr>
                <a:schemeClr val="dk1"/>
              </a:buClr>
              <a:buSzPts val="1100"/>
              <a:buFont typeface="Arial"/>
              <a:buNone/>
            </a:pPr>
            <a:r>
              <a:rPr lang="en-US">
                <a:solidFill>
                  <a:schemeClr val="dk1"/>
                </a:solidFill>
                <a:latin typeface="Roboto"/>
                <a:ea typeface="Roboto"/>
                <a:cs typeface="Roboto"/>
                <a:sym typeface="Roboto"/>
              </a:rPr>
              <a:t>Possible subarrays:</a:t>
            </a:r>
            <a:endParaRPr>
              <a:solidFill>
                <a:schemeClr val="dk1"/>
              </a:solidFill>
              <a:latin typeface="Roboto"/>
              <a:ea typeface="Roboto"/>
              <a:cs typeface="Roboto"/>
              <a:sym typeface="Roboto"/>
            </a:endParaRPr>
          </a:p>
          <a:p>
            <a:pPr indent="-317500" lvl="0" marL="457200" rtl="0" algn="l">
              <a:lnSpc>
                <a:spcPct val="150000"/>
              </a:lnSpc>
              <a:spcBef>
                <a:spcPts val="1200"/>
              </a:spcBef>
              <a:spcAft>
                <a:spcPts val="0"/>
              </a:spcAft>
              <a:buClr>
                <a:schemeClr val="dk1"/>
              </a:buClr>
              <a:buSzPts val="1400"/>
              <a:buFont typeface="Roboto"/>
              <a:buChar char="●"/>
            </a:pPr>
            <a:r>
              <a:rPr lang="en-US">
                <a:solidFill>
                  <a:schemeClr val="dk1"/>
                </a:solidFill>
                <a:latin typeface="Roboto"/>
                <a:ea typeface="Roboto"/>
                <a:cs typeface="Roboto"/>
                <a:sym typeface="Roboto"/>
              </a:rPr>
              <a:t>[2, 3]</a:t>
            </a:r>
            <a:endParaRPr>
              <a:solidFill>
                <a:schemeClr val="dk1"/>
              </a:solidFill>
              <a:latin typeface="Roboto"/>
              <a:ea typeface="Roboto"/>
              <a:cs typeface="Roboto"/>
              <a:sym typeface="Roboto"/>
            </a:endParaRPr>
          </a:p>
          <a:p>
            <a:pPr indent="-317500" lvl="0" marL="457200" rtl="0" algn="l">
              <a:lnSpc>
                <a:spcPct val="150000"/>
              </a:lnSpc>
              <a:spcBef>
                <a:spcPts val="0"/>
              </a:spcBef>
              <a:spcAft>
                <a:spcPts val="0"/>
              </a:spcAft>
              <a:buClr>
                <a:schemeClr val="dk1"/>
              </a:buClr>
              <a:buSzPts val="1400"/>
              <a:buFont typeface="Roboto"/>
              <a:buChar char="●"/>
            </a:pPr>
            <a:r>
              <a:rPr lang="en-US">
                <a:solidFill>
                  <a:schemeClr val="dk1"/>
                </a:solidFill>
                <a:latin typeface="Roboto"/>
                <a:ea typeface="Roboto"/>
                <a:cs typeface="Roboto"/>
                <a:sym typeface="Roboto"/>
              </a:rPr>
              <a:t>[3, -2, 4]</a:t>
            </a:r>
            <a:endParaRPr>
              <a:solidFill>
                <a:schemeClr val="dk1"/>
              </a:solidFill>
              <a:latin typeface="Roboto"/>
              <a:ea typeface="Roboto"/>
              <a:cs typeface="Roboto"/>
              <a:sym typeface="Roboto"/>
            </a:endParaRPr>
          </a:p>
          <a:p>
            <a:pPr indent="-317500" lvl="0" marL="457200" rtl="0" algn="l">
              <a:lnSpc>
                <a:spcPct val="150000"/>
              </a:lnSpc>
              <a:spcBef>
                <a:spcPts val="0"/>
              </a:spcBef>
              <a:spcAft>
                <a:spcPts val="0"/>
              </a:spcAft>
              <a:buClr>
                <a:schemeClr val="dk1"/>
              </a:buClr>
              <a:buSzPts val="1400"/>
              <a:buFont typeface="Roboto"/>
              <a:buChar char="●"/>
            </a:pPr>
            <a:r>
              <a:rPr lang="en-US">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a:p>
            <a:pPr indent="0" lvl="0" marL="0" rtl="0" algn="l">
              <a:lnSpc>
                <a:spcPct val="150000"/>
              </a:lnSpc>
              <a:spcBef>
                <a:spcPts val="1200"/>
              </a:spcBef>
              <a:spcAft>
                <a:spcPts val="0"/>
              </a:spcAft>
              <a:buClr>
                <a:schemeClr val="dk1"/>
              </a:buClr>
              <a:buSzPts val="1100"/>
              <a:buFont typeface="Arial"/>
              <a:buNone/>
            </a:pPr>
            <a:r>
              <a:rPr lang="en-US">
                <a:solidFill>
                  <a:schemeClr val="dk1"/>
                </a:solidFill>
                <a:latin typeface="Roboto"/>
                <a:ea typeface="Roboto"/>
                <a:cs typeface="Roboto"/>
                <a:sym typeface="Roboto"/>
              </a:rPr>
              <a:t>Here, elements must remain continuous.</a:t>
            </a:r>
            <a:endParaRPr>
              <a:solidFill>
                <a:schemeClr val="dk1"/>
              </a:solidFill>
              <a:latin typeface="Roboto"/>
              <a:ea typeface="Roboto"/>
              <a:cs typeface="Roboto"/>
              <a:sym typeface="Roboto"/>
            </a:endParaRPr>
          </a:p>
          <a:p>
            <a:pPr indent="0" lvl="0" marL="0" rtl="0" algn="l">
              <a:lnSpc>
                <a:spcPct val="150000"/>
              </a:lnSpc>
              <a:spcBef>
                <a:spcPts val="120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0" rtl="0" algn="l">
              <a:lnSpc>
                <a:spcPct val="150000"/>
              </a:lnSpc>
              <a:spcBef>
                <a:spcPts val="120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1" marL="0" marR="0" rtl="0" algn="l">
              <a:lnSpc>
                <a:spcPct val="150000"/>
              </a:lnSpc>
              <a:spcBef>
                <a:spcPts val="1200"/>
              </a:spcBef>
              <a:spcAft>
                <a:spcPts val="0"/>
              </a:spcAft>
              <a:buClr>
                <a:srgbClr val="000000"/>
              </a:buClr>
              <a:buSzPts val="1600"/>
              <a:buFont typeface="Arial"/>
              <a:buNone/>
            </a:pPr>
            <a:r>
              <a:t/>
            </a:r>
            <a:endParaRPr>
              <a:solidFill>
                <a:schemeClr val="dk1"/>
              </a:solidFill>
              <a:latin typeface="Roboto"/>
              <a:ea typeface="Roboto"/>
              <a:cs typeface="Roboto"/>
              <a:sym typeface="Roboto"/>
            </a:endParaRPr>
          </a:p>
        </p:txBody>
      </p:sp>
      <p:sp>
        <p:nvSpPr>
          <p:cNvPr id="102" name="Google Shape;102;p13"/>
          <p:cNvSpPr txBox="1"/>
          <p:nvPr>
            <p:ph type="title"/>
          </p:nvPr>
        </p:nvSpPr>
        <p:spPr>
          <a:xfrm>
            <a:off x="350325" y="408400"/>
            <a:ext cx="7253100" cy="572700"/>
          </a:xfrm>
          <a:prstGeom prst="rect">
            <a:avLst/>
          </a:prstGeom>
        </p:spPr>
        <p:txBody>
          <a:bodyPr anchorCtr="0" anchor="t" bIns="91425" lIns="91425" spcFirstLastPara="1" rIns="91425" wrap="square" tIns="91425">
            <a:normAutofit/>
          </a:bodyPr>
          <a:lstStyle/>
          <a:p>
            <a:pPr indent="0" lvl="0" marL="0" rtl="0" algn="l">
              <a:lnSpc>
                <a:spcPct val="150000"/>
              </a:lnSpc>
              <a:spcBef>
                <a:spcPts val="1400"/>
              </a:spcBef>
              <a:spcAft>
                <a:spcPts val="400"/>
              </a:spcAft>
              <a:buClr>
                <a:schemeClr val="dk1"/>
              </a:buClr>
              <a:buSzPts val="1100"/>
              <a:buFont typeface="Arial"/>
              <a:buNone/>
            </a:pPr>
            <a:r>
              <a:rPr b="1" lang="en-US" sz="2000">
                <a:solidFill>
                  <a:srgbClr val="8474F5"/>
                </a:solidFill>
              </a:rPr>
              <a:t>Difference between Subarray and Subsequence</a:t>
            </a:r>
            <a:endParaRPr b="1" sz="2000">
              <a:solidFill>
                <a:srgbClr val="8474F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e27c63ab70_0_15"/>
          <p:cNvSpPr txBox="1"/>
          <p:nvPr>
            <p:ph type="title"/>
          </p:nvPr>
        </p:nvSpPr>
        <p:spPr>
          <a:xfrm>
            <a:off x="311700" y="445025"/>
            <a:ext cx="7443900" cy="572700"/>
          </a:xfrm>
          <a:prstGeom prst="rect">
            <a:avLst/>
          </a:prstGeom>
        </p:spPr>
        <p:txBody>
          <a:bodyPr anchorCtr="0" anchor="t" bIns="91425" lIns="91425" spcFirstLastPara="1" rIns="91425" wrap="square" tIns="91425">
            <a:noAutofit/>
          </a:bodyPr>
          <a:lstStyle/>
          <a:p>
            <a:pPr indent="0" lvl="0" marL="0" rtl="0" algn="l">
              <a:lnSpc>
                <a:spcPct val="150000"/>
              </a:lnSpc>
              <a:spcBef>
                <a:spcPts val="1400"/>
              </a:spcBef>
              <a:spcAft>
                <a:spcPts val="0"/>
              </a:spcAft>
              <a:buClr>
                <a:schemeClr val="dk1"/>
              </a:buClr>
              <a:buSzPts val="1100"/>
              <a:buFont typeface="Arial"/>
              <a:buNone/>
            </a:pPr>
            <a:r>
              <a:rPr b="1" lang="en-US" sz="2000">
                <a:solidFill>
                  <a:srgbClr val="8474F5"/>
                </a:solidFill>
              </a:rPr>
              <a:t>Difference between Subarray and Subsequence</a:t>
            </a:r>
            <a:endParaRPr b="1" sz="1400"/>
          </a:p>
          <a:p>
            <a:pPr indent="0" lvl="0" marL="0" rtl="0" algn="l">
              <a:lnSpc>
                <a:spcPct val="150000"/>
              </a:lnSpc>
              <a:spcBef>
                <a:spcPts val="1200"/>
              </a:spcBef>
              <a:spcAft>
                <a:spcPts val="1200"/>
              </a:spcAft>
              <a:buClr>
                <a:schemeClr val="dk1"/>
              </a:buClr>
              <a:buSzPts val="1100"/>
              <a:buFont typeface="Arial"/>
              <a:buNone/>
            </a:pPr>
            <a:r>
              <a:t/>
            </a:r>
            <a:endParaRPr/>
          </a:p>
        </p:txBody>
      </p:sp>
      <p:sp>
        <p:nvSpPr>
          <p:cNvPr id="108" name="Google Shape;108;g3e27c63ab70_0_15"/>
          <p:cNvSpPr txBox="1"/>
          <p:nvPr>
            <p:ph idx="1" type="body"/>
          </p:nvPr>
        </p:nvSpPr>
        <p:spPr>
          <a:xfrm>
            <a:off x="415400" y="1152475"/>
            <a:ext cx="7296600" cy="3571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1400"/>
              </a:spcBef>
              <a:spcAft>
                <a:spcPts val="0"/>
              </a:spcAft>
              <a:buNone/>
            </a:pPr>
            <a:r>
              <a:rPr b="1" lang="en-US" sz="1400">
                <a:solidFill>
                  <a:schemeClr val="dk1"/>
                </a:solidFill>
              </a:rPr>
              <a:t>What is a Subsequence?</a:t>
            </a:r>
            <a:endParaRPr b="1" sz="1400">
              <a:solidFill>
                <a:schemeClr val="dk1"/>
              </a:solidFill>
            </a:endParaRPr>
          </a:p>
          <a:p>
            <a:pPr indent="0" lvl="0" marL="0" rtl="0" algn="l">
              <a:lnSpc>
                <a:spcPct val="150000"/>
              </a:lnSpc>
              <a:spcBef>
                <a:spcPts val="1400"/>
              </a:spcBef>
              <a:spcAft>
                <a:spcPts val="0"/>
              </a:spcAft>
              <a:buNone/>
            </a:pPr>
            <a:r>
              <a:rPr b="1" lang="en-US" sz="1400">
                <a:solidFill>
                  <a:schemeClr val="dk1"/>
                </a:solidFill>
              </a:rPr>
              <a:t> </a:t>
            </a:r>
            <a:r>
              <a:rPr lang="en-US" sz="1400">
                <a:solidFill>
                  <a:schemeClr val="dk1"/>
                </a:solidFill>
              </a:rPr>
              <a:t>A </a:t>
            </a:r>
            <a:r>
              <a:rPr b="1" lang="en-US" sz="1400">
                <a:solidFill>
                  <a:schemeClr val="dk1"/>
                </a:solidFill>
              </a:rPr>
              <a:t>subsequence</a:t>
            </a:r>
            <a:r>
              <a:rPr lang="en-US" sz="1400">
                <a:solidFill>
                  <a:schemeClr val="dk1"/>
                </a:solidFill>
              </a:rPr>
              <a:t> is formed by taking elements in the </a:t>
            </a:r>
            <a:r>
              <a:rPr b="1" lang="en-US" sz="1400">
                <a:solidFill>
                  <a:schemeClr val="dk1"/>
                </a:solidFill>
              </a:rPr>
              <a:t>same order</a:t>
            </a:r>
            <a:r>
              <a:rPr lang="en-US" sz="1400">
                <a:solidFill>
                  <a:schemeClr val="dk1"/>
                </a:solidFill>
              </a:rPr>
              <a:t> but </a:t>
            </a:r>
            <a:r>
              <a:rPr b="1" lang="en-US" sz="1400">
                <a:solidFill>
                  <a:schemeClr val="dk1"/>
                </a:solidFill>
              </a:rPr>
              <a:t>not necessarily continuous</a:t>
            </a:r>
            <a:r>
              <a:rPr lang="en-US" sz="1400">
                <a:solidFill>
                  <a:schemeClr val="dk1"/>
                </a:solidFill>
              </a:rPr>
              <a:t>.</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400">
                <a:solidFill>
                  <a:schemeClr val="dk1"/>
                </a:solidFill>
              </a:rPr>
              <a:t>Example:</a:t>
            </a:r>
            <a:br>
              <a:rPr lang="en-US" sz="1400">
                <a:solidFill>
                  <a:schemeClr val="dk1"/>
                </a:solidFill>
              </a:rPr>
            </a:br>
            <a:r>
              <a:rPr lang="en-US" sz="1400">
                <a:solidFill>
                  <a:schemeClr val="dk1"/>
                </a:solidFill>
              </a:rPr>
              <a:t> Array = [2, 3, -2, 4]</a:t>
            </a:r>
            <a:endParaRPr sz="14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US" sz="1400">
                <a:solidFill>
                  <a:schemeClr val="dk1"/>
                </a:solidFill>
              </a:rPr>
              <a:t>Possible subsequences:</a:t>
            </a:r>
            <a:endParaRPr sz="1400">
              <a:solidFill>
                <a:schemeClr val="dk1"/>
              </a:solidFill>
            </a:endParaRPr>
          </a:p>
          <a:p>
            <a:pPr indent="-317500" lvl="0" marL="457200" rtl="0" algn="l">
              <a:lnSpc>
                <a:spcPct val="150000"/>
              </a:lnSpc>
              <a:spcBef>
                <a:spcPts val="1200"/>
              </a:spcBef>
              <a:spcAft>
                <a:spcPts val="0"/>
              </a:spcAft>
              <a:buSzPts val="1400"/>
              <a:buFont typeface="Roboto"/>
              <a:buChar char="●"/>
            </a:pPr>
            <a:r>
              <a:rPr lang="en-US" sz="1400">
                <a:solidFill>
                  <a:schemeClr val="dk1"/>
                </a:solidFill>
              </a:rPr>
              <a:t>[2, -2, 4]</a:t>
            </a:r>
            <a:endParaRPr sz="1400">
              <a:solidFill>
                <a:schemeClr val="dk1"/>
              </a:solidFill>
            </a:endParaRPr>
          </a:p>
          <a:p>
            <a:pPr indent="-317500" lvl="0" marL="457200" rtl="0" algn="l">
              <a:lnSpc>
                <a:spcPct val="150000"/>
              </a:lnSpc>
              <a:spcBef>
                <a:spcPts val="0"/>
              </a:spcBef>
              <a:spcAft>
                <a:spcPts val="0"/>
              </a:spcAft>
              <a:buSzPts val="1400"/>
              <a:buFont typeface="Roboto"/>
              <a:buChar char="●"/>
            </a:pPr>
            <a:r>
              <a:rPr lang="en-US" sz="1400">
                <a:solidFill>
                  <a:schemeClr val="dk1"/>
                </a:solidFill>
              </a:rPr>
              <a:t>[3, 4]</a:t>
            </a:r>
            <a:endParaRPr sz="1400">
              <a:solidFill>
                <a:schemeClr val="dk1"/>
              </a:solidFill>
            </a:endParaRPr>
          </a:p>
          <a:p>
            <a:pPr indent="-317500" lvl="0" marL="457200" rtl="0" algn="l">
              <a:lnSpc>
                <a:spcPct val="150000"/>
              </a:lnSpc>
              <a:spcBef>
                <a:spcPts val="0"/>
              </a:spcBef>
              <a:spcAft>
                <a:spcPts val="0"/>
              </a:spcAft>
              <a:buSzPts val="1400"/>
              <a:buFont typeface="Roboto"/>
              <a:buChar char="●"/>
            </a:pPr>
            <a:r>
              <a:rPr lang="en-US" sz="1400">
                <a:solidFill>
                  <a:schemeClr val="dk1"/>
                </a:solidFill>
              </a:rPr>
              <a:t>[2, 4]   </a:t>
            </a:r>
            <a:r>
              <a:rPr lang="en-US" sz="1400">
                <a:solidFill>
                  <a:schemeClr val="dk1"/>
                </a:solidFill>
              </a:rPr>
              <a:t>Elements can be skipped.</a:t>
            </a:r>
            <a:endParaRPr sz="1400">
              <a:solidFill>
                <a:schemeClr val="dk1"/>
              </a:solidFill>
            </a:endParaRPr>
          </a:p>
          <a:p>
            <a:pPr indent="0" lvl="0" marL="0" rtl="0" algn="l">
              <a:lnSpc>
                <a:spcPct val="150000"/>
              </a:lnSpc>
              <a:spcBef>
                <a:spcPts val="1200"/>
              </a:spcBef>
              <a:spcAft>
                <a:spcPts val="0"/>
              </a:spcAft>
              <a:buClr>
                <a:schemeClr val="dk1"/>
              </a:buClr>
              <a:buSzPts val="1100"/>
              <a:buFont typeface="Arial"/>
              <a:buNone/>
            </a:pPr>
            <a:r>
              <a:t/>
            </a:r>
            <a:endParaRPr sz="1400">
              <a:solidFill>
                <a:schemeClr val="dk1"/>
              </a:solidFill>
            </a:endParaRPr>
          </a:p>
          <a:p>
            <a:pPr indent="0" lvl="0" marL="0" rtl="0" algn="l">
              <a:lnSpc>
                <a:spcPct val="150000"/>
              </a:lnSpc>
              <a:spcBef>
                <a:spcPts val="1200"/>
              </a:spcBef>
              <a:spcAft>
                <a:spcPts val="0"/>
              </a:spcAft>
              <a:buNone/>
            </a:pPr>
            <a:r>
              <a:t/>
            </a:r>
            <a:endParaRPr sz="1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e27c63ab70_0_70"/>
          <p:cNvSpPr txBox="1"/>
          <p:nvPr>
            <p:ph type="title"/>
          </p:nvPr>
        </p:nvSpPr>
        <p:spPr>
          <a:xfrm>
            <a:off x="311700" y="445025"/>
            <a:ext cx="7476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8474F5"/>
                </a:solidFill>
              </a:rPr>
              <a:t>Variants of Maximum Product Subarray</a:t>
            </a:r>
            <a:endParaRPr b="1" sz="2000">
              <a:solidFill>
                <a:srgbClr val="8474F5"/>
              </a:solidFill>
            </a:endParaRPr>
          </a:p>
        </p:txBody>
      </p:sp>
      <p:sp>
        <p:nvSpPr>
          <p:cNvPr id="114" name="Google Shape;114;g3e27c63ab70_0_70"/>
          <p:cNvSpPr txBox="1"/>
          <p:nvPr>
            <p:ph idx="1" type="body"/>
          </p:nvPr>
        </p:nvSpPr>
        <p:spPr>
          <a:xfrm>
            <a:off x="458900" y="1152475"/>
            <a:ext cx="73836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None/>
            </a:pPr>
            <a:r>
              <a:rPr lang="en-US" sz="1400">
                <a:solidFill>
                  <a:schemeClr val="dk1"/>
                </a:solidFill>
              </a:rPr>
              <a:t>We have, </a:t>
            </a:r>
            <a:endParaRPr sz="1400">
              <a:solidFill>
                <a:schemeClr val="dk1"/>
              </a:solidFill>
            </a:endParaRPr>
          </a:p>
          <a:p>
            <a:pPr indent="-317500" lvl="0" marL="457200" rtl="0" algn="l">
              <a:spcBef>
                <a:spcPts val="1200"/>
              </a:spcBef>
              <a:spcAft>
                <a:spcPts val="0"/>
              </a:spcAft>
              <a:buClr>
                <a:schemeClr val="dk1"/>
              </a:buClr>
              <a:buSzPts val="1400"/>
              <a:buChar char="●"/>
            </a:pPr>
            <a:r>
              <a:rPr lang="en-US" sz="1400">
                <a:solidFill>
                  <a:schemeClr val="dk1"/>
                </a:solidFill>
              </a:rPr>
              <a:t>Maximum Product Subarray</a:t>
            </a:r>
            <a:endParaRPr sz="1400">
              <a:solidFill>
                <a:schemeClr val="dk1"/>
              </a:solidFill>
            </a:endParaRPr>
          </a:p>
          <a:p>
            <a:pPr indent="-317500" lvl="0" marL="457200" rtl="0" algn="l">
              <a:spcBef>
                <a:spcPts val="0"/>
              </a:spcBef>
              <a:spcAft>
                <a:spcPts val="0"/>
              </a:spcAft>
              <a:buClr>
                <a:schemeClr val="dk1"/>
              </a:buClr>
              <a:buSzPts val="1400"/>
              <a:buChar char="●"/>
            </a:pPr>
            <a:r>
              <a:rPr lang="en-US" sz="1400">
                <a:solidFill>
                  <a:schemeClr val="dk1"/>
                </a:solidFill>
              </a:rPr>
              <a:t>Maximum Sum Subarray</a:t>
            </a:r>
            <a:endParaRPr sz="1400">
              <a:solidFill>
                <a:schemeClr val="dk1"/>
              </a:solidFill>
            </a:endParaRPr>
          </a:p>
          <a:p>
            <a:pPr indent="0" lvl="0" marL="0" rtl="0" algn="l">
              <a:spcBef>
                <a:spcPts val="1200"/>
              </a:spcBef>
              <a:spcAft>
                <a:spcPts val="0"/>
              </a:spcAft>
              <a:buClr>
                <a:schemeClr val="dk1"/>
              </a:buClr>
              <a:buSzPts val="1100"/>
              <a:buFont typeface="Arial"/>
              <a:buNone/>
            </a:pPr>
            <a:r>
              <a:rPr lang="en-US" sz="1400">
                <a:solidFill>
                  <a:schemeClr val="dk1"/>
                </a:solidFill>
              </a:rPr>
              <a:t>Unlike Maximum Sum Subarray </a:t>
            </a:r>
            <a:r>
              <a:rPr b="1" lang="en-US" sz="1400">
                <a:solidFill>
                  <a:schemeClr val="dk1"/>
                </a:solidFill>
              </a:rPr>
              <a:t>(Kadane’s Algorithm)</a:t>
            </a:r>
            <a:r>
              <a:rPr lang="en-US" sz="1400">
                <a:solidFill>
                  <a:schemeClr val="dk1"/>
                </a:solidFill>
              </a:rPr>
              <a:t>, the Maximum product subarray is slightly tricky because:</a:t>
            </a:r>
            <a:endParaRPr sz="1400">
              <a:solidFill>
                <a:schemeClr val="dk1"/>
              </a:solidFill>
            </a:endParaRPr>
          </a:p>
          <a:p>
            <a:pPr indent="-317500" lvl="0" marL="457200" rtl="0" algn="l">
              <a:spcBef>
                <a:spcPts val="1200"/>
              </a:spcBef>
              <a:spcAft>
                <a:spcPts val="0"/>
              </a:spcAft>
              <a:buSzPts val="1400"/>
              <a:buFont typeface="Roboto"/>
              <a:buChar char="●"/>
            </a:pPr>
            <a:r>
              <a:rPr lang="en-US" sz="1400">
                <a:solidFill>
                  <a:schemeClr val="dk1"/>
                </a:solidFill>
              </a:rPr>
              <a:t>Negative numbers can turn a small product into a large product.</a:t>
            </a:r>
            <a:endParaRPr sz="1400">
              <a:solidFill>
                <a:schemeClr val="dk1"/>
              </a:solidFill>
            </a:endParaRPr>
          </a:p>
          <a:p>
            <a:pPr indent="-317500" lvl="0" marL="457200" rtl="0" algn="l">
              <a:spcBef>
                <a:spcPts val="0"/>
              </a:spcBef>
              <a:spcAft>
                <a:spcPts val="0"/>
              </a:spcAft>
              <a:buSzPts val="1400"/>
              <a:buFont typeface="Roboto"/>
              <a:buChar char="●"/>
            </a:pPr>
            <a:r>
              <a:rPr lang="en-US" sz="1400">
                <a:solidFill>
                  <a:schemeClr val="dk1"/>
                </a:solidFill>
              </a:rPr>
              <a:t>Zero can reset the product.</a:t>
            </a:r>
            <a:endParaRPr sz="1400">
              <a:solidFill>
                <a:schemeClr val="dk1"/>
              </a:solidFill>
            </a:endParaRPr>
          </a:p>
          <a:p>
            <a:pPr indent="-317500" lvl="0" marL="457200" rtl="0" algn="l">
              <a:spcBef>
                <a:spcPts val="0"/>
              </a:spcBef>
              <a:spcAft>
                <a:spcPts val="0"/>
              </a:spcAft>
              <a:buSzPts val="1400"/>
              <a:buFont typeface="Roboto"/>
              <a:buChar char="●"/>
            </a:pPr>
            <a:r>
              <a:rPr lang="en-US" sz="1400">
                <a:solidFill>
                  <a:schemeClr val="dk1"/>
                </a:solidFill>
              </a:rPr>
              <a:t>We must track both:</a:t>
            </a:r>
            <a:endParaRPr sz="1400">
              <a:solidFill>
                <a:schemeClr val="dk1"/>
              </a:solidFill>
            </a:endParaRPr>
          </a:p>
          <a:p>
            <a:pPr indent="-317500" lvl="1" marL="914400" rtl="0" algn="l">
              <a:spcBef>
                <a:spcPts val="0"/>
              </a:spcBef>
              <a:spcAft>
                <a:spcPts val="0"/>
              </a:spcAft>
              <a:buSzPts val="1400"/>
              <a:buFont typeface="Roboto"/>
              <a:buChar char="○"/>
            </a:pPr>
            <a:r>
              <a:rPr lang="en-US">
                <a:solidFill>
                  <a:schemeClr val="dk1"/>
                </a:solidFill>
                <a:latin typeface="Roboto"/>
                <a:ea typeface="Roboto"/>
                <a:cs typeface="Roboto"/>
                <a:sym typeface="Roboto"/>
              </a:rPr>
              <a:t>Maximum product till current index</a:t>
            </a:r>
            <a:endParaRPr>
              <a:solidFill>
                <a:schemeClr val="dk1"/>
              </a:solidFill>
              <a:latin typeface="Roboto"/>
              <a:ea typeface="Roboto"/>
              <a:cs typeface="Roboto"/>
              <a:sym typeface="Roboto"/>
            </a:endParaRPr>
          </a:p>
          <a:p>
            <a:pPr indent="-317500" lvl="1" marL="914400" rtl="0" algn="l">
              <a:spcBef>
                <a:spcPts val="0"/>
              </a:spcBef>
              <a:spcAft>
                <a:spcPts val="0"/>
              </a:spcAft>
              <a:buSzPts val="1400"/>
              <a:buFont typeface="Roboto"/>
              <a:buChar char="○"/>
            </a:pPr>
            <a:r>
              <a:rPr lang="en-US">
                <a:solidFill>
                  <a:schemeClr val="dk1"/>
                </a:solidFill>
                <a:latin typeface="Roboto"/>
                <a:ea typeface="Roboto"/>
                <a:cs typeface="Roboto"/>
                <a:sym typeface="Roboto"/>
              </a:rPr>
              <a:t>Minimum product till current index</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sz="1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e27c63ab70_0_64"/>
          <p:cNvSpPr txBox="1"/>
          <p:nvPr>
            <p:ph type="title"/>
          </p:nvPr>
        </p:nvSpPr>
        <p:spPr>
          <a:xfrm>
            <a:off x="311700" y="379775"/>
            <a:ext cx="74328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US" sz="2000">
                <a:solidFill>
                  <a:srgbClr val="8474F5"/>
                </a:solidFill>
              </a:rPr>
              <a:t>Maximum Product Subarray Problem</a:t>
            </a:r>
            <a:endParaRPr b="1" sz="2000">
              <a:solidFill>
                <a:srgbClr val="8474F5"/>
              </a:solidFill>
            </a:endParaRPr>
          </a:p>
          <a:p>
            <a:pPr indent="0" lvl="0" marL="0" rtl="0" algn="ctr">
              <a:spcBef>
                <a:spcPts val="600"/>
              </a:spcBef>
              <a:spcAft>
                <a:spcPts val="0"/>
              </a:spcAft>
              <a:buNone/>
            </a:pPr>
            <a:r>
              <a:t/>
            </a:r>
            <a:endParaRPr/>
          </a:p>
        </p:txBody>
      </p:sp>
      <p:sp>
        <p:nvSpPr>
          <p:cNvPr id="120" name="Google Shape;120;g3e27c63ab70_0_64"/>
          <p:cNvSpPr txBox="1"/>
          <p:nvPr>
            <p:ph idx="1" type="body"/>
          </p:nvPr>
        </p:nvSpPr>
        <p:spPr>
          <a:xfrm>
            <a:off x="311700" y="1021975"/>
            <a:ext cx="74328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1800"/>
              </a:spcBef>
              <a:spcAft>
                <a:spcPts val="0"/>
              </a:spcAft>
              <a:buNone/>
            </a:pPr>
            <a:r>
              <a:rPr b="1" lang="en-US" sz="1400">
                <a:solidFill>
                  <a:schemeClr val="dk1"/>
                </a:solidFill>
              </a:rPr>
              <a:t>Problem Statement</a:t>
            </a:r>
            <a:endParaRPr b="1" sz="1400">
              <a:solidFill>
                <a:schemeClr val="dk1"/>
              </a:solidFill>
            </a:endParaRPr>
          </a:p>
          <a:p>
            <a:pPr indent="0" lvl="0" marL="0" rtl="0" algn="l">
              <a:lnSpc>
                <a:spcPct val="100000"/>
              </a:lnSpc>
              <a:spcBef>
                <a:spcPts val="1200"/>
              </a:spcBef>
              <a:spcAft>
                <a:spcPts val="0"/>
              </a:spcAft>
              <a:buNone/>
            </a:pPr>
            <a:r>
              <a:rPr lang="en-US" sz="1400">
                <a:solidFill>
                  <a:schemeClr val="dk1"/>
                </a:solidFill>
              </a:rPr>
              <a:t>Given an integer array of size N, find the contiguous subarray having the maximum product and print the maximum product.</a:t>
            </a:r>
            <a:endParaRPr sz="1400">
              <a:solidFill>
                <a:schemeClr val="dk1"/>
              </a:solidFill>
            </a:endParaRPr>
          </a:p>
          <a:p>
            <a:pPr indent="0" lvl="0" marL="0" rtl="0" algn="l">
              <a:lnSpc>
                <a:spcPct val="100000"/>
              </a:lnSpc>
              <a:spcBef>
                <a:spcPts val="1200"/>
              </a:spcBef>
              <a:spcAft>
                <a:spcPts val="0"/>
              </a:spcAft>
              <a:buNone/>
            </a:pPr>
            <a:r>
              <a:rPr b="1" lang="en-US" sz="1400">
                <a:solidFill>
                  <a:schemeClr val="dk1"/>
                </a:solidFill>
              </a:rPr>
              <a:t>Input Format</a:t>
            </a:r>
            <a:endParaRPr b="1" sz="1400">
              <a:solidFill>
                <a:schemeClr val="dk1"/>
              </a:solidFill>
            </a:endParaRPr>
          </a:p>
          <a:p>
            <a:pPr indent="-317500" lvl="0" marL="457200" rtl="0" algn="l">
              <a:lnSpc>
                <a:spcPct val="100000"/>
              </a:lnSpc>
              <a:spcBef>
                <a:spcPts val="1200"/>
              </a:spcBef>
              <a:spcAft>
                <a:spcPts val="0"/>
              </a:spcAft>
              <a:buSzPts val="1400"/>
              <a:buChar char="●"/>
            </a:pPr>
            <a:r>
              <a:rPr lang="en-US" sz="1400">
                <a:solidFill>
                  <a:schemeClr val="dk1"/>
                </a:solidFill>
              </a:rPr>
              <a:t>The first line contains an integer N representing the size of the array.</a:t>
            </a:r>
            <a:endParaRPr sz="1400">
              <a:solidFill>
                <a:schemeClr val="dk1"/>
              </a:solidFill>
            </a:endParaRPr>
          </a:p>
          <a:p>
            <a:pPr indent="-317500" lvl="0" marL="457200" rtl="0" algn="l">
              <a:lnSpc>
                <a:spcPct val="100000"/>
              </a:lnSpc>
              <a:spcBef>
                <a:spcPts val="0"/>
              </a:spcBef>
              <a:spcAft>
                <a:spcPts val="0"/>
              </a:spcAft>
              <a:buSzPts val="1400"/>
              <a:buChar char="●"/>
            </a:pPr>
            <a:r>
              <a:rPr lang="en-US" sz="1400">
                <a:solidFill>
                  <a:schemeClr val="dk1"/>
                </a:solidFill>
              </a:rPr>
              <a:t>The second line contains N space-separated integer array elements.</a:t>
            </a:r>
            <a:endParaRPr sz="1400">
              <a:solidFill>
                <a:schemeClr val="dk1"/>
              </a:solidFill>
            </a:endParaRPr>
          </a:p>
          <a:p>
            <a:pPr indent="0" lvl="0" marL="0" rtl="0" algn="l">
              <a:lnSpc>
                <a:spcPct val="100000"/>
              </a:lnSpc>
              <a:spcBef>
                <a:spcPts val="2400"/>
              </a:spcBef>
              <a:spcAft>
                <a:spcPts val="0"/>
              </a:spcAft>
              <a:buNone/>
            </a:pPr>
            <a:r>
              <a:rPr b="1" lang="en-US" sz="1400">
                <a:solidFill>
                  <a:schemeClr val="dk1"/>
                </a:solidFill>
              </a:rPr>
              <a:t>Output Format</a:t>
            </a:r>
            <a:endParaRPr b="1" sz="1400">
              <a:solidFill>
                <a:schemeClr val="dk1"/>
              </a:solidFill>
            </a:endParaRPr>
          </a:p>
          <a:p>
            <a:pPr indent="-317500" lvl="0" marL="457200" rtl="0" algn="l">
              <a:lnSpc>
                <a:spcPct val="100000"/>
              </a:lnSpc>
              <a:spcBef>
                <a:spcPts val="1200"/>
              </a:spcBef>
              <a:spcAft>
                <a:spcPts val="0"/>
              </a:spcAft>
              <a:buSzPts val="1400"/>
              <a:buFont typeface="Roboto"/>
              <a:buChar char="●"/>
            </a:pPr>
            <a:r>
              <a:rPr lang="en-US" sz="1400">
                <a:solidFill>
                  <a:schemeClr val="dk1"/>
                </a:solidFill>
              </a:rPr>
              <a:t>Print the maximum product of the contiguous subarray.</a:t>
            </a:r>
            <a:endParaRPr sz="1400">
              <a:solidFill>
                <a:schemeClr val="dk1"/>
              </a:solidFill>
            </a:endParaRPr>
          </a:p>
          <a:p>
            <a:pPr indent="0" lvl="0" marL="0" rtl="0" algn="l">
              <a:lnSpc>
                <a:spcPct val="100000"/>
              </a:lnSpc>
              <a:spcBef>
                <a:spcPts val="1200"/>
              </a:spcBef>
              <a:spcAft>
                <a:spcPts val="0"/>
              </a:spcAft>
              <a:buNone/>
            </a:pPr>
            <a:r>
              <a:t/>
            </a:r>
            <a:endParaRPr sz="1400">
              <a:solidFill>
                <a:schemeClr val="dk1"/>
              </a:solidFill>
            </a:endParaRPr>
          </a:p>
          <a:p>
            <a:pPr indent="0" lvl="0" marL="0" rtl="0" algn="l">
              <a:lnSpc>
                <a:spcPct val="100000"/>
              </a:lnSpc>
              <a:spcBef>
                <a:spcPts val="1200"/>
              </a:spcBef>
              <a:spcAft>
                <a:spcPts val="0"/>
              </a:spcAft>
              <a:buNone/>
            </a:pPr>
            <a:r>
              <a:t/>
            </a:r>
            <a:endParaRPr sz="1400">
              <a:solidFill>
                <a:schemeClr val="dk1"/>
              </a:solidFill>
            </a:endParaRPr>
          </a:p>
          <a:p>
            <a:pPr indent="0" lvl="0" marL="0" rtl="0" algn="l">
              <a:lnSpc>
                <a:spcPct val="100000"/>
              </a:lnSpc>
              <a:spcBef>
                <a:spcPts val="1200"/>
              </a:spcBef>
              <a:spcAft>
                <a:spcPts val="0"/>
              </a:spcAft>
              <a:buNone/>
            </a:pPr>
            <a:r>
              <a:t/>
            </a:r>
            <a:endParaRPr sz="1400">
              <a:solidFill>
                <a:schemeClr val="dk1"/>
              </a:solidFill>
            </a:endParaRPr>
          </a:p>
          <a:p>
            <a:pPr indent="0" lvl="0" marL="0" rtl="0" algn="l">
              <a:lnSpc>
                <a:spcPct val="100000"/>
              </a:lnSpc>
              <a:spcBef>
                <a:spcPts val="1200"/>
              </a:spcBef>
              <a:spcAft>
                <a:spcPts val="0"/>
              </a:spcAft>
              <a:buNone/>
            </a:pPr>
            <a:r>
              <a:t/>
            </a:r>
            <a:endParaRPr sz="1400">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sz="1400">
              <a:solidFill>
                <a:schemeClr val="dk1"/>
              </a:solidFill>
            </a:endParaRPr>
          </a:p>
          <a:p>
            <a:pPr indent="0" lvl="0" marL="0" rtl="0" algn="l">
              <a:lnSpc>
                <a:spcPct val="100000"/>
              </a:lnSpc>
              <a:spcBef>
                <a:spcPts val="1200"/>
              </a:spcBef>
              <a:spcAft>
                <a:spcPts val="0"/>
              </a:spcAft>
              <a:buNone/>
            </a:pPr>
            <a:r>
              <a:t/>
            </a:r>
            <a:endParaRPr sz="1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e27c63ab70_0_80"/>
          <p:cNvSpPr txBox="1"/>
          <p:nvPr>
            <p:ph type="title"/>
          </p:nvPr>
        </p:nvSpPr>
        <p:spPr>
          <a:xfrm>
            <a:off x="311700" y="445025"/>
            <a:ext cx="73863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600"/>
              </a:spcAft>
              <a:buClr>
                <a:schemeClr val="dk1"/>
              </a:buClr>
              <a:buSzPts val="1100"/>
              <a:buFont typeface="Arial"/>
              <a:buNone/>
            </a:pPr>
            <a:r>
              <a:rPr b="1" lang="en-US" sz="2000">
                <a:solidFill>
                  <a:srgbClr val="8474F5"/>
                </a:solidFill>
              </a:rPr>
              <a:t>Maximum Product Subarray Problem</a:t>
            </a:r>
            <a:endParaRPr/>
          </a:p>
        </p:txBody>
      </p:sp>
      <p:sp>
        <p:nvSpPr>
          <p:cNvPr id="126" name="Google Shape;126;g3e27c63ab70_0_80"/>
          <p:cNvSpPr txBox="1"/>
          <p:nvPr>
            <p:ph idx="1" type="body"/>
          </p:nvPr>
        </p:nvSpPr>
        <p:spPr>
          <a:xfrm>
            <a:off x="435125" y="1082375"/>
            <a:ext cx="7317000" cy="36261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200000"/>
              </a:lnSpc>
              <a:spcBef>
                <a:spcPts val="2400"/>
              </a:spcBef>
              <a:spcAft>
                <a:spcPts val="0"/>
              </a:spcAft>
              <a:buClr>
                <a:schemeClr val="dk1"/>
              </a:buClr>
              <a:buSzPts val="1100"/>
              <a:buFont typeface="Arial"/>
              <a:buNone/>
            </a:pPr>
            <a:r>
              <a:rPr b="1" lang="en-US" sz="1400">
                <a:solidFill>
                  <a:schemeClr val="dk1"/>
                </a:solidFill>
              </a:rPr>
              <a:t>Sample Input 1</a:t>
            </a:r>
            <a:endParaRPr b="1" sz="1400">
              <a:solidFill>
                <a:schemeClr val="dk1"/>
              </a:solidFill>
            </a:endParaRPr>
          </a:p>
          <a:p>
            <a:pPr indent="0" lvl="0" marL="0" rtl="0" algn="l">
              <a:lnSpc>
                <a:spcPct val="200000"/>
              </a:lnSpc>
              <a:spcBef>
                <a:spcPts val="600"/>
              </a:spcBef>
              <a:spcAft>
                <a:spcPts val="0"/>
              </a:spcAft>
              <a:buClr>
                <a:schemeClr val="dk1"/>
              </a:buClr>
              <a:buSzPts val="1100"/>
              <a:buFont typeface="Arial"/>
              <a:buNone/>
            </a:pPr>
            <a:r>
              <a:rPr lang="en-US" sz="1400">
                <a:solidFill>
                  <a:schemeClr val="dk1"/>
                </a:solidFill>
              </a:rPr>
              <a:t>3</a:t>
            </a:r>
            <a:endParaRPr sz="1400">
              <a:solidFill>
                <a:schemeClr val="dk1"/>
              </a:solidFill>
            </a:endParaRPr>
          </a:p>
          <a:p>
            <a:pPr indent="0" lvl="0" marL="0" rtl="0" algn="l">
              <a:lnSpc>
                <a:spcPct val="200000"/>
              </a:lnSpc>
              <a:spcBef>
                <a:spcPts val="0"/>
              </a:spcBef>
              <a:spcAft>
                <a:spcPts val="0"/>
              </a:spcAft>
              <a:buNone/>
            </a:pPr>
            <a:r>
              <a:rPr lang="en-US" sz="1400">
                <a:solidFill>
                  <a:schemeClr val="dk1"/>
                </a:solidFill>
              </a:rPr>
              <a:t>-2 3 -4</a:t>
            </a:r>
            <a:endParaRPr sz="14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400">
                <a:solidFill>
                  <a:schemeClr val="dk1"/>
                </a:solidFill>
              </a:rPr>
              <a:t>Sample Output 1</a:t>
            </a:r>
            <a:endParaRPr b="1" sz="1400">
              <a:solidFill>
                <a:schemeClr val="dk1"/>
              </a:solidFill>
            </a:endParaRPr>
          </a:p>
          <a:p>
            <a:pPr indent="0" lvl="0" marL="0" rtl="0" algn="l">
              <a:lnSpc>
                <a:spcPct val="200000"/>
              </a:lnSpc>
              <a:spcBef>
                <a:spcPts val="0"/>
              </a:spcBef>
              <a:spcAft>
                <a:spcPts val="0"/>
              </a:spcAft>
              <a:buNone/>
            </a:pPr>
            <a:r>
              <a:rPr lang="en-US" sz="1400">
                <a:solidFill>
                  <a:schemeClr val="dk1"/>
                </a:solidFill>
              </a:rPr>
              <a:t>24</a:t>
            </a:r>
            <a:endParaRPr sz="1400">
              <a:solidFill>
                <a:schemeClr val="dk1"/>
              </a:solidFill>
            </a:endParaRPr>
          </a:p>
          <a:p>
            <a:pPr indent="0" lvl="0" marL="0" rtl="0" algn="l">
              <a:lnSpc>
                <a:spcPct val="200000"/>
              </a:lnSpc>
              <a:spcBef>
                <a:spcPts val="0"/>
              </a:spcBef>
              <a:spcAft>
                <a:spcPts val="0"/>
              </a:spcAft>
              <a:buNone/>
            </a:pPr>
            <a:r>
              <a:rPr b="1" lang="en-US" sz="1400">
                <a:solidFill>
                  <a:schemeClr val="dk1"/>
                </a:solidFill>
              </a:rPr>
              <a:t>Explanation</a:t>
            </a:r>
            <a:endParaRPr b="1" sz="1400">
              <a:solidFill>
                <a:schemeClr val="dk1"/>
              </a:solidFill>
            </a:endParaRPr>
          </a:p>
          <a:p>
            <a:pPr indent="0" lvl="0" marL="0" rtl="0" algn="l">
              <a:lnSpc>
                <a:spcPct val="200000"/>
              </a:lnSpc>
              <a:spcBef>
                <a:spcPts val="0"/>
              </a:spcBef>
              <a:spcAft>
                <a:spcPts val="0"/>
              </a:spcAft>
              <a:buNone/>
            </a:pPr>
            <a:r>
              <a:rPr lang="en-US" sz="1400">
                <a:solidFill>
                  <a:schemeClr val="dk1"/>
                </a:solidFill>
              </a:rPr>
              <a:t>The subarray:  [-2, 3, -4] gives:</a:t>
            </a:r>
            <a:endParaRPr sz="1400">
              <a:solidFill>
                <a:schemeClr val="dk1"/>
              </a:solidFill>
            </a:endParaRPr>
          </a:p>
          <a:p>
            <a:pPr indent="0" lvl="0" marL="0" rtl="0" algn="l">
              <a:lnSpc>
                <a:spcPct val="200000"/>
              </a:lnSpc>
              <a:spcBef>
                <a:spcPts val="0"/>
              </a:spcBef>
              <a:spcAft>
                <a:spcPts val="0"/>
              </a:spcAft>
              <a:buNone/>
            </a:pPr>
            <a:r>
              <a:rPr lang="en-US" sz="1400">
                <a:solidFill>
                  <a:schemeClr val="dk1"/>
                </a:solidFill>
              </a:rPr>
              <a:t>(-2) × 3 × (-4) = 24</a:t>
            </a:r>
            <a:endParaRPr sz="1400">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sz="1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e27c63ab70_0_31"/>
          <p:cNvSpPr txBox="1"/>
          <p:nvPr>
            <p:ph type="title"/>
          </p:nvPr>
        </p:nvSpPr>
        <p:spPr>
          <a:xfrm>
            <a:off x="480650" y="445025"/>
            <a:ext cx="7209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US" sz="2000">
                <a:solidFill>
                  <a:srgbClr val="8474F5"/>
                </a:solidFill>
              </a:rPr>
              <a:t>Examples of Maximum Product Subarray</a:t>
            </a:r>
            <a:endParaRPr b="1" sz="2000">
              <a:solidFill>
                <a:srgbClr val="8474F5"/>
              </a:solidFill>
            </a:endParaRPr>
          </a:p>
        </p:txBody>
      </p:sp>
      <p:sp>
        <p:nvSpPr>
          <p:cNvPr id="132" name="Google Shape;132;g3e27c63ab70_0_31"/>
          <p:cNvSpPr txBox="1"/>
          <p:nvPr>
            <p:ph idx="1" type="body"/>
          </p:nvPr>
        </p:nvSpPr>
        <p:spPr>
          <a:xfrm>
            <a:off x="480650" y="1152475"/>
            <a:ext cx="35667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25000" lnSpcReduction="20000"/>
          </a:bodyPr>
          <a:lstStyle/>
          <a:p>
            <a:pPr indent="0" lvl="0" marL="0" rtl="0" algn="l">
              <a:spcBef>
                <a:spcPts val="1800"/>
              </a:spcBef>
              <a:spcAft>
                <a:spcPts val="0"/>
              </a:spcAft>
              <a:buNone/>
            </a:pPr>
            <a:r>
              <a:rPr b="1" lang="en-US" sz="5600">
                <a:solidFill>
                  <a:schemeClr val="dk1"/>
                </a:solidFill>
              </a:rPr>
              <a:t>1. Basic Positive Numbers</a:t>
            </a:r>
            <a:endParaRPr b="1" sz="5600">
              <a:solidFill>
                <a:schemeClr val="dk1"/>
              </a:solidFill>
            </a:endParaRPr>
          </a:p>
          <a:p>
            <a:pPr indent="0" lvl="0" marL="0" rtl="0" algn="l">
              <a:spcBef>
                <a:spcPts val="1400"/>
              </a:spcBef>
              <a:spcAft>
                <a:spcPts val="0"/>
              </a:spcAft>
              <a:buNone/>
            </a:pPr>
            <a:r>
              <a:rPr b="1" lang="en-US" sz="5600">
                <a:solidFill>
                  <a:schemeClr val="dk1"/>
                </a:solidFill>
              </a:rPr>
              <a:t>Input</a:t>
            </a:r>
            <a:endParaRPr b="1" sz="5600">
              <a:solidFill>
                <a:schemeClr val="dk1"/>
              </a:solidFill>
            </a:endParaRPr>
          </a:p>
          <a:p>
            <a:pPr indent="0" lvl="0" marL="0" rtl="0" algn="l">
              <a:spcBef>
                <a:spcPts val="400"/>
              </a:spcBef>
              <a:spcAft>
                <a:spcPts val="0"/>
              </a:spcAft>
              <a:buNone/>
            </a:pPr>
            <a:r>
              <a:rPr lang="en-US" sz="5600">
                <a:solidFill>
                  <a:schemeClr val="dk1"/>
                </a:solidFill>
              </a:rPr>
              <a:t>[1, 2, 3, 4]</a:t>
            </a:r>
            <a:endParaRPr sz="5600">
              <a:solidFill>
                <a:schemeClr val="dk1"/>
              </a:solidFill>
            </a:endParaRPr>
          </a:p>
          <a:p>
            <a:pPr indent="0" lvl="0" marL="0" rtl="0" algn="l">
              <a:spcBef>
                <a:spcPts val="1400"/>
              </a:spcBef>
              <a:spcAft>
                <a:spcPts val="0"/>
              </a:spcAft>
              <a:buNone/>
            </a:pPr>
            <a:r>
              <a:rPr b="1" lang="en-US" sz="5600">
                <a:solidFill>
                  <a:schemeClr val="dk1"/>
                </a:solidFill>
              </a:rPr>
              <a:t>Maximum Product Subarray</a:t>
            </a:r>
            <a:endParaRPr b="1" sz="5600">
              <a:solidFill>
                <a:schemeClr val="dk1"/>
              </a:solidFill>
            </a:endParaRPr>
          </a:p>
          <a:p>
            <a:pPr indent="0" lvl="0" marL="0" rtl="0" algn="l">
              <a:spcBef>
                <a:spcPts val="400"/>
              </a:spcBef>
              <a:spcAft>
                <a:spcPts val="0"/>
              </a:spcAft>
              <a:buNone/>
            </a:pPr>
            <a:r>
              <a:rPr lang="en-US" sz="5600">
                <a:solidFill>
                  <a:schemeClr val="dk1"/>
                </a:solidFill>
              </a:rPr>
              <a:t>[1, 2, 3, 4]</a:t>
            </a:r>
            <a:endParaRPr sz="5600">
              <a:solidFill>
                <a:schemeClr val="dk1"/>
              </a:solidFill>
            </a:endParaRPr>
          </a:p>
          <a:p>
            <a:pPr indent="0" lvl="0" marL="0" rtl="0" algn="l">
              <a:spcBef>
                <a:spcPts val="1400"/>
              </a:spcBef>
              <a:spcAft>
                <a:spcPts val="0"/>
              </a:spcAft>
              <a:buNone/>
            </a:pPr>
            <a:r>
              <a:rPr b="1" lang="en-US" sz="5600">
                <a:solidFill>
                  <a:schemeClr val="dk1"/>
                </a:solidFill>
              </a:rPr>
              <a:t>Output</a:t>
            </a:r>
            <a:endParaRPr b="1" sz="5600">
              <a:solidFill>
                <a:schemeClr val="dk1"/>
              </a:solidFill>
            </a:endParaRPr>
          </a:p>
          <a:p>
            <a:pPr indent="0" lvl="0" marL="0" rtl="0" algn="l">
              <a:spcBef>
                <a:spcPts val="400"/>
              </a:spcBef>
              <a:spcAft>
                <a:spcPts val="0"/>
              </a:spcAft>
              <a:buNone/>
            </a:pPr>
            <a:r>
              <a:rPr lang="en-US" sz="5600">
                <a:solidFill>
                  <a:schemeClr val="dk1"/>
                </a:solidFill>
              </a:rPr>
              <a:t>24</a:t>
            </a:r>
            <a:endParaRPr sz="5600">
              <a:solidFill>
                <a:schemeClr val="dk1"/>
              </a:solidFill>
            </a:endParaRPr>
          </a:p>
          <a:p>
            <a:pPr indent="0" lvl="0" marL="0" rtl="0" algn="l">
              <a:spcBef>
                <a:spcPts val="1400"/>
              </a:spcBef>
              <a:spcAft>
                <a:spcPts val="0"/>
              </a:spcAft>
              <a:buNone/>
            </a:pPr>
            <a:r>
              <a:rPr b="1" lang="en-US" sz="5600">
                <a:solidFill>
                  <a:schemeClr val="dk1"/>
                </a:solidFill>
              </a:rPr>
              <a:t>Explanation</a:t>
            </a:r>
            <a:endParaRPr b="1" sz="5600">
              <a:solidFill>
                <a:schemeClr val="dk1"/>
              </a:solidFill>
            </a:endParaRPr>
          </a:p>
          <a:p>
            <a:pPr indent="0" lvl="0" marL="0" rtl="0" algn="l">
              <a:spcBef>
                <a:spcPts val="1200"/>
              </a:spcBef>
              <a:spcAft>
                <a:spcPts val="0"/>
              </a:spcAft>
              <a:buClr>
                <a:schemeClr val="dk1"/>
              </a:buClr>
              <a:buSzPts val="275"/>
              <a:buFont typeface="Arial"/>
              <a:buNone/>
            </a:pPr>
            <a:r>
              <a:rPr lang="en-US" sz="5600">
                <a:solidFill>
                  <a:schemeClr val="dk1"/>
                </a:solidFill>
              </a:rPr>
              <a:t>All numbers are positive, so multiplying all elements gives the maximum product.</a:t>
            </a:r>
            <a:endParaRPr sz="5600">
              <a:solidFill>
                <a:schemeClr val="dk1"/>
              </a:solidFill>
            </a:endParaRPr>
          </a:p>
          <a:p>
            <a:pPr indent="0" lvl="0" marL="0" rtl="0" algn="l">
              <a:spcBef>
                <a:spcPts val="1200"/>
              </a:spcBef>
              <a:spcAft>
                <a:spcPts val="0"/>
              </a:spcAft>
              <a:buNone/>
            </a:pPr>
            <a:r>
              <a:t/>
            </a:r>
            <a:endParaRPr sz="1400"/>
          </a:p>
        </p:txBody>
      </p:sp>
      <p:sp>
        <p:nvSpPr>
          <p:cNvPr id="133" name="Google Shape;133;g3e27c63ab70_0_31"/>
          <p:cNvSpPr txBox="1"/>
          <p:nvPr>
            <p:ph idx="2" type="body"/>
          </p:nvPr>
        </p:nvSpPr>
        <p:spPr>
          <a:xfrm>
            <a:off x="4047350" y="1152475"/>
            <a:ext cx="36864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2400"/>
              </a:spcBef>
              <a:spcAft>
                <a:spcPts val="0"/>
              </a:spcAft>
              <a:buClr>
                <a:schemeClr val="dk1"/>
              </a:buClr>
              <a:buSzPts val="1100"/>
              <a:buFont typeface="Arial"/>
              <a:buNone/>
            </a:pPr>
            <a:r>
              <a:rPr b="1" lang="en-US">
                <a:solidFill>
                  <a:schemeClr val="dk1"/>
                </a:solidFill>
              </a:rPr>
              <a:t>2. Contains Negative Numbers</a:t>
            </a:r>
            <a:endParaRPr b="1">
              <a:solidFill>
                <a:schemeClr val="dk1"/>
              </a:solidFill>
            </a:endParaRPr>
          </a:p>
          <a:p>
            <a:pPr indent="0" lvl="0" marL="0" rtl="0" algn="l">
              <a:lnSpc>
                <a:spcPct val="100000"/>
              </a:lnSpc>
              <a:spcBef>
                <a:spcPts val="1400"/>
              </a:spcBef>
              <a:spcAft>
                <a:spcPts val="0"/>
              </a:spcAft>
              <a:buClr>
                <a:schemeClr val="dk1"/>
              </a:buClr>
              <a:buSzPts val="1100"/>
              <a:buFont typeface="Arial"/>
              <a:buNone/>
            </a:pPr>
            <a:r>
              <a:rPr b="1" lang="en-US">
                <a:solidFill>
                  <a:schemeClr val="dk1"/>
                </a:solidFill>
              </a:rPr>
              <a:t>Input</a:t>
            </a:r>
            <a:endParaRPr b="1">
              <a:solidFill>
                <a:schemeClr val="dk1"/>
              </a:solidFill>
            </a:endParaRPr>
          </a:p>
          <a:p>
            <a:pPr indent="0" lvl="0" marL="0" rtl="0" algn="l">
              <a:lnSpc>
                <a:spcPct val="100000"/>
              </a:lnSpc>
              <a:spcBef>
                <a:spcPts val="400"/>
              </a:spcBef>
              <a:spcAft>
                <a:spcPts val="0"/>
              </a:spcAft>
              <a:buClr>
                <a:schemeClr val="dk1"/>
              </a:buClr>
              <a:buSzPts val="1100"/>
              <a:buFont typeface="Arial"/>
              <a:buNone/>
            </a:pPr>
            <a:r>
              <a:rPr lang="en-US">
                <a:solidFill>
                  <a:schemeClr val="dk1"/>
                </a:solidFill>
              </a:rPr>
              <a:t>[2, 3, -2, 4]</a:t>
            </a:r>
            <a:endParaRPr>
              <a:solidFill>
                <a:schemeClr val="dk1"/>
              </a:solidFill>
            </a:endParaRPr>
          </a:p>
          <a:p>
            <a:pPr indent="0" lvl="0" marL="0" rtl="0" algn="l">
              <a:lnSpc>
                <a:spcPct val="100000"/>
              </a:lnSpc>
              <a:spcBef>
                <a:spcPts val="1400"/>
              </a:spcBef>
              <a:spcAft>
                <a:spcPts val="0"/>
              </a:spcAft>
              <a:buClr>
                <a:schemeClr val="dk1"/>
              </a:buClr>
              <a:buSzPts val="1100"/>
              <a:buFont typeface="Arial"/>
              <a:buNone/>
            </a:pPr>
            <a:r>
              <a:rPr b="1" lang="en-US">
                <a:solidFill>
                  <a:schemeClr val="dk1"/>
                </a:solidFill>
              </a:rPr>
              <a:t>Maximum Product Subarray</a:t>
            </a:r>
            <a:endParaRPr b="1">
              <a:solidFill>
                <a:schemeClr val="dk1"/>
              </a:solidFill>
            </a:endParaRPr>
          </a:p>
          <a:p>
            <a:pPr indent="0" lvl="0" marL="0" rtl="0" algn="l">
              <a:lnSpc>
                <a:spcPct val="100000"/>
              </a:lnSpc>
              <a:spcBef>
                <a:spcPts val="400"/>
              </a:spcBef>
              <a:spcAft>
                <a:spcPts val="0"/>
              </a:spcAft>
              <a:buClr>
                <a:schemeClr val="dk1"/>
              </a:buClr>
              <a:buSzPts val="1100"/>
              <a:buFont typeface="Arial"/>
              <a:buNone/>
            </a:pPr>
            <a:r>
              <a:rPr lang="en-US">
                <a:solidFill>
                  <a:schemeClr val="dk1"/>
                </a:solidFill>
              </a:rPr>
              <a:t>[2, 3]</a:t>
            </a:r>
            <a:endParaRPr>
              <a:solidFill>
                <a:schemeClr val="dk1"/>
              </a:solidFill>
            </a:endParaRPr>
          </a:p>
          <a:p>
            <a:pPr indent="0" lvl="0" marL="0" rtl="0" algn="l">
              <a:lnSpc>
                <a:spcPct val="100000"/>
              </a:lnSpc>
              <a:spcBef>
                <a:spcPts val="1400"/>
              </a:spcBef>
              <a:spcAft>
                <a:spcPts val="0"/>
              </a:spcAft>
              <a:buClr>
                <a:schemeClr val="dk1"/>
              </a:buClr>
              <a:buSzPts val="1100"/>
              <a:buFont typeface="Arial"/>
              <a:buNone/>
            </a:pPr>
            <a:r>
              <a:rPr b="1" lang="en-US">
                <a:solidFill>
                  <a:schemeClr val="dk1"/>
                </a:solidFill>
              </a:rPr>
              <a:t>Output</a:t>
            </a:r>
            <a:endParaRPr b="1">
              <a:solidFill>
                <a:schemeClr val="dk1"/>
              </a:solidFill>
            </a:endParaRPr>
          </a:p>
          <a:p>
            <a:pPr indent="0" lvl="0" marL="0" rtl="0" algn="l">
              <a:lnSpc>
                <a:spcPct val="100000"/>
              </a:lnSpc>
              <a:spcBef>
                <a:spcPts val="400"/>
              </a:spcBef>
              <a:spcAft>
                <a:spcPts val="0"/>
              </a:spcAft>
              <a:buClr>
                <a:schemeClr val="dk1"/>
              </a:buClr>
              <a:buSzPts val="1100"/>
              <a:buFont typeface="Arial"/>
              <a:buNone/>
            </a:pPr>
            <a:r>
              <a:rPr lang="en-US">
                <a:solidFill>
                  <a:schemeClr val="dk1"/>
                </a:solidFill>
              </a:rPr>
              <a:t>6</a:t>
            </a:r>
            <a:endParaRPr>
              <a:solidFill>
                <a:schemeClr val="dk1"/>
              </a:solidFill>
            </a:endParaRPr>
          </a:p>
          <a:p>
            <a:pPr indent="0" lvl="0" marL="0" rtl="0" algn="l">
              <a:lnSpc>
                <a:spcPct val="100000"/>
              </a:lnSpc>
              <a:spcBef>
                <a:spcPts val="1400"/>
              </a:spcBef>
              <a:spcAft>
                <a:spcPts val="0"/>
              </a:spcAft>
              <a:buClr>
                <a:schemeClr val="dk1"/>
              </a:buClr>
              <a:buSzPts val="1100"/>
              <a:buFont typeface="Arial"/>
              <a:buNone/>
            </a:pPr>
            <a:r>
              <a:rPr b="1" lang="en-US">
                <a:solidFill>
                  <a:schemeClr val="dk1"/>
                </a:solidFill>
              </a:rPr>
              <a:t>Explanation</a:t>
            </a:r>
            <a:endParaRPr b="1">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US">
                <a:solidFill>
                  <a:schemeClr val="dk1"/>
                </a:solidFill>
              </a:rPr>
              <a:t>Including -2 reduces the product, so [2,3] gives the maximum product.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e27c63ab70_0_39"/>
          <p:cNvSpPr txBox="1"/>
          <p:nvPr>
            <p:ph type="title"/>
          </p:nvPr>
        </p:nvSpPr>
        <p:spPr>
          <a:xfrm>
            <a:off x="311700" y="445025"/>
            <a:ext cx="7498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US" sz="2000">
                <a:solidFill>
                  <a:srgbClr val="8474F5"/>
                </a:solidFill>
              </a:rPr>
              <a:t>Examples of Maximum Product Subarray</a:t>
            </a:r>
            <a:endParaRPr/>
          </a:p>
        </p:txBody>
      </p:sp>
      <p:sp>
        <p:nvSpPr>
          <p:cNvPr id="139" name="Google Shape;139;g3e27c63ab70_0_39"/>
          <p:cNvSpPr txBox="1"/>
          <p:nvPr>
            <p:ph idx="1" type="body"/>
          </p:nvPr>
        </p:nvSpPr>
        <p:spPr>
          <a:xfrm>
            <a:off x="371900" y="1152475"/>
            <a:ext cx="3653700" cy="3625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US">
                <a:solidFill>
                  <a:schemeClr val="dk1"/>
                </a:solidFill>
              </a:rPr>
              <a:t>3. Two Negative Numbers Become Positive</a:t>
            </a:r>
            <a:endParaRPr b="1">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rPr>
              <a:t>Input</a:t>
            </a:r>
            <a:endParaRPr b="1">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US">
                <a:solidFill>
                  <a:schemeClr val="dk1"/>
                </a:solidFill>
              </a:rPr>
              <a:t>[-2, 3, -4]</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rPr>
              <a:t>Maximum Product Subarray</a:t>
            </a:r>
            <a:endParaRPr b="1">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US">
                <a:solidFill>
                  <a:schemeClr val="dk1"/>
                </a:solidFill>
              </a:rPr>
              <a:t>[-2, 3, -4]</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rPr>
              <a:t>Output</a:t>
            </a:r>
            <a:endParaRPr b="1">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US">
                <a:solidFill>
                  <a:schemeClr val="dk1"/>
                </a:solidFill>
              </a:rPr>
              <a:t>24</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rPr>
              <a:t>Explanation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Negative × Negative = Positive</a:t>
            </a:r>
            <a:br>
              <a:rPr lang="en-US">
                <a:solidFill>
                  <a:schemeClr val="dk1"/>
                </a:solidFill>
              </a:rPr>
            </a:br>
            <a:r>
              <a:rPr lang="en-US">
                <a:solidFill>
                  <a:schemeClr val="dk1"/>
                </a:solidFill>
              </a:rPr>
              <a:t> (-2) × 3 × (-4) = 24</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p:txBody>
      </p:sp>
      <p:sp>
        <p:nvSpPr>
          <p:cNvPr id="140" name="Google Shape;140;g3e27c63ab70_0_39"/>
          <p:cNvSpPr txBox="1"/>
          <p:nvPr>
            <p:ph idx="2" type="body"/>
          </p:nvPr>
        </p:nvSpPr>
        <p:spPr>
          <a:xfrm>
            <a:off x="4025600" y="1152475"/>
            <a:ext cx="3740700" cy="3625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2400"/>
              </a:spcBef>
              <a:spcAft>
                <a:spcPts val="0"/>
              </a:spcAft>
              <a:buClr>
                <a:schemeClr val="dk1"/>
              </a:buClr>
              <a:buSzPts val="1100"/>
              <a:buFont typeface="Arial"/>
              <a:buNone/>
            </a:pPr>
            <a:r>
              <a:rPr b="1" lang="en-US">
                <a:solidFill>
                  <a:schemeClr val="dk1"/>
                </a:solidFill>
              </a:rPr>
              <a:t>4. Array Contains Zero</a:t>
            </a:r>
            <a:endParaRPr b="1">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Input</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[0, 2, -1, 4, 0, 5]</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Maximum Product Subarray</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[5]</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Output</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5</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Explanation</a:t>
            </a:r>
            <a:endParaRPr b="1">
              <a:solidFill>
                <a:schemeClr val="dk1"/>
              </a:solidFill>
            </a:endParaRPr>
          </a:p>
          <a:p>
            <a:pPr indent="0" lvl="0" marL="0" rtl="0" algn="l">
              <a:spcBef>
                <a:spcPts val="1200"/>
              </a:spcBef>
              <a:spcAft>
                <a:spcPts val="0"/>
              </a:spcAft>
              <a:buClr>
                <a:schemeClr val="dk1"/>
              </a:buClr>
              <a:buSzPts val="1100"/>
              <a:buFont typeface="Arial"/>
              <a:buNone/>
            </a:pPr>
            <a:r>
              <a:rPr lang="en-US">
                <a:solidFill>
                  <a:schemeClr val="dk1"/>
                </a:solidFill>
              </a:rPr>
              <a:t>Zero resets the product calculation.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e27c63ab70_0_47"/>
          <p:cNvSpPr txBox="1"/>
          <p:nvPr>
            <p:ph type="title"/>
          </p:nvPr>
        </p:nvSpPr>
        <p:spPr>
          <a:xfrm>
            <a:off x="268200" y="368900"/>
            <a:ext cx="7443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US" sz="2000">
                <a:solidFill>
                  <a:srgbClr val="8474F5"/>
                </a:solidFill>
              </a:rPr>
              <a:t>Examples of Maximum Product Subarray</a:t>
            </a:r>
            <a:endParaRPr/>
          </a:p>
        </p:txBody>
      </p:sp>
      <p:sp>
        <p:nvSpPr>
          <p:cNvPr id="146" name="Google Shape;146;g3e27c63ab70_0_47"/>
          <p:cNvSpPr txBox="1"/>
          <p:nvPr>
            <p:ph idx="1" type="body"/>
          </p:nvPr>
        </p:nvSpPr>
        <p:spPr>
          <a:xfrm>
            <a:off x="311700" y="1032850"/>
            <a:ext cx="3583500" cy="36801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2400"/>
              </a:spcBef>
              <a:spcAft>
                <a:spcPts val="0"/>
              </a:spcAft>
              <a:buClr>
                <a:schemeClr val="dk1"/>
              </a:buClr>
              <a:buSzPts val="1100"/>
              <a:buFont typeface="Arial"/>
              <a:buNone/>
            </a:pPr>
            <a:r>
              <a:rPr b="1" lang="en-US">
                <a:solidFill>
                  <a:schemeClr val="dk1"/>
                </a:solidFill>
              </a:rPr>
              <a:t>5. Single Element Array</a:t>
            </a:r>
            <a:endParaRPr b="1">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Input</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[-5]</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Output</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-5</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Explanation</a:t>
            </a:r>
            <a:endParaRPr b="1">
              <a:solidFill>
                <a:schemeClr val="dk1"/>
              </a:solidFill>
            </a:endParaRPr>
          </a:p>
          <a:p>
            <a:pPr indent="0" lvl="0" marL="0" rtl="0" algn="l">
              <a:spcBef>
                <a:spcPts val="1200"/>
              </a:spcBef>
              <a:spcAft>
                <a:spcPts val="0"/>
              </a:spcAft>
              <a:buClr>
                <a:schemeClr val="dk1"/>
              </a:buClr>
              <a:buSzPts val="1100"/>
              <a:buFont typeface="Arial"/>
              <a:buNone/>
            </a:pPr>
            <a:r>
              <a:rPr lang="en-US">
                <a:solidFill>
                  <a:schemeClr val="dk1"/>
                </a:solidFill>
              </a:rPr>
              <a:t>Only one element exists, so it becomes the answer.</a:t>
            </a:r>
            <a:endParaRPr>
              <a:solidFill>
                <a:schemeClr val="dk1"/>
              </a:solidFill>
            </a:endParaRPr>
          </a:p>
          <a:p>
            <a:pPr indent="0" lvl="0" marL="0" rtl="0" algn="l">
              <a:spcBef>
                <a:spcPts val="1200"/>
              </a:spcBef>
              <a:spcAft>
                <a:spcPts val="0"/>
              </a:spcAft>
              <a:buNone/>
            </a:pPr>
            <a:r>
              <a:t/>
            </a:r>
            <a:endParaRPr/>
          </a:p>
        </p:txBody>
      </p:sp>
      <p:sp>
        <p:nvSpPr>
          <p:cNvPr id="147" name="Google Shape;147;g3e27c63ab70_0_47"/>
          <p:cNvSpPr txBox="1"/>
          <p:nvPr>
            <p:ph idx="2" type="body"/>
          </p:nvPr>
        </p:nvSpPr>
        <p:spPr>
          <a:xfrm>
            <a:off x="3895200" y="1032850"/>
            <a:ext cx="3860400" cy="36801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2400"/>
              </a:spcBef>
              <a:spcAft>
                <a:spcPts val="0"/>
              </a:spcAft>
              <a:buClr>
                <a:schemeClr val="dk1"/>
              </a:buClr>
              <a:buSzPts val="1100"/>
              <a:buFont typeface="Arial"/>
              <a:buNone/>
            </a:pPr>
            <a:r>
              <a:rPr b="1" lang="en-US">
                <a:solidFill>
                  <a:schemeClr val="dk1"/>
                </a:solidFill>
              </a:rPr>
              <a:t>6. All Negative Numbers (Even Count)</a:t>
            </a:r>
            <a:endParaRPr b="1">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Input</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[-1, -2, -3, -4]</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Maximum Product Subarray</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[-1, -2, -3, -4]</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Output</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24</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Explanation</a:t>
            </a:r>
            <a:endParaRPr b="1">
              <a:solidFill>
                <a:schemeClr val="dk1"/>
              </a:solidFill>
            </a:endParaRPr>
          </a:p>
          <a:p>
            <a:pPr indent="0" lvl="0" marL="0" rtl="0" algn="l">
              <a:spcBef>
                <a:spcPts val="1200"/>
              </a:spcBef>
              <a:spcAft>
                <a:spcPts val="0"/>
              </a:spcAft>
              <a:buClr>
                <a:schemeClr val="dk1"/>
              </a:buClr>
              <a:buSzPts val="1100"/>
              <a:buFont typeface="Arial"/>
              <a:buNone/>
            </a:pPr>
            <a:r>
              <a:rPr lang="en-US">
                <a:solidFill>
                  <a:schemeClr val="dk1"/>
                </a:solidFill>
              </a:rPr>
              <a:t>Even number of negatives gives positive product.</a:t>
            </a:r>
            <a:endParaRPr>
              <a:solidFill>
                <a:schemeClr val="dk1"/>
              </a:solidFill>
            </a:endParaRPr>
          </a:p>
          <a:p>
            <a:pPr indent="0" lvl="0" marL="0" rtl="0" algn="l">
              <a:spcBef>
                <a:spcPts val="12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e27c63ab70_0_55"/>
          <p:cNvSpPr txBox="1"/>
          <p:nvPr>
            <p:ph type="title"/>
          </p:nvPr>
        </p:nvSpPr>
        <p:spPr>
          <a:xfrm>
            <a:off x="311700" y="368900"/>
            <a:ext cx="73458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US" sz="2000">
                <a:solidFill>
                  <a:srgbClr val="8474F5"/>
                </a:solidFill>
              </a:rPr>
              <a:t>Examples of Maximum Product Subarray</a:t>
            </a:r>
            <a:endParaRPr/>
          </a:p>
        </p:txBody>
      </p:sp>
      <p:sp>
        <p:nvSpPr>
          <p:cNvPr id="153" name="Google Shape;153;g3e27c63ab70_0_55"/>
          <p:cNvSpPr txBox="1"/>
          <p:nvPr>
            <p:ph idx="1" type="body"/>
          </p:nvPr>
        </p:nvSpPr>
        <p:spPr>
          <a:xfrm>
            <a:off x="311700" y="1017725"/>
            <a:ext cx="3659400" cy="3727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2400"/>
              </a:spcBef>
              <a:spcAft>
                <a:spcPts val="0"/>
              </a:spcAft>
              <a:buClr>
                <a:schemeClr val="dk1"/>
              </a:buClr>
              <a:buSzPts val="1100"/>
              <a:buFont typeface="Arial"/>
              <a:buNone/>
            </a:pPr>
            <a:r>
              <a:rPr b="1" lang="en-US">
                <a:solidFill>
                  <a:schemeClr val="dk1"/>
                </a:solidFill>
              </a:rPr>
              <a:t>7. All Negative Numbers (Odd Count)</a:t>
            </a:r>
            <a:endParaRPr b="1">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Input</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[-1, -2, -3]</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Maximum Product Subarray</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[-2, -3]</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Output</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6</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Explanation</a:t>
            </a:r>
            <a:endParaRPr b="1">
              <a:solidFill>
                <a:schemeClr val="dk1"/>
              </a:solidFill>
            </a:endParaRPr>
          </a:p>
          <a:p>
            <a:pPr indent="0" lvl="0" marL="0" rtl="0" algn="l">
              <a:spcBef>
                <a:spcPts val="1200"/>
              </a:spcBef>
              <a:spcAft>
                <a:spcPts val="0"/>
              </a:spcAft>
              <a:buClr>
                <a:schemeClr val="dk1"/>
              </a:buClr>
              <a:buSzPts val="1100"/>
              <a:buFont typeface="Arial"/>
              <a:buNone/>
            </a:pPr>
            <a:r>
              <a:rPr lang="en-US">
                <a:solidFill>
                  <a:schemeClr val="dk1"/>
                </a:solidFill>
              </a:rPr>
              <a:t>Removing one negative gives larger positive product.</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154" name="Google Shape;154;g3e27c63ab70_0_55"/>
          <p:cNvSpPr txBox="1"/>
          <p:nvPr>
            <p:ph idx="2" type="body"/>
          </p:nvPr>
        </p:nvSpPr>
        <p:spPr>
          <a:xfrm>
            <a:off x="3971100" y="1017725"/>
            <a:ext cx="3871500" cy="3727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2400"/>
              </a:spcBef>
              <a:spcAft>
                <a:spcPts val="0"/>
              </a:spcAft>
              <a:buClr>
                <a:schemeClr val="dk1"/>
              </a:buClr>
              <a:buSzPts val="1100"/>
              <a:buFont typeface="Arial"/>
              <a:buNone/>
            </a:pPr>
            <a:r>
              <a:rPr b="1" lang="en-US">
                <a:solidFill>
                  <a:schemeClr val="dk1"/>
                </a:solidFill>
              </a:rPr>
              <a:t>8. Multiple Zeros</a:t>
            </a:r>
            <a:endParaRPr b="1">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Input</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[0, -2, 0, -1, 0]</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Output</a:t>
            </a:r>
            <a:endParaRPr b="1">
              <a:solidFill>
                <a:schemeClr val="dk1"/>
              </a:solidFill>
            </a:endParaRPr>
          </a:p>
          <a:p>
            <a:pPr indent="0" lvl="0" marL="0" rtl="0" algn="l">
              <a:spcBef>
                <a:spcPts val="400"/>
              </a:spcBef>
              <a:spcAft>
                <a:spcPts val="0"/>
              </a:spcAft>
              <a:buClr>
                <a:schemeClr val="dk1"/>
              </a:buClr>
              <a:buSzPts val="1100"/>
              <a:buFont typeface="Arial"/>
              <a:buNone/>
            </a:pPr>
            <a:r>
              <a:rPr lang="en-US">
                <a:solidFill>
                  <a:schemeClr val="dk1"/>
                </a:solidFill>
              </a:rPr>
              <a:t>0</a:t>
            </a:r>
            <a:endParaRPr>
              <a:solidFill>
                <a:schemeClr val="dk1"/>
              </a:solidFill>
            </a:endParaRPr>
          </a:p>
          <a:p>
            <a:pPr indent="0" lvl="0" marL="0" rtl="0" algn="l">
              <a:spcBef>
                <a:spcPts val="1400"/>
              </a:spcBef>
              <a:spcAft>
                <a:spcPts val="0"/>
              </a:spcAft>
              <a:buClr>
                <a:schemeClr val="dk1"/>
              </a:buClr>
              <a:buSzPts val="1100"/>
              <a:buFont typeface="Arial"/>
              <a:buNone/>
            </a:pPr>
            <a:r>
              <a:rPr b="1" lang="en-US">
                <a:solidFill>
                  <a:schemeClr val="dk1"/>
                </a:solidFill>
              </a:rPr>
              <a:t>Explanation</a:t>
            </a:r>
            <a:endParaRPr b="1">
              <a:solidFill>
                <a:schemeClr val="dk1"/>
              </a:solidFill>
            </a:endParaRPr>
          </a:p>
          <a:p>
            <a:pPr indent="0" lvl="0" marL="0" rtl="0" algn="l">
              <a:spcBef>
                <a:spcPts val="1200"/>
              </a:spcBef>
              <a:spcAft>
                <a:spcPts val="0"/>
              </a:spcAft>
              <a:buClr>
                <a:schemeClr val="dk1"/>
              </a:buClr>
              <a:buSzPts val="1100"/>
              <a:buFont typeface="Arial"/>
              <a:buNone/>
            </a:pPr>
            <a:r>
              <a:rPr lang="en-US">
                <a:solidFill>
                  <a:schemeClr val="dk1"/>
                </a:solidFill>
              </a:rPr>
              <a:t>Zeros break the subarrays repeatedly.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e27c63ab70_0_86"/>
          <p:cNvSpPr txBox="1"/>
          <p:nvPr>
            <p:ph type="title"/>
          </p:nvPr>
        </p:nvSpPr>
        <p:spPr>
          <a:xfrm>
            <a:off x="311700" y="423375"/>
            <a:ext cx="7386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8474F5"/>
                </a:solidFill>
              </a:rPr>
              <a:t>Different Approaches for Maximum Product Subarray</a:t>
            </a:r>
            <a:endParaRPr b="1" sz="2000">
              <a:solidFill>
                <a:srgbClr val="8474F5"/>
              </a:solidFill>
            </a:endParaRPr>
          </a:p>
        </p:txBody>
      </p:sp>
      <p:sp>
        <p:nvSpPr>
          <p:cNvPr id="160" name="Google Shape;160;g3e27c63ab70_0_86"/>
          <p:cNvSpPr txBox="1"/>
          <p:nvPr>
            <p:ph idx="1" type="body"/>
          </p:nvPr>
        </p:nvSpPr>
        <p:spPr>
          <a:xfrm>
            <a:off x="311700" y="1060750"/>
            <a:ext cx="7581000" cy="3539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lnSpc>
                <a:spcPct val="200000"/>
              </a:lnSpc>
              <a:spcBef>
                <a:spcPts val="1200"/>
              </a:spcBef>
              <a:spcAft>
                <a:spcPts val="0"/>
              </a:spcAft>
              <a:buSzPts val="1400"/>
              <a:buChar char="●"/>
            </a:pPr>
            <a:r>
              <a:rPr b="1" lang="en-US" sz="1400">
                <a:solidFill>
                  <a:schemeClr val="dk1"/>
                </a:solidFill>
              </a:rPr>
              <a:t>Brute Force Approach</a:t>
            </a:r>
            <a:r>
              <a:rPr lang="en-US" sz="1400">
                <a:solidFill>
                  <a:schemeClr val="dk1"/>
                </a:solidFill>
              </a:rPr>
              <a:t> – Check product of all possible subarrays.</a:t>
            </a:r>
            <a:endParaRPr sz="1400">
              <a:solidFill>
                <a:schemeClr val="dk1"/>
              </a:solidFill>
            </a:endParaRPr>
          </a:p>
          <a:p>
            <a:pPr indent="-317500" lvl="0" marL="457200" rtl="0" algn="l">
              <a:lnSpc>
                <a:spcPct val="200000"/>
              </a:lnSpc>
              <a:spcBef>
                <a:spcPts val="0"/>
              </a:spcBef>
              <a:spcAft>
                <a:spcPts val="0"/>
              </a:spcAft>
              <a:buSzPts val="1400"/>
              <a:buChar char="●"/>
            </a:pPr>
            <a:r>
              <a:rPr b="1" lang="en-US" sz="1400">
                <a:solidFill>
                  <a:schemeClr val="dk1"/>
                </a:solidFill>
              </a:rPr>
              <a:t>Dynamic Programming Approach</a:t>
            </a:r>
            <a:r>
              <a:rPr lang="en-US" sz="1400">
                <a:solidFill>
                  <a:schemeClr val="dk1"/>
                </a:solidFill>
              </a:rPr>
              <a:t> – Track current maximum and minimum products while traversing.</a:t>
            </a:r>
            <a:endParaRPr sz="1400">
              <a:solidFill>
                <a:schemeClr val="dk1"/>
              </a:solidFill>
            </a:endParaRPr>
          </a:p>
          <a:p>
            <a:pPr indent="-317500" lvl="0" marL="457200" rtl="0" algn="l">
              <a:lnSpc>
                <a:spcPct val="200000"/>
              </a:lnSpc>
              <a:spcBef>
                <a:spcPts val="0"/>
              </a:spcBef>
              <a:spcAft>
                <a:spcPts val="0"/>
              </a:spcAft>
              <a:buSzPts val="1400"/>
              <a:buChar char="●"/>
            </a:pPr>
            <a:r>
              <a:rPr b="1" lang="en-US" sz="1400">
                <a:solidFill>
                  <a:schemeClr val="dk1"/>
                </a:solidFill>
              </a:rPr>
              <a:t>Prefix and Suffix Product Approach</a:t>
            </a:r>
            <a:r>
              <a:rPr lang="en-US" sz="1400">
                <a:solidFill>
                  <a:schemeClr val="dk1"/>
                </a:solidFill>
              </a:rPr>
              <a:t> – Calculate products from both directions to handle negatives and zeros.</a:t>
            </a:r>
            <a:endParaRPr sz="1400">
              <a:solidFill>
                <a:schemeClr val="dk1"/>
              </a:solidFill>
            </a:endParaRPr>
          </a:p>
          <a:p>
            <a:pPr indent="-317500" lvl="0" marL="457200" rtl="0" algn="l">
              <a:lnSpc>
                <a:spcPct val="200000"/>
              </a:lnSpc>
              <a:spcBef>
                <a:spcPts val="0"/>
              </a:spcBef>
              <a:spcAft>
                <a:spcPts val="0"/>
              </a:spcAft>
              <a:buSzPts val="1400"/>
              <a:buChar char="●"/>
            </a:pPr>
            <a:r>
              <a:rPr b="1" lang="en-US" sz="1400">
                <a:solidFill>
                  <a:schemeClr val="dk1"/>
                </a:solidFill>
              </a:rPr>
              <a:t>Kadane’s Algorithm Inspired Approach</a:t>
            </a:r>
            <a:r>
              <a:rPr lang="en-US" sz="1400">
                <a:solidFill>
                  <a:schemeClr val="dk1"/>
                </a:solidFill>
              </a:rPr>
              <a:t> – Modify Kadane’s logic to work with products instead of sums.</a:t>
            </a:r>
            <a:endParaRPr sz="1400">
              <a:solidFill>
                <a:schemeClr val="dk1"/>
              </a:solidFill>
            </a:endParaRPr>
          </a:p>
          <a:p>
            <a:pPr indent="-317500" lvl="0" marL="457200" rtl="0" algn="l">
              <a:lnSpc>
                <a:spcPct val="200000"/>
              </a:lnSpc>
              <a:spcBef>
                <a:spcPts val="0"/>
              </a:spcBef>
              <a:spcAft>
                <a:spcPts val="0"/>
              </a:spcAft>
              <a:buSzPts val="1400"/>
              <a:buChar char="●"/>
            </a:pPr>
            <a:r>
              <a:rPr b="1" lang="en-US" sz="1400">
                <a:solidFill>
                  <a:schemeClr val="dk1"/>
                </a:solidFill>
              </a:rPr>
              <a:t>Divide and Conquer Approach</a:t>
            </a:r>
            <a:r>
              <a:rPr lang="en-US" sz="1400">
                <a:solidFill>
                  <a:schemeClr val="dk1"/>
                </a:solidFill>
              </a:rPr>
              <a:t> – Divide array into parts and combine results recursively.</a:t>
            </a:r>
            <a:endParaRPr sz="1400">
              <a:solidFill>
                <a:schemeClr val="dk1"/>
              </a:solidFill>
            </a:endParaRPr>
          </a:p>
          <a:p>
            <a:pPr indent="0" lvl="0" marL="0" rtl="0" algn="l">
              <a:lnSpc>
                <a:spcPct val="200000"/>
              </a:lnSpc>
              <a:spcBef>
                <a:spcPts val="1200"/>
              </a:spcBef>
              <a:spcAft>
                <a:spcPts val="0"/>
              </a:spcAft>
              <a:buNone/>
            </a:pPr>
            <a:r>
              <a:t/>
            </a:r>
            <a:endParaRPr sz="1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e27c63ab70_0_94"/>
          <p:cNvSpPr txBox="1"/>
          <p:nvPr>
            <p:ph type="title"/>
          </p:nvPr>
        </p:nvSpPr>
        <p:spPr>
          <a:xfrm>
            <a:off x="268400" y="369250"/>
            <a:ext cx="7472700" cy="4209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lang="en-US" sz="2100">
                <a:solidFill>
                  <a:srgbClr val="908BFF"/>
                </a:solidFill>
              </a:rPr>
              <a:t> Efficiency Comparison of Maximum Product Subarray</a:t>
            </a:r>
            <a:endParaRPr/>
          </a:p>
        </p:txBody>
      </p:sp>
      <p:sp>
        <p:nvSpPr>
          <p:cNvPr id="166" name="Google Shape;166;g3e27c63ab70_0_94"/>
          <p:cNvSpPr txBox="1"/>
          <p:nvPr>
            <p:ph idx="1" type="body"/>
          </p:nvPr>
        </p:nvSpPr>
        <p:spPr>
          <a:xfrm>
            <a:off x="311700" y="1152475"/>
            <a:ext cx="75270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67" name="Google Shape;167;g3e27c63ab70_0_94"/>
          <p:cNvPicPr preferRelativeResize="0"/>
          <p:nvPr/>
        </p:nvPicPr>
        <p:blipFill rotWithShape="1">
          <a:blip r:embed="rId3">
            <a:alphaModFix/>
          </a:blip>
          <a:srcRect b="310" l="0" r="0" t="-310"/>
          <a:stretch/>
        </p:blipFill>
        <p:spPr>
          <a:xfrm>
            <a:off x="268400" y="1071673"/>
            <a:ext cx="8198424" cy="3518950"/>
          </a:xfrm>
          <a:prstGeom prst="rect">
            <a:avLst/>
          </a:prstGeom>
          <a:noFill/>
          <a:ln cap="flat" cmpd="sng" w="952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e27c63ab70_0_100"/>
          <p:cNvSpPr txBox="1"/>
          <p:nvPr>
            <p:ph type="title"/>
          </p:nvPr>
        </p:nvSpPr>
        <p:spPr>
          <a:xfrm>
            <a:off x="441575" y="445025"/>
            <a:ext cx="7364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8474F5"/>
                </a:solidFill>
              </a:rPr>
              <a:t>Brute Force Approach - Maximum Product Subarray</a:t>
            </a:r>
            <a:endParaRPr b="1" sz="2000">
              <a:solidFill>
                <a:srgbClr val="8474F5"/>
              </a:solidFill>
            </a:endParaRPr>
          </a:p>
        </p:txBody>
      </p:sp>
      <p:sp>
        <p:nvSpPr>
          <p:cNvPr id="173" name="Google Shape;173;g3e27c63ab70_0_100"/>
          <p:cNvSpPr txBox="1"/>
          <p:nvPr>
            <p:ph idx="1" type="body"/>
          </p:nvPr>
        </p:nvSpPr>
        <p:spPr>
          <a:xfrm>
            <a:off x="441575" y="1152475"/>
            <a:ext cx="74187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1800"/>
              </a:spcBef>
              <a:spcAft>
                <a:spcPts val="0"/>
              </a:spcAft>
              <a:buClr>
                <a:schemeClr val="dk1"/>
              </a:buClr>
              <a:buSzPts val="1100"/>
              <a:buFont typeface="Arial"/>
              <a:buNone/>
            </a:pPr>
            <a:r>
              <a:rPr b="1" lang="en-US" sz="1400">
                <a:solidFill>
                  <a:schemeClr val="dk1"/>
                </a:solidFill>
              </a:rPr>
              <a:t>Algorithmic Steps</a:t>
            </a:r>
            <a:endParaRPr b="1" sz="1400">
              <a:solidFill>
                <a:schemeClr val="dk1"/>
              </a:solidFill>
            </a:endParaRPr>
          </a:p>
          <a:p>
            <a:pPr indent="-317500" lvl="0" marL="457200" rtl="0" algn="l">
              <a:lnSpc>
                <a:spcPct val="150000"/>
              </a:lnSpc>
              <a:spcBef>
                <a:spcPts val="1200"/>
              </a:spcBef>
              <a:spcAft>
                <a:spcPts val="0"/>
              </a:spcAft>
              <a:buSzPts val="1400"/>
              <a:buFont typeface="Roboto"/>
              <a:buAutoNum type="arabicPeriod"/>
            </a:pPr>
            <a:r>
              <a:rPr lang="en-US" sz="1400">
                <a:solidFill>
                  <a:schemeClr val="dk1"/>
                </a:solidFill>
              </a:rPr>
              <a:t>Read the array elements.</a:t>
            </a:r>
            <a:endParaRPr sz="1400">
              <a:solidFill>
                <a:schemeClr val="dk1"/>
              </a:solidFill>
            </a:endParaRPr>
          </a:p>
          <a:p>
            <a:pPr indent="-317500" lvl="0" marL="457200" rtl="0" algn="l">
              <a:lnSpc>
                <a:spcPct val="150000"/>
              </a:lnSpc>
              <a:spcBef>
                <a:spcPts val="0"/>
              </a:spcBef>
              <a:spcAft>
                <a:spcPts val="0"/>
              </a:spcAft>
              <a:buSzPts val="1400"/>
              <a:buAutoNum type="arabicPeriod"/>
            </a:pPr>
            <a:r>
              <a:rPr lang="en-US" sz="1400">
                <a:solidFill>
                  <a:schemeClr val="dk1"/>
                </a:solidFill>
              </a:rPr>
              <a:t>Initialize maxProduct with minimum value.</a:t>
            </a:r>
            <a:endParaRPr sz="1400">
              <a:solidFill>
                <a:schemeClr val="dk1"/>
              </a:solidFill>
            </a:endParaRPr>
          </a:p>
          <a:p>
            <a:pPr indent="-317500" lvl="0" marL="457200" rtl="0" algn="l">
              <a:lnSpc>
                <a:spcPct val="150000"/>
              </a:lnSpc>
              <a:spcBef>
                <a:spcPts val="0"/>
              </a:spcBef>
              <a:spcAft>
                <a:spcPts val="0"/>
              </a:spcAft>
              <a:buSzPts val="1400"/>
              <a:buAutoNum type="arabicPeriod"/>
            </a:pPr>
            <a:r>
              <a:rPr lang="en-US" sz="1400">
                <a:solidFill>
                  <a:schemeClr val="dk1"/>
                </a:solidFill>
              </a:rPr>
              <a:t>Start outer loop from index 0.</a:t>
            </a:r>
            <a:endParaRPr sz="1400">
              <a:solidFill>
                <a:schemeClr val="dk1"/>
              </a:solidFill>
            </a:endParaRPr>
          </a:p>
          <a:p>
            <a:pPr indent="-317500" lvl="0" marL="457200" rtl="0" algn="l">
              <a:lnSpc>
                <a:spcPct val="150000"/>
              </a:lnSpc>
              <a:spcBef>
                <a:spcPts val="0"/>
              </a:spcBef>
              <a:spcAft>
                <a:spcPts val="0"/>
              </a:spcAft>
              <a:buSzPts val="1400"/>
              <a:buAutoNum type="arabicPeriod"/>
            </a:pPr>
            <a:r>
              <a:rPr lang="en-US" sz="1400">
                <a:solidFill>
                  <a:schemeClr val="dk1"/>
                </a:solidFill>
              </a:rPr>
              <a:t>Initialize product as 1.</a:t>
            </a:r>
            <a:endParaRPr sz="1400">
              <a:solidFill>
                <a:schemeClr val="dk1"/>
              </a:solidFill>
            </a:endParaRPr>
          </a:p>
          <a:p>
            <a:pPr indent="-317500" lvl="0" marL="457200" rtl="0" algn="l">
              <a:lnSpc>
                <a:spcPct val="150000"/>
              </a:lnSpc>
              <a:spcBef>
                <a:spcPts val="0"/>
              </a:spcBef>
              <a:spcAft>
                <a:spcPts val="0"/>
              </a:spcAft>
              <a:buSzPts val="1400"/>
              <a:buFont typeface="Roboto"/>
              <a:buAutoNum type="arabicPeriod"/>
            </a:pPr>
            <a:r>
              <a:rPr lang="en-US" sz="1400">
                <a:solidFill>
                  <a:schemeClr val="dk1"/>
                </a:solidFill>
              </a:rPr>
              <a:t>Start inner loop from current index.</a:t>
            </a:r>
            <a:endParaRPr sz="1400">
              <a:solidFill>
                <a:schemeClr val="dk1"/>
              </a:solidFill>
            </a:endParaRPr>
          </a:p>
          <a:p>
            <a:pPr indent="-317500" lvl="0" marL="457200" rtl="0" algn="l">
              <a:lnSpc>
                <a:spcPct val="150000"/>
              </a:lnSpc>
              <a:spcBef>
                <a:spcPts val="0"/>
              </a:spcBef>
              <a:spcAft>
                <a:spcPts val="0"/>
              </a:spcAft>
              <a:buSzPts val="1400"/>
              <a:buFont typeface="Roboto"/>
              <a:buAutoNum type="arabicPeriod"/>
            </a:pPr>
            <a:r>
              <a:rPr lang="en-US" sz="1400">
                <a:solidFill>
                  <a:schemeClr val="dk1"/>
                </a:solidFill>
              </a:rPr>
              <a:t>Multiply elements continuously to form subarrays.</a:t>
            </a:r>
            <a:endParaRPr sz="1400">
              <a:solidFill>
                <a:schemeClr val="dk1"/>
              </a:solidFill>
            </a:endParaRPr>
          </a:p>
          <a:p>
            <a:pPr indent="-317500" lvl="0" marL="457200" rtl="0" algn="l">
              <a:lnSpc>
                <a:spcPct val="150000"/>
              </a:lnSpc>
              <a:spcBef>
                <a:spcPts val="0"/>
              </a:spcBef>
              <a:spcAft>
                <a:spcPts val="0"/>
              </a:spcAft>
              <a:buSzPts val="1400"/>
              <a:buFont typeface="Roboto"/>
              <a:buAutoNum type="arabicPeriod"/>
            </a:pPr>
            <a:r>
              <a:rPr lang="en-US" sz="1400">
                <a:solidFill>
                  <a:schemeClr val="dk1"/>
                </a:solidFill>
              </a:rPr>
              <a:t>Update maximum product if current product is greater.</a:t>
            </a:r>
            <a:endParaRPr sz="1400">
              <a:solidFill>
                <a:schemeClr val="dk1"/>
              </a:solidFill>
            </a:endParaRPr>
          </a:p>
          <a:p>
            <a:pPr indent="-317500" lvl="0" marL="457200" rtl="0" algn="l">
              <a:lnSpc>
                <a:spcPct val="150000"/>
              </a:lnSpc>
              <a:spcBef>
                <a:spcPts val="0"/>
              </a:spcBef>
              <a:spcAft>
                <a:spcPts val="0"/>
              </a:spcAft>
              <a:buSzPts val="1400"/>
              <a:buFont typeface="Roboto"/>
              <a:buAutoNum type="arabicPeriod"/>
            </a:pPr>
            <a:r>
              <a:rPr lang="en-US" sz="1400">
                <a:solidFill>
                  <a:schemeClr val="dk1"/>
                </a:solidFill>
              </a:rPr>
              <a:t>Print the maximum product.</a:t>
            </a:r>
            <a:endParaRPr sz="1400">
              <a:solidFill>
                <a:schemeClr val="dk1"/>
              </a:solidFill>
            </a:endParaRPr>
          </a:p>
          <a:p>
            <a:pPr indent="0" lvl="0" marL="0" rtl="0" algn="l">
              <a:lnSpc>
                <a:spcPct val="150000"/>
              </a:lnSpc>
              <a:spcBef>
                <a:spcPts val="1200"/>
              </a:spcBef>
              <a:spcAft>
                <a:spcPts val="0"/>
              </a:spcAft>
              <a:buNone/>
            </a:pPr>
            <a:r>
              <a:t/>
            </a:r>
            <a:endParaRPr sz="1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27c63ab70_0_107"/>
          <p:cNvSpPr txBox="1"/>
          <p:nvPr>
            <p:ph type="title"/>
          </p:nvPr>
        </p:nvSpPr>
        <p:spPr>
          <a:xfrm>
            <a:off x="311700" y="423375"/>
            <a:ext cx="7461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000"/>
              <a:buFont typeface="Arial"/>
              <a:buNone/>
            </a:pPr>
            <a:r>
              <a:rPr b="1" lang="en-US" sz="2000">
                <a:solidFill>
                  <a:srgbClr val="8474F5"/>
                </a:solidFill>
              </a:rPr>
              <a:t>Brute Force Approach - Maximum Product Subarray</a:t>
            </a:r>
            <a:endParaRPr b="1" sz="2000">
              <a:solidFill>
                <a:srgbClr val="8474F5"/>
              </a:solidFill>
            </a:endParaRPr>
          </a:p>
          <a:p>
            <a:pPr indent="0" lvl="0" marL="0" rtl="0" algn="l">
              <a:spcBef>
                <a:spcPts val="0"/>
              </a:spcBef>
              <a:spcAft>
                <a:spcPts val="0"/>
              </a:spcAft>
              <a:buNone/>
            </a:pPr>
            <a:r>
              <a:t/>
            </a:r>
            <a:endParaRPr/>
          </a:p>
        </p:txBody>
      </p:sp>
      <p:sp>
        <p:nvSpPr>
          <p:cNvPr id="179" name="Google Shape;179;g3e27c63ab70_0_107"/>
          <p:cNvSpPr txBox="1"/>
          <p:nvPr>
            <p:ph idx="1" type="body"/>
          </p:nvPr>
        </p:nvSpPr>
        <p:spPr>
          <a:xfrm>
            <a:off x="311700" y="1152475"/>
            <a:ext cx="3684600" cy="36039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import java.util.Scanner;</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public class Main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public static int maxProduct(int[] arr, int n)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maxProduct = Integer.MIN_VALUE;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for (int i = 0; i &lt; n; i++)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product = 1;</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for (int j = i; j &lt; n; j++)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product *= arr[j];</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maxProduct = Math.max(maxProduct, product);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spcBef>
                <a:spcPts val="0"/>
              </a:spcBef>
              <a:spcAft>
                <a:spcPts val="0"/>
              </a:spcAft>
              <a:buNone/>
            </a:pPr>
            <a:r>
              <a:rPr lang="en-US">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80" name="Google Shape;180;g3e27c63ab70_0_107"/>
          <p:cNvSpPr txBox="1"/>
          <p:nvPr>
            <p:ph idx="2" type="body"/>
          </p:nvPr>
        </p:nvSpPr>
        <p:spPr>
          <a:xfrm>
            <a:off x="3996300" y="1152475"/>
            <a:ext cx="3777300" cy="36039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return maxProduct;</a:t>
            </a:r>
            <a:endParaRPr>
              <a:solidFill>
                <a:schemeClr val="dk1"/>
              </a:solidFill>
            </a:endParaRPr>
          </a:p>
          <a:p>
            <a:pPr indent="0" lvl="0" marL="0" rtl="0" algn="l">
              <a:spcBef>
                <a:spcPts val="0"/>
              </a:spcBef>
              <a:spcAft>
                <a:spcPts val="0"/>
              </a:spcAft>
              <a:buNone/>
            </a:pP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public static void main(String[] args)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Scanner sc = new Scanner(System.in);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n = sc.nextInt();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arr = new int[n];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for (int i = 0; i &lt; n; i++)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arr[i] = sc.nextInt();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System.out.println("Maximum Product Subarray: " + maxProduct(arr, 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        </a:t>
            </a:r>
            <a:r>
              <a:rPr b="1" lang="en-US">
                <a:solidFill>
                  <a:srgbClr val="000000"/>
                </a:solidFill>
              </a:rPr>
              <a:t> </a:t>
            </a:r>
            <a:endParaRPr>
              <a:solidFill>
                <a:srgbClr val="000000"/>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81" name="Google Shape;181;g3e27c63ab70_0_107"/>
          <p:cNvSpPr txBox="1"/>
          <p:nvPr/>
        </p:nvSpPr>
        <p:spPr>
          <a:xfrm>
            <a:off x="4797700" y="4038675"/>
            <a:ext cx="2381400" cy="572700"/>
          </a:xfrm>
          <a:prstGeom prst="rect">
            <a:avLst/>
          </a:prstGeom>
          <a:noFill/>
          <a:ln cap="flat" cmpd="sng" w="38100">
            <a:solidFill>
              <a:srgbClr val="807F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a:solidFill>
                  <a:schemeClr val="dk1"/>
                </a:solidFill>
                <a:latin typeface="Roboto"/>
                <a:ea typeface="Roboto"/>
                <a:cs typeface="Roboto"/>
                <a:sym typeface="Roboto"/>
              </a:rPr>
              <a:t>   </a:t>
            </a:r>
            <a:r>
              <a:rPr b="1" lang="en-US">
                <a:solidFill>
                  <a:schemeClr val="dk1"/>
                </a:solidFill>
                <a:latin typeface="Roboto"/>
                <a:ea typeface="Roboto"/>
                <a:cs typeface="Roboto"/>
                <a:sym typeface="Roboto"/>
              </a:rPr>
              <a:t>Time Complexity : O(N²)</a:t>
            </a:r>
            <a:br>
              <a:rPr b="1" lang="en-US">
                <a:solidFill>
                  <a:schemeClr val="dk1"/>
                </a:solidFill>
                <a:latin typeface="Roboto"/>
                <a:ea typeface="Roboto"/>
                <a:cs typeface="Roboto"/>
                <a:sym typeface="Roboto"/>
              </a:rPr>
            </a:br>
            <a:r>
              <a:rPr b="1" lang="en-US">
                <a:solidFill>
                  <a:schemeClr val="dk1"/>
                </a:solidFill>
                <a:latin typeface="Roboto"/>
                <a:ea typeface="Roboto"/>
                <a:cs typeface="Roboto"/>
                <a:sym typeface="Roboto"/>
              </a:rPr>
              <a:t>   Space Complexity : O(1)</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e27c63ab70_0_122"/>
          <p:cNvSpPr txBox="1"/>
          <p:nvPr>
            <p:ph type="title"/>
          </p:nvPr>
        </p:nvSpPr>
        <p:spPr>
          <a:xfrm>
            <a:off x="376650" y="380100"/>
            <a:ext cx="7461900" cy="5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000">
                <a:solidFill>
                  <a:srgbClr val="8474F5"/>
                </a:solidFill>
              </a:rPr>
              <a:t>Prefix Suffix Approach - Maximum Product Subarray</a:t>
            </a:r>
            <a:endParaRPr/>
          </a:p>
        </p:txBody>
      </p:sp>
      <p:sp>
        <p:nvSpPr>
          <p:cNvPr id="187" name="Google Shape;187;g3e27c63ab70_0_122"/>
          <p:cNvSpPr txBox="1"/>
          <p:nvPr>
            <p:ph idx="1" type="body"/>
          </p:nvPr>
        </p:nvSpPr>
        <p:spPr>
          <a:xfrm>
            <a:off x="376650" y="979275"/>
            <a:ext cx="7461900" cy="3737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1800"/>
              </a:spcBef>
              <a:spcAft>
                <a:spcPts val="0"/>
              </a:spcAft>
              <a:buClr>
                <a:schemeClr val="dk1"/>
              </a:buClr>
              <a:buSzPts val="1100"/>
              <a:buFont typeface="Arial"/>
              <a:buNone/>
            </a:pPr>
            <a:r>
              <a:rPr b="1" lang="en-US" sz="1400">
                <a:solidFill>
                  <a:schemeClr val="dk1"/>
                </a:solidFill>
              </a:rPr>
              <a:t>Algorithmic Steps</a:t>
            </a:r>
            <a:endParaRPr b="1" sz="1400">
              <a:solidFill>
                <a:schemeClr val="dk1"/>
              </a:solidFill>
            </a:endParaRPr>
          </a:p>
          <a:p>
            <a:pPr indent="-317500" lvl="0" marL="457200" rtl="0" algn="l">
              <a:lnSpc>
                <a:spcPct val="150000"/>
              </a:lnSpc>
              <a:spcBef>
                <a:spcPts val="1200"/>
              </a:spcBef>
              <a:spcAft>
                <a:spcPts val="0"/>
              </a:spcAft>
              <a:buSzPts val="1400"/>
              <a:buFont typeface="Roboto"/>
              <a:buAutoNum type="arabicPeriod"/>
            </a:pPr>
            <a:r>
              <a:rPr lang="en-US" sz="1400">
                <a:solidFill>
                  <a:schemeClr val="dk1"/>
                </a:solidFill>
              </a:rPr>
              <a:t>Read array elements.</a:t>
            </a:r>
            <a:endParaRPr sz="1400">
              <a:solidFill>
                <a:schemeClr val="dk1"/>
              </a:solidFill>
            </a:endParaRPr>
          </a:p>
          <a:p>
            <a:pPr indent="-317500" lvl="0" marL="457200" rtl="0" algn="l">
              <a:lnSpc>
                <a:spcPct val="150000"/>
              </a:lnSpc>
              <a:spcBef>
                <a:spcPts val="0"/>
              </a:spcBef>
              <a:spcAft>
                <a:spcPts val="0"/>
              </a:spcAft>
              <a:buSzPts val="1400"/>
              <a:buFont typeface="Roboto"/>
              <a:buAutoNum type="arabicPeriod"/>
            </a:pPr>
            <a:r>
              <a:rPr lang="en-US" sz="1400">
                <a:solidFill>
                  <a:schemeClr val="dk1"/>
                </a:solidFill>
              </a:rPr>
              <a:t>Initialize:</a:t>
            </a:r>
            <a:endParaRPr sz="1400">
              <a:solidFill>
                <a:schemeClr val="dk1"/>
              </a:solidFill>
            </a:endParaRPr>
          </a:p>
          <a:p>
            <a:pPr indent="-317500" lvl="1" marL="914400" rtl="0" algn="l">
              <a:lnSpc>
                <a:spcPct val="150000"/>
              </a:lnSpc>
              <a:spcBef>
                <a:spcPts val="0"/>
              </a:spcBef>
              <a:spcAft>
                <a:spcPts val="0"/>
              </a:spcAft>
              <a:buSzPts val="1400"/>
              <a:buFont typeface="Roboto"/>
              <a:buChar char="○"/>
            </a:pPr>
            <a:r>
              <a:rPr lang="en-US">
                <a:solidFill>
                  <a:schemeClr val="dk1"/>
                </a:solidFill>
                <a:latin typeface="Roboto"/>
                <a:ea typeface="Roboto"/>
                <a:cs typeface="Roboto"/>
                <a:sym typeface="Roboto"/>
              </a:rPr>
              <a:t>prefix = 1</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SzPts val="1400"/>
              <a:buFont typeface="Roboto"/>
              <a:buChar char="○"/>
            </a:pPr>
            <a:r>
              <a:rPr lang="en-US">
                <a:solidFill>
                  <a:schemeClr val="dk1"/>
                </a:solidFill>
                <a:latin typeface="Roboto"/>
                <a:ea typeface="Roboto"/>
                <a:cs typeface="Roboto"/>
                <a:sym typeface="Roboto"/>
              </a:rPr>
              <a:t>suffix = 1</a:t>
            </a:r>
            <a:endParaRPr>
              <a:solidFill>
                <a:schemeClr val="dk1"/>
              </a:solidFill>
              <a:latin typeface="Roboto"/>
              <a:ea typeface="Roboto"/>
              <a:cs typeface="Roboto"/>
              <a:sym typeface="Roboto"/>
            </a:endParaRPr>
          </a:p>
          <a:p>
            <a:pPr indent="-317500" lvl="1" marL="914400" rtl="0" algn="l">
              <a:lnSpc>
                <a:spcPct val="150000"/>
              </a:lnSpc>
              <a:spcBef>
                <a:spcPts val="0"/>
              </a:spcBef>
              <a:spcAft>
                <a:spcPts val="0"/>
              </a:spcAft>
              <a:buSzPts val="1400"/>
              <a:buFont typeface="Roboto"/>
              <a:buChar char="○"/>
            </a:pPr>
            <a:r>
              <a:rPr lang="en-US">
                <a:solidFill>
                  <a:schemeClr val="dk1"/>
                </a:solidFill>
                <a:latin typeface="Roboto"/>
                <a:ea typeface="Roboto"/>
                <a:cs typeface="Roboto"/>
                <a:sym typeface="Roboto"/>
              </a:rPr>
              <a:t>maxProduct</a:t>
            </a:r>
            <a:endParaRPr>
              <a:solidFill>
                <a:schemeClr val="dk1"/>
              </a:solidFill>
              <a:latin typeface="Roboto"/>
              <a:ea typeface="Roboto"/>
              <a:cs typeface="Roboto"/>
              <a:sym typeface="Roboto"/>
            </a:endParaRPr>
          </a:p>
          <a:p>
            <a:pPr indent="-317500" lvl="0" marL="457200" rtl="0" algn="l">
              <a:lnSpc>
                <a:spcPct val="150000"/>
              </a:lnSpc>
              <a:spcBef>
                <a:spcPts val="0"/>
              </a:spcBef>
              <a:spcAft>
                <a:spcPts val="0"/>
              </a:spcAft>
              <a:buSzPts val="1400"/>
              <a:buFont typeface="Roboto"/>
              <a:buAutoNum type="arabicPeriod"/>
            </a:pPr>
            <a:r>
              <a:rPr lang="en-US" sz="1400">
                <a:solidFill>
                  <a:schemeClr val="dk1"/>
                </a:solidFill>
              </a:rPr>
              <a:t>Traverse array from left to right for prefix product.</a:t>
            </a:r>
            <a:endParaRPr sz="1400">
              <a:solidFill>
                <a:schemeClr val="dk1"/>
              </a:solidFill>
            </a:endParaRPr>
          </a:p>
          <a:p>
            <a:pPr indent="-317500" lvl="0" marL="457200" rtl="0" algn="l">
              <a:lnSpc>
                <a:spcPct val="150000"/>
              </a:lnSpc>
              <a:spcBef>
                <a:spcPts val="0"/>
              </a:spcBef>
              <a:spcAft>
                <a:spcPts val="0"/>
              </a:spcAft>
              <a:buSzPts val="1400"/>
              <a:buFont typeface="Roboto"/>
              <a:buAutoNum type="arabicPeriod"/>
            </a:pPr>
            <a:r>
              <a:rPr lang="en-US" sz="1400">
                <a:solidFill>
                  <a:schemeClr val="dk1"/>
                </a:solidFill>
              </a:rPr>
              <a:t>Traverse simultaneously from right to left for suffix product.</a:t>
            </a:r>
            <a:endParaRPr sz="1400">
              <a:solidFill>
                <a:schemeClr val="dk1"/>
              </a:solidFill>
            </a:endParaRPr>
          </a:p>
          <a:p>
            <a:pPr indent="-317500" lvl="0" marL="457200" rtl="0" algn="l">
              <a:lnSpc>
                <a:spcPct val="150000"/>
              </a:lnSpc>
              <a:spcBef>
                <a:spcPts val="0"/>
              </a:spcBef>
              <a:spcAft>
                <a:spcPts val="0"/>
              </a:spcAft>
              <a:buSzPts val="1400"/>
              <a:buAutoNum type="arabicPeriod"/>
            </a:pPr>
            <a:r>
              <a:rPr lang="en-US" sz="1400">
                <a:solidFill>
                  <a:schemeClr val="dk1"/>
                </a:solidFill>
              </a:rPr>
              <a:t>Reset prefix or suffix to 1 if product becomes 0.</a:t>
            </a:r>
            <a:endParaRPr sz="1400">
              <a:solidFill>
                <a:schemeClr val="dk1"/>
              </a:solidFill>
            </a:endParaRPr>
          </a:p>
          <a:p>
            <a:pPr indent="-317500" lvl="0" marL="457200" rtl="0" algn="l">
              <a:lnSpc>
                <a:spcPct val="150000"/>
              </a:lnSpc>
              <a:spcBef>
                <a:spcPts val="0"/>
              </a:spcBef>
              <a:spcAft>
                <a:spcPts val="0"/>
              </a:spcAft>
              <a:buSzPts val="1400"/>
              <a:buFont typeface="Roboto"/>
              <a:buAutoNum type="arabicPeriod"/>
            </a:pPr>
            <a:r>
              <a:rPr lang="en-US" sz="1400">
                <a:solidFill>
                  <a:schemeClr val="dk1"/>
                </a:solidFill>
              </a:rPr>
              <a:t>Update maximum product using prefix and suffix values.</a:t>
            </a:r>
            <a:endParaRPr sz="1400">
              <a:solidFill>
                <a:schemeClr val="dk1"/>
              </a:solidFill>
            </a:endParaRPr>
          </a:p>
          <a:p>
            <a:pPr indent="-317500" lvl="0" marL="457200" rtl="0" algn="l">
              <a:lnSpc>
                <a:spcPct val="150000"/>
              </a:lnSpc>
              <a:spcBef>
                <a:spcPts val="0"/>
              </a:spcBef>
              <a:spcAft>
                <a:spcPts val="0"/>
              </a:spcAft>
              <a:buSzPts val="1400"/>
              <a:buFont typeface="Roboto"/>
              <a:buAutoNum type="arabicPeriod"/>
            </a:pPr>
            <a:r>
              <a:rPr lang="en-US" sz="1400">
                <a:solidFill>
                  <a:schemeClr val="dk1"/>
                </a:solidFill>
              </a:rPr>
              <a:t>Print final maximum product.</a:t>
            </a:r>
            <a:endParaRPr sz="1400">
              <a:solidFill>
                <a:schemeClr val="dk1"/>
              </a:solidFill>
            </a:endParaRPr>
          </a:p>
          <a:p>
            <a:pPr indent="0" lvl="0" marL="0" rtl="0" algn="l">
              <a:lnSpc>
                <a:spcPct val="150000"/>
              </a:lnSpc>
              <a:spcBef>
                <a:spcPts val="1200"/>
              </a:spcBef>
              <a:spcAft>
                <a:spcPts val="0"/>
              </a:spcAft>
              <a:buNone/>
            </a:pPr>
            <a:r>
              <a:t/>
            </a:r>
            <a:endParaRPr sz="1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e27c63ab70_0_116"/>
          <p:cNvSpPr txBox="1"/>
          <p:nvPr>
            <p:ph type="title"/>
          </p:nvPr>
        </p:nvSpPr>
        <p:spPr>
          <a:xfrm>
            <a:off x="311700" y="445025"/>
            <a:ext cx="7429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US" sz="2000">
                <a:solidFill>
                  <a:srgbClr val="8474F5"/>
                </a:solidFill>
              </a:rPr>
              <a:t>Prefix Suffix </a:t>
            </a:r>
            <a:r>
              <a:rPr b="1" lang="en-US" sz="2000">
                <a:solidFill>
                  <a:srgbClr val="8474F5"/>
                </a:solidFill>
              </a:rPr>
              <a:t>Approach - Maximum Product Subarray</a:t>
            </a:r>
            <a:endParaRPr/>
          </a:p>
        </p:txBody>
      </p:sp>
      <p:sp>
        <p:nvSpPr>
          <p:cNvPr id="193" name="Google Shape;193;g3e27c63ab70_0_116"/>
          <p:cNvSpPr txBox="1"/>
          <p:nvPr>
            <p:ph idx="1" type="body"/>
          </p:nvPr>
        </p:nvSpPr>
        <p:spPr>
          <a:xfrm>
            <a:off x="311700" y="1152475"/>
            <a:ext cx="3792600" cy="3603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import java.util.Scanner;</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public class Main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public static int maxProduct(int[] arr, int n)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prefix = 1;</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suffix = 1;</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maxProduct = Integer.MIN_VALUE;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for (int i = 0; i &lt; n; i++)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if (prefix == 0)</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prefix = 1;</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if (suffix == 0)</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suffix = 1;</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prefix *= arr[i];</a:t>
            </a:r>
            <a:endParaRPr>
              <a:solidFill>
                <a:schemeClr val="dk1"/>
              </a:solidFill>
            </a:endParaRPr>
          </a:p>
          <a:p>
            <a:pPr indent="0" lvl="0" marL="0" rtl="0" algn="l">
              <a:spcBef>
                <a:spcPts val="0"/>
              </a:spcBef>
              <a:spcAft>
                <a:spcPts val="0"/>
              </a:spcAft>
              <a:buNone/>
            </a:pPr>
            <a:r>
              <a:rPr lang="en-US">
                <a:solidFill>
                  <a:schemeClr val="dk1"/>
                </a:solidFill>
              </a:rPr>
              <a:t>            suffix *= arr[n - i - 1];</a:t>
            </a:r>
            <a:endParaRPr>
              <a:solidFill>
                <a:schemeClr val="dk1"/>
              </a:solidFill>
            </a:endParaRPr>
          </a:p>
          <a:p>
            <a:pPr indent="0" lvl="0" marL="0" rtl="0" algn="l">
              <a:spcBef>
                <a:spcPts val="0"/>
              </a:spcBef>
              <a:spcAft>
                <a:spcPts val="0"/>
              </a:spcAft>
              <a:buNone/>
            </a:pPr>
            <a:r>
              <a:rPr lang="en-US">
                <a:solidFill>
                  <a:schemeClr val="dk1"/>
                </a:solidFill>
              </a:rPr>
              <a:t>            maxProduct = Math.max(maxProduct,</a:t>
            </a:r>
            <a:endParaRPr>
              <a:solidFill>
                <a:schemeClr val="dk1"/>
              </a:solidFill>
            </a:endParaRPr>
          </a:p>
          <a:p>
            <a:pPr indent="0" lvl="0" marL="0" rtl="0" algn="l">
              <a:spcBef>
                <a:spcPts val="0"/>
              </a:spcBef>
              <a:spcAft>
                <a:spcPts val="0"/>
              </a:spcAft>
              <a:buNone/>
            </a:pPr>
            <a:r>
              <a:rPr lang="en-US">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94" name="Google Shape;194;g3e27c63ab70_0_116"/>
          <p:cNvSpPr txBox="1"/>
          <p:nvPr>
            <p:ph idx="2" type="body"/>
          </p:nvPr>
        </p:nvSpPr>
        <p:spPr>
          <a:xfrm>
            <a:off x="4104300" y="1152475"/>
            <a:ext cx="3723600" cy="3603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US">
                <a:solidFill>
                  <a:schemeClr val="dk1"/>
                </a:solidFill>
              </a:rPr>
              <a:t>            </a:t>
            </a:r>
            <a:r>
              <a:rPr lang="en-US">
                <a:solidFill>
                  <a:schemeClr val="dk1"/>
                </a:solidFill>
              </a:rPr>
              <a:t>    Math.max(prefix, suffix));</a:t>
            </a:r>
            <a:endParaRPr>
              <a:solidFill>
                <a:schemeClr val="dk1"/>
              </a:solidFill>
            </a:endParaRPr>
          </a:p>
          <a:p>
            <a:pPr indent="0" lvl="0" marL="0" rtl="0" algn="l">
              <a:spcBef>
                <a:spcPts val="0"/>
              </a:spcBef>
              <a:spcAft>
                <a:spcPts val="0"/>
              </a:spcAft>
              <a:buNone/>
            </a:pPr>
            <a:r>
              <a:rPr lang="en-US">
                <a:solidFill>
                  <a:schemeClr val="dk1"/>
                </a:solidFill>
              </a:rPr>
              <a:t>        }</a:t>
            </a:r>
            <a:endParaRPr>
              <a:solidFill>
                <a:schemeClr val="dk1"/>
              </a:solidFill>
            </a:endParaRPr>
          </a:p>
          <a:p>
            <a:pPr indent="0" lvl="0" marL="0" rtl="0" algn="l">
              <a:spcBef>
                <a:spcPts val="0"/>
              </a:spcBef>
              <a:spcAft>
                <a:spcPts val="0"/>
              </a:spcAft>
              <a:buNone/>
            </a:pPr>
            <a:r>
              <a:rPr lang="en-US">
                <a:solidFill>
                  <a:schemeClr val="dk1"/>
                </a:solidFill>
              </a:rPr>
              <a:t>        return maxProduct;</a:t>
            </a:r>
            <a:endParaRPr>
              <a:solidFill>
                <a:schemeClr val="dk1"/>
              </a:solidFill>
            </a:endParaRPr>
          </a:p>
          <a:p>
            <a:pPr indent="0" lvl="0" marL="0" rtl="0" algn="l">
              <a:spcBef>
                <a:spcPts val="0"/>
              </a:spcBef>
              <a:spcAft>
                <a:spcPts val="0"/>
              </a:spcAft>
              <a:buNone/>
            </a:pP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public static void main(String[] args)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Scanner sc = new Scanner(System.in);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n = sc.nextInt();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arr = new int[n];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for (int i = 0; i &lt; n; i++)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arr[i] = sc.nextInt();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System.out.println("Maximum Product Subarray: " + maxProduct(arr, 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95" name="Google Shape;195;g3e27c63ab70_0_116"/>
          <p:cNvSpPr txBox="1"/>
          <p:nvPr/>
        </p:nvSpPr>
        <p:spPr>
          <a:xfrm>
            <a:off x="4726500" y="3995175"/>
            <a:ext cx="2479200" cy="648000"/>
          </a:xfrm>
          <a:prstGeom prst="rect">
            <a:avLst/>
          </a:prstGeom>
          <a:noFill/>
          <a:ln cap="flat" cmpd="sng" w="38100">
            <a:solidFill>
              <a:srgbClr val="8474F5"/>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US">
                <a:solidFill>
                  <a:schemeClr val="dk1"/>
                </a:solidFill>
                <a:latin typeface="Roboto"/>
                <a:ea typeface="Roboto"/>
                <a:cs typeface="Roboto"/>
                <a:sym typeface="Roboto"/>
              </a:rPr>
              <a:t>   Time Complexity : O(N)</a:t>
            </a:r>
            <a:br>
              <a:rPr b="1" lang="en-US">
                <a:solidFill>
                  <a:schemeClr val="dk1"/>
                </a:solidFill>
                <a:latin typeface="Roboto"/>
                <a:ea typeface="Roboto"/>
                <a:cs typeface="Roboto"/>
                <a:sym typeface="Roboto"/>
              </a:rPr>
            </a:br>
            <a:r>
              <a:rPr b="1" lang="en-US">
                <a:solidFill>
                  <a:schemeClr val="dk1"/>
                </a:solidFill>
                <a:latin typeface="Roboto"/>
                <a:ea typeface="Roboto"/>
                <a:cs typeface="Roboto"/>
                <a:sym typeface="Roboto"/>
              </a:rPr>
              <a:t>   Space Complexity : O(1)</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e27c63ab70_0_135"/>
          <p:cNvSpPr txBox="1"/>
          <p:nvPr>
            <p:ph type="title"/>
          </p:nvPr>
        </p:nvSpPr>
        <p:spPr>
          <a:xfrm>
            <a:off x="311750" y="380100"/>
            <a:ext cx="7581000" cy="4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8474F5"/>
                </a:solidFill>
              </a:rPr>
              <a:t>Dynamic Programming Approach - Maximum Product Subarray</a:t>
            </a:r>
            <a:endParaRPr b="1" sz="2000">
              <a:solidFill>
                <a:srgbClr val="8474F5"/>
              </a:solidFill>
            </a:endParaRPr>
          </a:p>
        </p:txBody>
      </p:sp>
      <p:sp>
        <p:nvSpPr>
          <p:cNvPr id="201" name="Google Shape;201;g3e27c63ab70_0_135"/>
          <p:cNvSpPr txBox="1"/>
          <p:nvPr>
            <p:ph idx="1" type="body"/>
          </p:nvPr>
        </p:nvSpPr>
        <p:spPr>
          <a:xfrm>
            <a:off x="357200" y="1011775"/>
            <a:ext cx="7490100" cy="37119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1100"/>
              <a:buFont typeface="Arial"/>
              <a:buNone/>
            </a:pPr>
            <a:r>
              <a:rPr b="1" lang="en-US" sz="1400">
                <a:solidFill>
                  <a:schemeClr val="dk1"/>
                </a:solidFill>
              </a:rPr>
              <a:t>Algorithmic Steps</a:t>
            </a:r>
            <a:endParaRPr b="1" sz="1400">
              <a:solidFill>
                <a:schemeClr val="dk1"/>
              </a:solidFill>
            </a:endParaRPr>
          </a:p>
          <a:p>
            <a:pPr indent="-317500" lvl="0" marL="457200" rtl="0" algn="l">
              <a:spcBef>
                <a:spcPts val="1200"/>
              </a:spcBef>
              <a:spcAft>
                <a:spcPts val="0"/>
              </a:spcAft>
              <a:buSzPts val="1400"/>
              <a:buFont typeface="Roboto"/>
              <a:buAutoNum type="arabicPeriod"/>
            </a:pPr>
            <a:r>
              <a:rPr lang="en-US" sz="1400">
                <a:solidFill>
                  <a:schemeClr val="dk1"/>
                </a:solidFill>
              </a:rPr>
              <a:t>Read array elements.</a:t>
            </a:r>
            <a:endParaRPr sz="1400">
              <a:solidFill>
                <a:schemeClr val="dk1"/>
              </a:solidFill>
            </a:endParaRPr>
          </a:p>
          <a:p>
            <a:pPr indent="-317500" lvl="0" marL="457200" rtl="0" algn="l">
              <a:spcBef>
                <a:spcPts val="0"/>
              </a:spcBef>
              <a:spcAft>
                <a:spcPts val="0"/>
              </a:spcAft>
              <a:buSzPts val="1400"/>
              <a:buFont typeface="Roboto"/>
              <a:buAutoNum type="arabicPeriod"/>
            </a:pPr>
            <a:r>
              <a:rPr lang="en-US" sz="1400">
                <a:solidFill>
                  <a:schemeClr val="dk1"/>
                </a:solidFill>
              </a:rPr>
              <a:t>Initialize:</a:t>
            </a:r>
            <a:endParaRPr sz="1400">
              <a:solidFill>
                <a:schemeClr val="dk1"/>
              </a:solidFill>
            </a:endParaRPr>
          </a:p>
          <a:p>
            <a:pPr indent="-317500" lvl="1" marL="914400" rtl="0" algn="l">
              <a:spcBef>
                <a:spcPts val="0"/>
              </a:spcBef>
              <a:spcAft>
                <a:spcPts val="0"/>
              </a:spcAft>
              <a:buSzPts val="1400"/>
              <a:buFont typeface="Roboto"/>
              <a:buChar char="○"/>
            </a:pPr>
            <a:r>
              <a:rPr lang="en-US">
                <a:solidFill>
                  <a:schemeClr val="dk1"/>
                </a:solidFill>
                <a:latin typeface="Roboto"/>
                <a:ea typeface="Roboto"/>
                <a:cs typeface="Roboto"/>
                <a:sym typeface="Roboto"/>
              </a:rPr>
              <a:t>maxEnding</a:t>
            </a:r>
            <a:endParaRPr>
              <a:solidFill>
                <a:schemeClr val="dk1"/>
              </a:solidFill>
              <a:latin typeface="Roboto"/>
              <a:ea typeface="Roboto"/>
              <a:cs typeface="Roboto"/>
              <a:sym typeface="Roboto"/>
            </a:endParaRPr>
          </a:p>
          <a:p>
            <a:pPr indent="-317500" lvl="1" marL="914400" rtl="0" algn="l">
              <a:spcBef>
                <a:spcPts val="0"/>
              </a:spcBef>
              <a:spcAft>
                <a:spcPts val="0"/>
              </a:spcAft>
              <a:buSzPts val="1400"/>
              <a:buFont typeface="Roboto"/>
              <a:buChar char="○"/>
            </a:pPr>
            <a:r>
              <a:rPr lang="en-US">
                <a:solidFill>
                  <a:schemeClr val="dk1"/>
                </a:solidFill>
                <a:latin typeface="Roboto"/>
                <a:ea typeface="Roboto"/>
                <a:cs typeface="Roboto"/>
                <a:sym typeface="Roboto"/>
              </a:rPr>
              <a:t>minEnding</a:t>
            </a:r>
            <a:endParaRPr>
              <a:solidFill>
                <a:schemeClr val="dk1"/>
              </a:solidFill>
              <a:latin typeface="Roboto"/>
              <a:ea typeface="Roboto"/>
              <a:cs typeface="Roboto"/>
              <a:sym typeface="Roboto"/>
            </a:endParaRPr>
          </a:p>
          <a:p>
            <a:pPr indent="-317500" lvl="1" marL="914400" rtl="0" algn="l">
              <a:spcBef>
                <a:spcPts val="0"/>
              </a:spcBef>
              <a:spcAft>
                <a:spcPts val="0"/>
              </a:spcAft>
              <a:buSzPts val="1400"/>
              <a:buFont typeface="Roboto"/>
              <a:buChar char="○"/>
            </a:pPr>
            <a:r>
              <a:rPr lang="en-US">
                <a:solidFill>
                  <a:schemeClr val="dk1"/>
                </a:solidFill>
                <a:latin typeface="Roboto"/>
                <a:ea typeface="Roboto"/>
                <a:cs typeface="Roboto"/>
                <a:sym typeface="Roboto"/>
              </a:rPr>
              <a:t>result</a:t>
            </a:r>
            <a:endParaRPr>
              <a:solidFill>
                <a:schemeClr val="dk1"/>
              </a:solidFill>
              <a:latin typeface="Roboto"/>
              <a:ea typeface="Roboto"/>
              <a:cs typeface="Roboto"/>
              <a:sym typeface="Roboto"/>
            </a:endParaRPr>
          </a:p>
          <a:p>
            <a:pPr indent="-317500" lvl="0" marL="457200" rtl="0" algn="l">
              <a:spcBef>
                <a:spcPts val="0"/>
              </a:spcBef>
              <a:spcAft>
                <a:spcPts val="0"/>
              </a:spcAft>
              <a:buSzPts val="1400"/>
              <a:buAutoNum type="arabicPeriod"/>
            </a:pPr>
            <a:r>
              <a:rPr lang="en-US" sz="1400">
                <a:solidFill>
                  <a:schemeClr val="dk1"/>
                </a:solidFill>
              </a:rPr>
              <a:t>Traverse array from index 1.</a:t>
            </a:r>
            <a:endParaRPr sz="1400">
              <a:solidFill>
                <a:schemeClr val="dk1"/>
              </a:solidFill>
            </a:endParaRPr>
          </a:p>
          <a:p>
            <a:pPr indent="-317500" lvl="0" marL="457200" rtl="0" algn="l">
              <a:spcBef>
                <a:spcPts val="0"/>
              </a:spcBef>
              <a:spcAft>
                <a:spcPts val="0"/>
              </a:spcAft>
              <a:buSzPts val="1400"/>
              <a:buFont typeface="Roboto"/>
              <a:buAutoNum type="arabicPeriod"/>
            </a:pPr>
            <a:r>
              <a:rPr lang="en-US" sz="1400">
                <a:solidFill>
                  <a:schemeClr val="dk1"/>
                </a:solidFill>
              </a:rPr>
              <a:t>If current element is negative:</a:t>
            </a:r>
            <a:endParaRPr sz="1400">
              <a:solidFill>
                <a:schemeClr val="dk1"/>
              </a:solidFill>
            </a:endParaRPr>
          </a:p>
          <a:p>
            <a:pPr indent="-317500" lvl="1" marL="914400" rtl="0" algn="l">
              <a:spcBef>
                <a:spcPts val="0"/>
              </a:spcBef>
              <a:spcAft>
                <a:spcPts val="0"/>
              </a:spcAft>
              <a:buSzPts val="1400"/>
              <a:buFont typeface="Roboto"/>
              <a:buChar char="○"/>
            </a:pPr>
            <a:r>
              <a:rPr lang="en-US">
                <a:solidFill>
                  <a:schemeClr val="dk1"/>
                </a:solidFill>
                <a:latin typeface="Roboto"/>
                <a:ea typeface="Roboto"/>
                <a:cs typeface="Roboto"/>
                <a:sym typeface="Roboto"/>
              </a:rPr>
              <a:t>Swap maximum and minimum products.</a:t>
            </a:r>
            <a:endParaRPr>
              <a:solidFill>
                <a:schemeClr val="dk1"/>
              </a:solidFill>
              <a:latin typeface="Roboto"/>
              <a:ea typeface="Roboto"/>
              <a:cs typeface="Roboto"/>
              <a:sym typeface="Roboto"/>
            </a:endParaRPr>
          </a:p>
          <a:p>
            <a:pPr indent="-317500" lvl="0" marL="457200" rtl="0" algn="l">
              <a:spcBef>
                <a:spcPts val="0"/>
              </a:spcBef>
              <a:spcAft>
                <a:spcPts val="0"/>
              </a:spcAft>
              <a:buSzPts val="1400"/>
              <a:buFont typeface="Roboto"/>
              <a:buAutoNum type="arabicPeriod"/>
            </a:pPr>
            <a:r>
              <a:rPr lang="en-US" sz="1400">
                <a:solidFill>
                  <a:schemeClr val="dk1"/>
                </a:solidFill>
              </a:rPr>
              <a:t>Update:</a:t>
            </a:r>
            <a:endParaRPr sz="1400">
              <a:solidFill>
                <a:schemeClr val="dk1"/>
              </a:solidFill>
            </a:endParaRPr>
          </a:p>
          <a:p>
            <a:pPr indent="-317500" lvl="1" marL="914400" rtl="0" algn="l">
              <a:spcBef>
                <a:spcPts val="0"/>
              </a:spcBef>
              <a:spcAft>
                <a:spcPts val="0"/>
              </a:spcAft>
              <a:buSzPts val="1400"/>
              <a:buFont typeface="Roboto"/>
              <a:buChar char="○"/>
            </a:pPr>
            <a:r>
              <a:rPr lang="en-US">
                <a:solidFill>
                  <a:schemeClr val="dk1"/>
                </a:solidFill>
                <a:latin typeface="Roboto"/>
                <a:ea typeface="Roboto"/>
                <a:cs typeface="Roboto"/>
                <a:sym typeface="Roboto"/>
              </a:rPr>
              <a:t>Current maximum product</a:t>
            </a:r>
            <a:endParaRPr>
              <a:solidFill>
                <a:schemeClr val="dk1"/>
              </a:solidFill>
              <a:latin typeface="Roboto"/>
              <a:ea typeface="Roboto"/>
              <a:cs typeface="Roboto"/>
              <a:sym typeface="Roboto"/>
            </a:endParaRPr>
          </a:p>
          <a:p>
            <a:pPr indent="-317500" lvl="1" marL="914400" rtl="0" algn="l">
              <a:spcBef>
                <a:spcPts val="0"/>
              </a:spcBef>
              <a:spcAft>
                <a:spcPts val="0"/>
              </a:spcAft>
              <a:buSzPts val="1400"/>
              <a:buFont typeface="Roboto"/>
              <a:buChar char="○"/>
            </a:pPr>
            <a:r>
              <a:rPr lang="en-US">
                <a:solidFill>
                  <a:schemeClr val="dk1"/>
                </a:solidFill>
                <a:latin typeface="Roboto"/>
                <a:ea typeface="Roboto"/>
                <a:cs typeface="Roboto"/>
                <a:sym typeface="Roboto"/>
              </a:rPr>
              <a:t>Current minimum product</a:t>
            </a:r>
            <a:endParaRPr>
              <a:solidFill>
                <a:schemeClr val="dk1"/>
              </a:solidFill>
              <a:latin typeface="Roboto"/>
              <a:ea typeface="Roboto"/>
              <a:cs typeface="Roboto"/>
              <a:sym typeface="Roboto"/>
            </a:endParaRPr>
          </a:p>
          <a:p>
            <a:pPr indent="-317500" lvl="0" marL="457200" rtl="0" algn="l">
              <a:spcBef>
                <a:spcPts val="0"/>
              </a:spcBef>
              <a:spcAft>
                <a:spcPts val="0"/>
              </a:spcAft>
              <a:buSzPts val="1400"/>
              <a:buFont typeface="Roboto"/>
              <a:buAutoNum type="arabicPeriod"/>
            </a:pPr>
            <a:r>
              <a:rPr lang="en-US" sz="1400">
                <a:solidFill>
                  <a:schemeClr val="dk1"/>
                </a:solidFill>
              </a:rPr>
              <a:t>Update overall maximum product.</a:t>
            </a:r>
            <a:endParaRPr sz="1400">
              <a:solidFill>
                <a:schemeClr val="dk1"/>
              </a:solidFill>
            </a:endParaRPr>
          </a:p>
          <a:p>
            <a:pPr indent="-317500" lvl="0" marL="457200" rtl="0" algn="l">
              <a:spcBef>
                <a:spcPts val="0"/>
              </a:spcBef>
              <a:spcAft>
                <a:spcPts val="0"/>
              </a:spcAft>
              <a:buSzPts val="1400"/>
              <a:buFont typeface="Roboto"/>
              <a:buAutoNum type="arabicPeriod"/>
            </a:pPr>
            <a:r>
              <a:rPr lang="en-US" sz="1400">
                <a:solidFill>
                  <a:schemeClr val="dk1"/>
                </a:solidFill>
              </a:rPr>
              <a:t>Print final answer.</a:t>
            </a:r>
            <a:endParaRPr sz="1400">
              <a:solidFill>
                <a:schemeClr val="dk1"/>
              </a:solidFill>
            </a:endParaRPr>
          </a:p>
          <a:p>
            <a:pPr indent="0" lvl="0" marL="0" rtl="0" algn="l">
              <a:spcBef>
                <a:spcPts val="1200"/>
              </a:spcBef>
              <a:spcAft>
                <a:spcPts val="0"/>
              </a:spcAft>
              <a:buNone/>
            </a:pPr>
            <a:r>
              <a:t/>
            </a:r>
            <a:endParaRPr sz="1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e27c63ab70_0_143"/>
          <p:cNvSpPr txBox="1"/>
          <p:nvPr>
            <p:ph type="title"/>
          </p:nvPr>
        </p:nvSpPr>
        <p:spPr>
          <a:xfrm>
            <a:off x="370175" y="445025"/>
            <a:ext cx="7295400" cy="446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000"/>
              <a:buFont typeface="Arial"/>
              <a:buNone/>
            </a:pPr>
            <a:r>
              <a:rPr b="1" lang="en-US" sz="2000">
                <a:solidFill>
                  <a:srgbClr val="8474F5"/>
                </a:solidFill>
              </a:rPr>
              <a:t>Dynamic Programming Approach - Maximum Product Subarray</a:t>
            </a:r>
            <a:endParaRPr b="1" sz="2000">
              <a:solidFill>
                <a:srgbClr val="8474F5"/>
              </a:solidFill>
            </a:endParaRPr>
          </a:p>
          <a:p>
            <a:pPr indent="0" lvl="0" marL="0" rtl="0" algn="l">
              <a:spcBef>
                <a:spcPts val="0"/>
              </a:spcBef>
              <a:spcAft>
                <a:spcPts val="0"/>
              </a:spcAft>
              <a:buNone/>
            </a:pPr>
            <a:r>
              <a:t/>
            </a:r>
            <a:endParaRPr/>
          </a:p>
        </p:txBody>
      </p:sp>
      <p:sp>
        <p:nvSpPr>
          <p:cNvPr id="207" name="Google Shape;207;g3e27c63ab70_0_143"/>
          <p:cNvSpPr txBox="1"/>
          <p:nvPr>
            <p:ph idx="1" type="body"/>
          </p:nvPr>
        </p:nvSpPr>
        <p:spPr>
          <a:xfrm>
            <a:off x="370175" y="978475"/>
            <a:ext cx="3701700" cy="3788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import java.util.Scanner;</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public class Main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public static int maxProduct(int[] arr, int n)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maxEnding = arr[0];</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minEnding = arr[0];</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result = arr[0];</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for (int i = 1; i &lt; n; i++)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if (arr[i] &lt; 0)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temp = maxEnding;</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maxEnding = minEnding;</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minEnding = temp;</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maxEnding = Math.max(arr[i],</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maxEnding * arr[i]);</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208" name="Google Shape;208;g3e27c63ab70_0_143"/>
          <p:cNvSpPr txBox="1"/>
          <p:nvPr>
            <p:ph idx="2" type="body"/>
          </p:nvPr>
        </p:nvSpPr>
        <p:spPr>
          <a:xfrm>
            <a:off x="4071875" y="978625"/>
            <a:ext cx="3756000" cy="3788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lang="en-US">
                <a:solidFill>
                  <a:schemeClr val="dk1"/>
                </a:solidFill>
              </a:rPr>
              <a:t>minEnding = Math.min(arr[i],</a:t>
            </a:r>
            <a:endParaRPr>
              <a:solidFill>
                <a:schemeClr val="dk1"/>
              </a:solidFill>
            </a:endParaRPr>
          </a:p>
          <a:p>
            <a:pPr indent="0" lvl="0" marL="0" rtl="0" algn="l">
              <a:lnSpc>
                <a:spcPct val="95000"/>
              </a:lnSpc>
              <a:spcBef>
                <a:spcPts val="0"/>
              </a:spcBef>
              <a:spcAft>
                <a:spcPts val="0"/>
              </a:spcAft>
              <a:buSzPts val="1018"/>
              <a:buNone/>
            </a:pPr>
            <a:r>
              <a:rPr lang="en-US">
                <a:solidFill>
                  <a:schemeClr val="dk1"/>
                </a:solidFill>
              </a:rPr>
              <a:t>                    minEnding * arr[i]);</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result = Math.max(result, maxEnding);</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return result;</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public static void main(String[] args) {</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Scanner sc = new Scanner(System.in);</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int n = sc.nextInt();</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int[] arr = new int[n];</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for (int i = 0; i &lt; n; i++) {</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arr[i] = sc.nextInt();</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System.out.println("Maximum Product Subarray: " + maxProduct(arr, n));</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    }</a:t>
            </a:r>
            <a:endParaRPr>
              <a:solidFill>
                <a:schemeClr val="dk1"/>
              </a:solidFill>
            </a:endParaRPr>
          </a:p>
          <a:p>
            <a:pPr indent="0" lvl="0" marL="0" rtl="0" algn="l">
              <a:lnSpc>
                <a:spcPct val="95000"/>
              </a:lnSpc>
              <a:spcBef>
                <a:spcPts val="0"/>
              </a:spcBef>
              <a:spcAft>
                <a:spcPts val="0"/>
              </a:spcAft>
              <a:buClr>
                <a:schemeClr val="dk1"/>
              </a:buClr>
              <a:buSzPts val="1018"/>
              <a:buFont typeface="Arial"/>
              <a:buNone/>
            </a:pPr>
            <a:r>
              <a:rPr lang="en-US">
                <a:solidFill>
                  <a:schemeClr val="dk1"/>
                </a:solidFill>
              </a:rPr>
              <a:t>}</a:t>
            </a:r>
            <a:endParaRPr>
              <a:solidFill>
                <a:schemeClr val="dk1"/>
              </a:solidFill>
            </a:endParaRPr>
          </a:p>
          <a:p>
            <a:pPr indent="0" lvl="0" marL="0" rtl="0" algn="l">
              <a:lnSpc>
                <a:spcPct val="95000"/>
              </a:lnSpc>
              <a:spcBef>
                <a:spcPts val="0"/>
              </a:spcBef>
              <a:spcAft>
                <a:spcPts val="0"/>
              </a:spcAft>
              <a:buSzPts val="1018"/>
              <a:buNone/>
            </a:pPr>
            <a:r>
              <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e27c63ab70_0_151"/>
          <p:cNvSpPr txBox="1"/>
          <p:nvPr>
            <p:ph type="title"/>
          </p:nvPr>
        </p:nvSpPr>
        <p:spPr>
          <a:xfrm>
            <a:off x="311700" y="445025"/>
            <a:ext cx="7646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8474F5"/>
                </a:solidFill>
              </a:rPr>
              <a:t>Time and Space Complexity - DP Approach</a:t>
            </a:r>
            <a:endParaRPr b="1" sz="2000">
              <a:solidFill>
                <a:srgbClr val="8474F5"/>
              </a:solidFill>
            </a:endParaRPr>
          </a:p>
        </p:txBody>
      </p:sp>
      <p:sp>
        <p:nvSpPr>
          <p:cNvPr id="214" name="Google Shape;214;g3e27c63ab70_0_151"/>
          <p:cNvSpPr txBox="1"/>
          <p:nvPr>
            <p:ph idx="1" type="body"/>
          </p:nvPr>
        </p:nvSpPr>
        <p:spPr>
          <a:xfrm>
            <a:off x="424300" y="1152475"/>
            <a:ext cx="72303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2400"/>
              </a:spcBef>
              <a:spcAft>
                <a:spcPts val="0"/>
              </a:spcAft>
              <a:buClr>
                <a:schemeClr val="dk1"/>
              </a:buClr>
              <a:buSzPts val="1100"/>
              <a:buFont typeface="Arial"/>
              <a:buNone/>
            </a:pPr>
            <a:r>
              <a:rPr b="1" lang="en-US" sz="1400">
                <a:solidFill>
                  <a:schemeClr val="dk1"/>
                </a:solidFill>
              </a:rPr>
              <a:t>Time Complexity: O(N)</a:t>
            </a:r>
            <a:endParaRPr b="1" sz="1400">
              <a:solidFill>
                <a:schemeClr val="dk1"/>
              </a:solidFill>
            </a:endParaRPr>
          </a:p>
          <a:p>
            <a:pPr indent="-317500" lvl="0" marL="457200" rtl="0" algn="l">
              <a:spcBef>
                <a:spcPts val="1200"/>
              </a:spcBef>
              <a:spcAft>
                <a:spcPts val="0"/>
              </a:spcAft>
              <a:buSzPts val="1400"/>
              <a:buFont typeface="Roboto"/>
              <a:buChar char="●"/>
            </a:pPr>
            <a:r>
              <a:rPr lang="en-US" sz="1400">
                <a:solidFill>
                  <a:schemeClr val="dk1"/>
                </a:solidFill>
              </a:rPr>
              <a:t>Array is traversed only once.</a:t>
            </a:r>
            <a:endParaRPr sz="1400">
              <a:solidFill>
                <a:schemeClr val="dk1"/>
              </a:solidFill>
            </a:endParaRPr>
          </a:p>
          <a:p>
            <a:pPr indent="-317500" lvl="0" marL="457200" rtl="0" algn="l">
              <a:spcBef>
                <a:spcPts val="0"/>
              </a:spcBef>
              <a:spcAft>
                <a:spcPts val="0"/>
              </a:spcAft>
              <a:buSzPts val="1400"/>
              <a:buFont typeface="Roboto"/>
              <a:buChar char="●"/>
            </a:pPr>
            <a:r>
              <a:rPr lang="en-US" sz="1400">
                <a:solidFill>
                  <a:schemeClr val="dk1"/>
                </a:solidFill>
              </a:rPr>
              <a:t>Each element is processed in constant time.</a:t>
            </a:r>
            <a:endParaRPr sz="1400">
              <a:solidFill>
                <a:schemeClr val="dk1"/>
              </a:solidFill>
            </a:endParaRPr>
          </a:p>
          <a:p>
            <a:pPr indent="0" lvl="0" marL="0" rtl="0" algn="l">
              <a:spcBef>
                <a:spcPts val="2400"/>
              </a:spcBef>
              <a:spcAft>
                <a:spcPts val="0"/>
              </a:spcAft>
              <a:buClr>
                <a:schemeClr val="dk1"/>
              </a:buClr>
              <a:buSzPts val="1100"/>
              <a:buFont typeface="Arial"/>
              <a:buNone/>
            </a:pPr>
            <a:r>
              <a:rPr b="1" lang="en-US" sz="1400">
                <a:solidFill>
                  <a:schemeClr val="dk1"/>
                </a:solidFill>
              </a:rPr>
              <a:t>Space Complexity: O(1)</a:t>
            </a:r>
            <a:endParaRPr b="1" sz="1400">
              <a:solidFill>
                <a:schemeClr val="dk1"/>
              </a:solidFill>
            </a:endParaRPr>
          </a:p>
          <a:p>
            <a:pPr indent="-317500" lvl="0" marL="457200" rtl="0" algn="l">
              <a:spcBef>
                <a:spcPts val="1200"/>
              </a:spcBef>
              <a:spcAft>
                <a:spcPts val="0"/>
              </a:spcAft>
              <a:buSzPts val="1400"/>
              <a:buFont typeface="Roboto"/>
              <a:buChar char="●"/>
            </a:pPr>
            <a:r>
              <a:rPr lang="en-US" sz="1400">
                <a:solidFill>
                  <a:schemeClr val="dk1"/>
                </a:solidFill>
              </a:rPr>
              <a:t>Uses only a few variables.</a:t>
            </a:r>
            <a:endParaRPr sz="1400">
              <a:solidFill>
                <a:schemeClr val="dk1"/>
              </a:solidFill>
            </a:endParaRPr>
          </a:p>
          <a:p>
            <a:pPr indent="-317500" lvl="0" marL="457200" rtl="0" algn="l">
              <a:spcBef>
                <a:spcPts val="0"/>
              </a:spcBef>
              <a:spcAft>
                <a:spcPts val="0"/>
              </a:spcAft>
              <a:buSzPts val="1400"/>
              <a:buFont typeface="Roboto"/>
              <a:buChar char="●"/>
            </a:pPr>
            <a:r>
              <a:rPr lang="en-US" sz="1400">
                <a:solidFill>
                  <a:schemeClr val="dk1"/>
                </a:solidFill>
              </a:rPr>
              <a:t>No extra array or data structure is used.</a:t>
            </a:r>
            <a:endParaRPr sz="1400">
              <a:solidFill>
                <a:schemeClr val="dk1"/>
              </a:solidFill>
            </a:endParaRPr>
          </a:p>
          <a:p>
            <a:pPr indent="0" lvl="0" marL="0" rtl="0" algn="l">
              <a:spcBef>
                <a:spcPts val="1200"/>
              </a:spcBef>
              <a:spcAft>
                <a:spcPts val="0"/>
              </a:spcAft>
              <a:buNone/>
            </a:pPr>
            <a:r>
              <a:t/>
            </a:r>
            <a:endParaRPr sz="1400"/>
          </a:p>
        </p:txBody>
      </p:sp>
      <p:sp>
        <p:nvSpPr>
          <p:cNvPr id="215" name="Google Shape;215;g3e27c63ab70_0_151"/>
          <p:cNvSpPr txBox="1"/>
          <p:nvPr/>
        </p:nvSpPr>
        <p:spPr>
          <a:xfrm>
            <a:off x="2405375" y="3538475"/>
            <a:ext cx="2544600" cy="761100"/>
          </a:xfrm>
          <a:prstGeom prst="rect">
            <a:avLst/>
          </a:prstGeom>
          <a:noFill/>
          <a:ln cap="flat" cmpd="sng" w="38100">
            <a:solidFill>
              <a:srgbClr val="8474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US">
                <a:solidFill>
                  <a:schemeClr val="dk1"/>
                </a:solidFill>
                <a:latin typeface="Roboto"/>
                <a:ea typeface="Roboto"/>
                <a:cs typeface="Roboto"/>
                <a:sym typeface="Roboto"/>
              </a:rPr>
              <a:t>Time Complexity : O(N)</a:t>
            </a:r>
            <a:br>
              <a:rPr b="1" lang="en-US">
                <a:solidFill>
                  <a:schemeClr val="dk1"/>
                </a:solidFill>
                <a:latin typeface="Roboto"/>
                <a:ea typeface="Roboto"/>
                <a:cs typeface="Roboto"/>
                <a:sym typeface="Roboto"/>
              </a:rPr>
            </a:br>
            <a:r>
              <a:rPr b="1" lang="en-US">
                <a:solidFill>
                  <a:schemeClr val="dk1"/>
                </a:solidFill>
                <a:latin typeface="Roboto"/>
                <a:ea typeface="Roboto"/>
                <a:cs typeface="Roboto"/>
                <a:sym typeface="Roboto"/>
              </a:rPr>
              <a:t>   Space Complexity : O(1)</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e27c63ab70_0_159"/>
          <p:cNvSpPr txBox="1"/>
          <p:nvPr>
            <p:ph type="title"/>
          </p:nvPr>
        </p:nvSpPr>
        <p:spPr>
          <a:xfrm>
            <a:off x="413475" y="445025"/>
            <a:ext cx="73278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600"/>
              </a:spcAft>
              <a:buClr>
                <a:schemeClr val="dk1"/>
              </a:buClr>
              <a:buSzPts val="1100"/>
              <a:buFont typeface="Arial"/>
              <a:buNone/>
            </a:pPr>
            <a:r>
              <a:rPr b="1" lang="en-US" sz="2000">
                <a:solidFill>
                  <a:srgbClr val="8474F5"/>
                </a:solidFill>
              </a:rPr>
              <a:t>Why DP Approach is Efficient ?</a:t>
            </a:r>
            <a:endParaRPr b="1" sz="2000">
              <a:solidFill>
                <a:srgbClr val="8474F5"/>
              </a:solidFill>
            </a:endParaRPr>
          </a:p>
        </p:txBody>
      </p:sp>
      <p:sp>
        <p:nvSpPr>
          <p:cNvPr id="221" name="Google Shape;221;g3e27c63ab70_0_159"/>
          <p:cNvSpPr txBox="1"/>
          <p:nvPr>
            <p:ph idx="1" type="body"/>
          </p:nvPr>
        </p:nvSpPr>
        <p:spPr>
          <a:xfrm>
            <a:off x="413475" y="1152475"/>
            <a:ext cx="37971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lnSpc>
                <a:spcPct val="200000"/>
              </a:lnSpc>
              <a:spcBef>
                <a:spcPts val="1200"/>
              </a:spcBef>
              <a:spcAft>
                <a:spcPts val="0"/>
              </a:spcAft>
              <a:buClr>
                <a:schemeClr val="dk1"/>
              </a:buClr>
              <a:buSzPts val="1400"/>
              <a:buFont typeface="Roboto"/>
              <a:buChar char="●"/>
            </a:pPr>
            <a:r>
              <a:rPr lang="en-US" sz="1400">
                <a:solidFill>
                  <a:schemeClr val="dk1"/>
                </a:solidFill>
              </a:rPr>
              <a:t>Handles negative numbers efficiently.</a:t>
            </a:r>
            <a:endParaRPr sz="1400">
              <a:solidFill>
                <a:schemeClr val="dk1"/>
              </a:solidFill>
            </a:endParaRPr>
          </a:p>
          <a:p>
            <a:pPr indent="-317500" lvl="0" marL="457200" rtl="0" algn="l">
              <a:lnSpc>
                <a:spcPct val="200000"/>
              </a:lnSpc>
              <a:spcBef>
                <a:spcPts val="0"/>
              </a:spcBef>
              <a:spcAft>
                <a:spcPts val="0"/>
              </a:spcAft>
              <a:buClr>
                <a:schemeClr val="dk1"/>
              </a:buClr>
              <a:buSzPts val="1400"/>
              <a:buFont typeface="Roboto"/>
              <a:buChar char="●"/>
            </a:pPr>
            <a:r>
              <a:rPr lang="en-US" sz="1400">
                <a:solidFill>
                  <a:schemeClr val="dk1"/>
                </a:solidFill>
              </a:rPr>
              <a:t>Works correctly even with zeros.</a:t>
            </a:r>
            <a:endParaRPr sz="1400">
              <a:solidFill>
                <a:schemeClr val="dk1"/>
              </a:solidFill>
            </a:endParaRPr>
          </a:p>
          <a:p>
            <a:pPr indent="-317500" lvl="0" marL="457200" rtl="0" algn="l">
              <a:lnSpc>
                <a:spcPct val="200000"/>
              </a:lnSpc>
              <a:spcBef>
                <a:spcPts val="0"/>
              </a:spcBef>
              <a:spcAft>
                <a:spcPts val="0"/>
              </a:spcAft>
              <a:buClr>
                <a:schemeClr val="dk1"/>
              </a:buClr>
              <a:buSzPts val="1400"/>
              <a:buFont typeface="Roboto"/>
              <a:buChar char="●"/>
            </a:pPr>
            <a:r>
              <a:rPr lang="en-US" sz="1400">
                <a:solidFill>
                  <a:schemeClr val="dk1"/>
                </a:solidFill>
              </a:rPr>
              <a:t>Finds answer in a single traversal.</a:t>
            </a:r>
            <a:endParaRPr sz="1400">
              <a:solidFill>
                <a:schemeClr val="dk1"/>
              </a:solidFill>
            </a:endParaRPr>
          </a:p>
          <a:p>
            <a:pPr indent="-317500" lvl="0" marL="457200" rtl="0" algn="l">
              <a:lnSpc>
                <a:spcPct val="200000"/>
              </a:lnSpc>
              <a:spcBef>
                <a:spcPts val="0"/>
              </a:spcBef>
              <a:spcAft>
                <a:spcPts val="0"/>
              </a:spcAft>
              <a:buClr>
                <a:schemeClr val="dk1"/>
              </a:buClr>
              <a:buSzPts val="1400"/>
              <a:buFont typeface="Roboto"/>
              <a:buChar char="●"/>
            </a:pPr>
            <a:r>
              <a:rPr lang="en-US" sz="1400">
                <a:solidFill>
                  <a:schemeClr val="dk1"/>
                </a:solidFill>
              </a:rPr>
              <a:t>Uses constant extra memory.</a:t>
            </a:r>
            <a:endParaRPr sz="1400">
              <a:solidFill>
                <a:schemeClr val="dk1"/>
              </a:solidFill>
            </a:endParaRPr>
          </a:p>
          <a:p>
            <a:pPr indent="-317500" lvl="0" marL="457200" rtl="0" algn="l">
              <a:lnSpc>
                <a:spcPct val="200000"/>
              </a:lnSpc>
              <a:spcBef>
                <a:spcPts val="0"/>
              </a:spcBef>
              <a:spcAft>
                <a:spcPts val="0"/>
              </a:spcAft>
              <a:buClr>
                <a:schemeClr val="dk1"/>
              </a:buClr>
              <a:buSzPts val="1400"/>
              <a:buFont typeface="Roboto"/>
              <a:buChar char="●"/>
            </a:pPr>
            <a:r>
              <a:rPr lang="en-US" sz="1400">
                <a:solidFill>
                  <a:schemeClr val="dk1"/>
                </a:solidFill>
              </a:rPr>
              <a:t>Best approach for interviews and coding platforms.</a:t>
            </a:r>
            <a:endParaRPr sz="1400">
              <a:solidFill>
                <a:schemeClr val="dk1"/>
              </a:solidFill>
            </a:endParaRPr>
          </a:p>
          <a:p>
            <a:pPr indent="0" lvl="0" marL="0" rtl="0" algn="l">
              <a:spcBef>
                <a:spcPts val="1200"/>
              </a:spcBef>
              <a:spcAft>
                <a:spcPts val="0"/>
              </a:spcAft>
              <a:buNone/>
            </a:pPr>
            <a:r>
              <a:t/>
            </a:r>
            <a:endParaRPr/>
          </a:p>
        </p:txBody>
      </p:sp>
      <p:pic>
        <p:nvPicPr>
          <p:cNvPr id="222" name="Google Shape;222;g3e27c63ab70_0_159"/>
          <p:cNvPicPr preferRelativeResize="0"/>
          <p:nvPr/>
        </p:nvPicPr>
        <p:blipFill>
          <a:blip r:embed="rId3">
            <a:alphaModFix/>
          </a:blip>
          <a:stretch>
            <a:fillRect/>
          </a:stretch>
        </p:blipFill>
        <p:spPr>
          <a:xfrm>
            <a:off x="4210575" y="1152475"/>
            <a:ext cx="3784149" cy="341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e27c63ab70_0_165"/>
          <p:cNvSpPr txBox="1"/>
          <p:nvPr>
            <p:ph type="title"/>
          </p:nvPr>
        </p:nvSpPr>
        <p:spPr>
          <a:xfrm>
            <a:off x="445950" y="445025"/>
            <a:ext cx="75117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US" sz="2000">
                <a:solidFill>
                  <a:srgbClr val="8474F5"/>
                </a:solidFill>
              </a:rPr>
              <a:t>Real-Time Applications of Maximum Product Subarray</a:t>
            </a:r>
            <a:endParaRPr b="1" sz="2000">
              <a:solidFill>
                <a:srgbClr val="8474F5"/>
              </a:solidFill>
            </a:endParaRPr>
          </a:p>
          <a:p>
            <a:pPr indent="0" lvl="0" marL="0" rtl="0" algn="ctr">
              <a:spcBef>
                <a:spcPts val="600"/>
              </a:spcBef>
              <a:spcAft>
                <a:spcPts val="0"/>
              </a:spcAft>
              <a:buNone/>
            </a:pPr>
            <a:r>
              <a:t/>
            </a:r>
            <a:endParaRPr sz="2000"/>
          </a:p>
        </p:txBody>
      </p:sp>
      <p:sp>
        <p:nvSpPr>
          <p:cNvPr id="228" name="Google Shape;228;g3e27c63ab70_0_165"/>
          <p:cNvSpPr txBox="1"/>
          <p:nvPr>
            <p:ph idx="1" type="body"/>
          </p:nvPr>
        </p:nvSpPr>
        <p:spPr>
          <a:xfrm>
            <a:off x="445950" y="1152475"/>
            <a:ext cx="7511700" cy="3416400"/>
          </a:xfrm>
          <a:prstGeom prst="rect">
            <a:avLst/>
          </a:prstGeom>
        </p:spPr>
        <p:txBody>
          <a:bodyPr anchorCtr="0" anchor="t" bIns="91425" lIns="91425" spcFirstLastPara="1" rIns="91425" wrap="square" tIns="91425">
            <a:noAutofit/>
          </a:bodyPr>
          <a:lstStyle/>
          <a:p>
            <a:pPr indent="-317500" lvl="0" marL="457200" rtl="0" algn="l">
              <a:lnSpc>
                <a:spcPct val="200000"/>
              </a:lnSpc>
              <a:spcBef>
                <a:spcPts val="1200"/>
              </a:spcBef>
              <a:spcAft>
                <a:spcPts val="0"/>
              </a:spcAft>
              <a:buSzPts val="1400"/>
              <a:buFont typeface="Roboto"/>
              <a:buChar char="●"/>
            </a:pPr>
            <a:r>
              <a:rPr lang="en-US" sz="1400">
                <a:solidFill>
                  <a:schemeClr val="dk1"/>
                </a:solidFill>
              </a:rPr>
              <a:t>Stock market analysis → Finding maximum profit growth period</a:t>
            </a:r>
            <a:endParaRPr sz="1400">
              <a:solidFill>
                <a:schemeClr val="dk1"/>
              </a:solidFill>
            </a:endParaRPr>
          </a:p>
          <a:p>
            <a:pPr indent="-317500" lvl="0" marL="457200" rtl="0" algn="l">
              <a:lnSpc>
                <a:spcPct val="200000"/>
              </a:lnSpc>
              <a:spcBef>
                <a:spcPts val="0"/>
              </a:spcBef>
              <a:spcAft>
                <a:spcPts val="0"/>
              </a:spcAft>
              <a:buSzPts val="1400"/>
              <a:buFont typeface="Roboto"/>
              <a:buChar char="●"/>
            </a:pPr>
            <a:r>
              <a:rPr lang="en-US" sz="1400">
                <a:solidFill>
                  <a:schemeClr val="dk1"/>
                </a:solidFill>
              </a:rPr>
              <a:t>Business analytics → Identifying highest revenue product sequence</a:t>
            </a:r>
            <a:endParaRPr sz="1400">
              <a:solidFill>
                <a:schemeClr val="dk1"/>
              </a:solidFill>
            </a:endParaRPr>
          </a:p>
          <a:p>
            <a:pPr indent="-317500" lvl="0" marL="457200" rtl="0" algn="l">
              <a:lnSpc>
                <a:spcPct val="200000"/>
              </a:lnSpc>
              <a:spcBef>
                <a:spcPts val="0"/>
              </a:spcBef>
              <a:spcAft>
                <a:spcPts val="0"/>
              </a:spcAft>
              <a:buSzPts val="1400"/>
              <a:buFont typeface="Roboto"/>
              <a:buChar char="●"/>
            </a:pPr>
            <a:r>
              <a:rPr lang="en-US" sz="1400">
                <a:solidFill>
                  <a:schemeClr val="dk1"/>
                </a:solidFill>
              </a:rPr>
              <a:t>Signal processing → Detecting strongest continuous signal pattern</a:t>
            </a:r>
            <a:endParaRPr sz="1400">
              <a:solidFill>
                <a:schemeClr val="dk1"/>
              </a:solidFill>
            </a:endParaRPr>
          </a:p>
          <a:p>
            <a:pPr indent="-317500" lvl="0" marL="457200" rtl="0" algn="l">
              <a:lnSpc>
                <a:spcPct val="200000"/>
              </a:lnSpc>
              <a:spcBef>
                <a:spcPts val="0"/>
              </a:spcBef>
              <a:spcAft>
                <a:spcPts val="0"/>
              </a:spcAft>
              <a:buSzPts val="1400"/>
              <a:buFont typeface="Roboto"/>
              <a:buChar char="●"/>
            </a:pPr>
            <a:r>
              <a:rPr lang="en-US" sz="1400">
                <a:solidFill>
                  <a:schemeClr val="dk1"/>
                </a:solidFill>
              </a:rPr>
              <a:t>Image processing → Finding maximum intensity region</a:t>
            </a:r>
            <a:endParaRPr sz="1400">
              <a:solidFill>
                <a:schemeClr val="dk1"/>
              </a:solidFill>
            </a:endParaRPr>
          </a:p>
          <a:p>
            <a:pPr indent="-317500" lvl="0" marL="457200" rtl="0" algn="l">
              <a:lnSpc>
                <a:spcPct val="200000"/>
              </a:lnSpc>
              <a:spcBef>
                <a:spcPts val="0"/>
              </a:spcBef>
              <a:spcAft>
                <a:spcPts val="0"/>
              </a:spcAft>
              <a:buSzPts val="1400"/>
              <a:buFont typeface="Roboto"/>
              <a:buChar char="●"/>
            </a:pPr>
            <a:r>
              <a:rPr lang="en-US" sz="1400">
                <a:solidFill>
                  <a:schemeClr val="dk1"/>
                </a:solidFill>
              </a:rPr>
              <a:t>Machine learning → </a:t>
            </a:r>
            <a:r>
              <a:rPr lang="en-US" sz="1400">
                <a:solidFill>
                  <a:schemeClr val="dk1"/>
                </a:solidFill>
              </a:rPr>
              <a:t>Optimization</a:t>
            </a:r>
            <a:r>
              <a:rPr lang="en-US" sz="1400">
                <a:solidFill>
                  <a:schemeClr val="dk1"/>
                </a:solidFill>
              </a:rPr>
              <a:t> feature multiplication values</a:t>
            </a:r>
            <a:endParaRPr sz="1400">
              <a:solidFill>
                <a:schemeClr val="dk1"/>
              </a:solidFill>
            </a:endParaRPr>
          </a:p>
          <a:p>
            <a:pPr indent="-317500" lvl="0" marL="457200" rtl="0" algn="l">
              <a:lnSpc>
                <a:spcPct val="200000"/>
              </a:lnSpc>
              <a:spcBef>
                <a:spcPts val="0"/>
              </a:spcBef>
              <a:spcAft>
                <a:spcPts val="0"/>
              </a:spcAft>
              <a:buSzPts val="1400"/>
              <a:buFont typeface="Roboto"/>
              <a:buChar char="●"/>
            </a:pPr>
            <a:r>
              <a:rPr lang="en-US" sz="1400">
                <a:solidFill>
                  <a:schemeClr val="dk1"/>
                </a:solidFill>
              </a:rPr>
              <a:t>Financial forecasting → Analyzing compound growth intervals</a:t>
            </a:r>
            <a:endParaRPr sz="1400">
              <a:solidFill>
                <a:schemeClr val="dk1"/>
              </a:solidFill>
            </a:endParaRPr>
          </a:p>
          <a:p>
            <a:pPr indent="-317500" lvl="0" marL="457200" rtl="0" algn="l">
              <a:lnSpc>
                <a:spcPct val="200000"/>
              </a:lnSpc>
              <a:spcBef>
                <a:spcPts val="0"/>
              </a:spcBef>
              <a:spcAft>
                <a:spcPts val="0"/>
              </a:spcAft>
              <a:buSzPts val="1400"/>
              <a:buFont typeface="Roboto"/>
              <a:buChar char="●"/>
            </a:pPr>
            <a:r>
              <a:rPr lang="en-US" sz="1400">
                <a:solidFill>
                  <a:schemeClr val="dk1"/>
                </a:solidFill>
              </a:rPr>
              <a:t>Bioinformatics → Protein/DNA sequence pattern analysis</a:t>
            </a:r>
            <a:endParaRPr sz="1400">
              <a:solidFill>
                <a:schemeClr val="dk1"/>
              </a:solidFill>
            </a:endParaRPr>
          </a:p>
          <a:p>
            <a:pPr indent="-317500" lvl="0" marL="457200" rtl="0" algn="l">
              <a:lnSpc>
                <a:spcPct val="200000"/>
              </a:lnSpc>
              <a:spcBef>
                <a:spcPts val="0"/>
              </a:spcBef>
              <a:spcAft>
                <a:spcPts val="0"/>
              </a:spcAft>
              <a:buSzPts val="1400"/>
              <a:buFont typeface="Roboto"/>
              <a:buChar char="●"/>
            </a:pPr>
            <a:r>
              <a:rPr lang="en-US" sz="1400">
                <a:solidFill>
                  <a:schemeClr val="dk1"/>
                </a:solidFill>
              </a:rPr>
              <a:t>Sensor data analysis → Detecting maximum multiplication trends</a:t>
            </a:r>
            <a:endParaRPr sz="1400">
              <a:solidFill>
                <a:schemeClr val="dk1"/>
              </a:solidFill>
            </a:endParaRPr>
          </a:p>
          <a:p>
            <a:pPr indent="0" lvl="0" marL="0" rtl="0" algn="l">
              <a:lnSpc>
                <a:spcPct val="200000"/>
              </a:lnSpc>
              <a:spcBef>
                <a:spcPts val="1200"/>
              </a:spcBef>
              <a:spcAft>
                <a:spcPts val="0"/>
              </a:spcAft>
              <a:buNone/>
            </a:pPr>
            <a:r>
              <a:t/>
            </a:r>
            <a:endParaRPr sz="14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e27c63ab70_0_172"/>
          <p:cNvSpPr txBox="1"/>
          <p:nvPr>
            <p:ph type="title"/>
          </p:nvPr>
        </p:nvSpPr>
        <p:spPr>
          <a:xfrm>
            <a:off x="311700" y="445025"/>
            <a:ext cx="7516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US" sz="2000">
                <a:solidFill>
                  <a:srgbClr val="8474F5"/>
                </a:solidFill>
              </a:rPr>
              <a:t>AI Sensor Multiplication Pattern</a:t>
            </a:r>
            <a:endParaRPr b="1" sz="2000">
              <a:solidFill>
                <a:srgbClr val="8474F5"/>
              </a:solidFill>
            </a:endParaRPr>
          </a:p>
        </p:txBody>
      </p:sp>
      <p:sp>
        <p:nvSpPr>
          <p:cNvPr id="234" name="Google Shape;234;g3e27c63ab70_0_172"/>
          <p:cNvSpPr txBox="1"/>
          <p:nvPr>
            <p:ph idx="1" type="body"/>
          </p:nvPr>
        </p:nvSpPr>
        <p:spPr>
          <a:xfrm>
            <a:off x="424300" y="1017725"/>
            <a:ext cx="7251900" cy="35511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50000"/>
              </a:lnSpc>
              <a:spcBef>
                <a:spcPts val="0"/>
              </a:spcBef>
              <a:spcAft>
                <a:spcPts val="0"/>
              </a:spcAft>
              <a:buClr>
                <a:schemeClr val="dk1"/>
              </a:buClr>
              <a:buSzPts val="1100"/>
              <a:buFont typeface="Arial"/>
              <a:buNone/>
            </a:pPr>
            <a:r>
              <a:rPr b="1" lang="en-US">
                <a:solidFill>
                  <a:schemeClr val="dk1"/>
                </a:solidFill>
              </a:rPr>
              <a:t>Problem Statement                                                                                     </a:t>
            </a:r>
            <a:endParaRPr b="1">
              <a:solidFill>
                <a:schemeClr val="dk1"/>
              </a:solidFill>
              <a:highlight>
                <a:schemeClr val="lt1"/>
              </a:highlight>
            </a:endParaRPr>
          </a:p>
          <a:p>
            <a:pPr indent="0" lvl="0" marL="0" rtl="0" algn="l">
              <a:lnSpc>
                <a:spcPct val="150000"/>
              </a:lnSpc>
              <a:spcBef>
                <a:spcPts val="0"/>
              </a:spcBef>
              <a:spcAft>
                <a:spcPts val="0"/>
              </a:spcAft>
              <a:buClr>
                <a:schemeClr val="dk1"/>
              </a:buClr>
              <a:buSzPts val="1100"/>
              <a:buFont typeface="Arial"/>
              <a:buNone/>
            </a:pPr>
            <a:r>
              <a:rPr b="1" lang="en-US">
                <a:solidFill>
                  <a:schemeClr val="dk1"/>
                </a:solidFill>
              </a:rPr>
              <a:t>       </a:t>
            </a:r>
            <a:r>
              <a:rPr lang="en-US">
                <a:solidFill>
                  <a:schemeClr val="dk1"/>
                </a:solidFill>
              </a:rPr>
              <a:t>An AI-based monitoring system stores sensor readings. Some readings are negative due to calibration errors. Find the contiguous segment producing the highest multiplication effect.</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b="1" lang="en-US">
                <a:solidFill>
                  <a:schemeClr val="dk1"/>
                </a:solidFill>
              </a:rPr>
              <a:t>Sample Input Format</a:t>
            </a:r>
            <a:endParaRPr b="1">
              <a:solidFill>
                <a:schemeClr val="dk1"/>
              </a:solidFill>
            </a:endParaRPr>
          </a:p>
          <a:p>
            <a:pPr indent="-317500" lvl="0" marL="457200" rtl="0" algn="l">
              <a:lnSpc>
                <a:spcPct val="150000"/>
              </a:lnSpc>
              <a:spcBef>
                <a:spcPts val="1200"/>
              </a:spcBef>
              <a:spcAft>
                <a:spcPts val="0"/>
              </a:spcAft>
              <a:buClr>
                <a:schemeClr val="dk1"/>
              </a:buClr>
              <a:buSzPts val="1400"/>
              <a:buChar char="●"/>
            </a:pPr>
            <a:r>
              <a:rPr lang="en-US">
                <a:solidFill>
                  <a:schemeClr val="dk1"/>
                </a:solidFill>
              </a:rPr>
              <a:t>First line represents the size of array N</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US">
                <a:solidFill>
                  <a:schemeClr val="dk1"/>
                </a:solidFill>
              </a:rPr>
              <a:t>Second line represents N space-separated integer elements</a:t>
            </a:r>
            <a:endParaRPr>
              <a:solidFill>
                <a:schemeClr val="dk1"/>
              </a:solidFill>
            </a:endParaRPr>
          </a:p>
          <a:p>
            <a:pPr indent="0" lvl="0" marL="0" rtl="0" algn="l">
              <a:lnSpc>
                <a:spcPct val="150000"/>
              </a:lnSpc>
              <a:spcBef>
                <a:spcPts val="1200"/>
              </a:spcBef>
              <a:spcAft>
                <a:spcPts val="0"/>
              </a:spcAft>
              <a:buClr>
                <a:schemeClr val="dk1"/>
              </a:buClr>
              <a:buSzPts val="1100"/>
              <a:buFont typeface="Arial"/>
              <a:buNone/>
            </a:pPr>
            <a:r>
              <a:rPr b="1" lang="en-US">
                <a:solidFill>
                  <a:schemeClr val="dk1"/>
                </a:solidFill>
              </a:rPr>
              <a:t>Sample Output Format</a:t>
            </a:r>
            <a:endParaRPr b="1">
              <a:solidFill>
                <a:schemeClr val="dk1"/>
              </a:solidFill>
            </a:endParaRPr>
          </a:p>
          <a:p>
            <a:pPr indent="-317500" lvl="0" marL="457200" rtl="0" algn="l">
              <a:lnSpc>
                <a:spcPct val="150000"/>
              </a:lnSpc>
              <a:spcBef>
                <a:spcPts val="1200"/>
              </a:spcBef>
              <a:spcAft>
                <a:spcPts val="0"/>
              </a:spcAft>
              <a:buClr>
                <a:schemeClr val="dk1"/>
              </a:buClr>
              <a:buSzPts val="1400"/>
              <a:buFont typeface="Roboto"/>
              <a:buChar char="●"/>
            </a:pPr>
            <a:r>
              <a:rPr lang="en-US">
                <a:solidFill>
                  <a:schemeClr val="dk1"/>
                </a:solidFill>
              </a:rPr>
              <a:t>Print the maximum product subarray value</a:t>
            </a:r>
            <a:endParaRPr>
              <a:solidFill>
                <a:schemeClr val="dk1"/>
              </a:solidFill>
            </a:endParaRPr>
          </a:p>
        </p:txBody>
      </p:sp>
      <p:sp>
        <p:nvSpPr>
          <p:cNvPr id="235" name="Google Shape;235;g3e27c63ab70_0_172"/>
          <p:cNvSpPr txBox="1"/>
          <p:nvPr/>
        </p:nvSpPr>
        <p:spPr>
          <a:xfrm>
            <a:off x="4982550" y="1135275"/>
            <a:ext cx="2490300" cy="250200"/>
          </a:xfrm>
          <a:prstGeom prst="rect">
            <a:avLst/>
          </a:prstGeom>
          <a:noFill/>
          <a:ln cap="flat" cmpd="sng" w="38100">
            <a:solidFill>
              <a:srgbClr val="8474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highlight>
                  <a:schemeClr val="lt1"/>
                </a:highlight>
                <a:latin typeface="Roboto"/>
                <a:ea typeface="Roboto"/>
                <a:cs typeface="Roboto"/>
                <a:sym typeface="Roboto"/>
              </a:rPr>
              <a:t>Asked in Microsoft (2026)</a:t>
            </a:r>
            <a:endParaRPr b="1">
              <a:solidFill>
                <a:schemeClr val="dk1"/>
              </a:solidFill>
              <a:highlight>
                <a:schemeClr val="lt1"/>
              </a:highlight>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e27c63ab70_0_185"/>
          <p:cNvSpPr txBox="1"/>
          <p:nvPr>
            <p:ph type="title"/>
          </p:nvPr>
        </p:nvSpPr>
        <p:spPr>
          <a:xfrm>
            <a:off x="311700" y="445025"/>
            <a:ext cx="7364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000">
                <a:solidFill>
                  <a:srgbClr val="8474F5"/>
                </a:solidFill>
              </a:rPr>
              <a:t>Company Questions - </a:t>
            </a:r>
            <a:r>
              <a:rPr b="1" lang="en-US" sz="2000">
                <a:solidFill>
                  <a:srgbClr val="8474F5"/>
                </a:solidFill>
              </a:rPr>
              <a:t>AI Sensor Multiplication Pattern</a:t>
            </a:r>
            <a:endParaRPr/>
          </a:p>
        </p:txBody>
      </p:sp>
      <p:sp>
        <p:nvSpPr>
          <p:cNvPr id="241" name="Google Shape;241;g3e27c63ab70_0_185"/>
          <p:cNvSpPr txBox="1"/>
          <p:nvPr>
            <p:ph idx="1" type="body"/>
          </p:nvPr>
        </p:nvSpPr>
        <p:spPr>
          <a:xfrm>
            <a:off x="311700" y="1152475"/>
            <a:ext cx="40260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1200"/>
              </a:spcBef>
              <a:spcAft>
                <a:spcPts val="0"/>
              </a:spcAft>
              <a:buClr>
                <a:schemeClr val="dk1"/>
              </a:buClr>
              <a:buSzPts val="1100"/>
              <a:buFont typeface="Arial"/>
              <a:buNone/>
            </a:pPr>
            <a:r>
              <a:rPr b="1" lang="en-US" sz="1400">
                <a:solidFill>
                  <a:schemeClr val="dk1"/>
                </a:solidFill>
              </a:rPr>
              <a:t>Sample Input</a:t>
            </a:r>
            <a:endParaRPr b="1" sz="1400">
              <a:solidFill>
                <a:schemeClr val="dk1"/>
              </a:solidFill>
            </a:endParaRPr>
          </a:p>
          <a:p>
            <a:pPr indent="0" lvl="0" marL="0" rtl="0" algn="l">
              <a:lnSpc>
                <a:spcPct val="150000"/>
              </a:lnSpc>
              <a:spcBef>
                <a:spcPts val="1200"/>
              </a:spcBef>
              <a:spcAft>
                <a:spcPts val="0"/>
              </a:spcAft>
              <a:buNone/>
            </a:pPr>
            <a:r>
              <a:rPr lang="en-US" sz="1400">
                <a:solidFill>
                  <a:schemeClr val="dk1"/>
                </a:solidFill>
              </a:rPr>
              <a:t>7</a:t>
            </a:r>
            <a:endParaRPr sz="14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US" sz="1400">
                <a:solidFill>
                  <a:schemeClr val="dk1"/>
                </a:solidFill>
              </a:rPr>
              <a:t>-2 -3 0 -2 -40 5 -1</a:t>
            </a:r>
            <a:endParaRPr sz="1400">
              <a:solidFill>
                <a:schemeClr val="dk1"/>
              </a:solidFill>
            </a:endParaRPr>
          </a:p>
          <a:p>
            <a:pPr indent="0" lvl="0" marL="0" rtl="0" algn="l">
              <a:lnSpc>
                <a:spcPct val="150000"/>
              </a:lnSpc>
              <a:spcBef>
                <a:spcPts val="1200"/>
              </a:spcBef>
              <a:spcAft>
                <a:spcPts val="0"/>
              </a:spcAft>
              <a:buNone/>
            </a:pPr>
            <a:r>
              <a:rPr b="1" lang="en-US" sz="1400">
                <a:solidFill>
                  <a:schemeClr val="dk1"/>
                </a:solidFill>
              </a:rPr>
              <a:t>Sample Output</a:t>
            </a:r>
            <a:endParaRPr b="1" sz="1400">
              <a:solidFill>
                <a:schemeClr val="dk1"/>
              </a:solidFill>
            </a:endParaRPr>
          </a:p>
          <a:p>
            <a:pPr indent="0" lvl="0" marL="0" rtl="0" algn="l">
              <a:lnSpc>
                <a:spcPct val="150000"/>
              </a:lnSpc>
              <a:spcBef>
                <a:spcPts val="0"/>
              </a:spcBef>
              <a:spcAft>
                <a:spcPts val="0"/>
              </a:spcAft>
              <a:buNone/>
            </a:pPr>
            <a:r>
              <a:rPr lang="en-US" sz="1400">
                <a:solidFill>
                  <a:schemeClr val="dk1"/>
                </a:solidFill>
              </a:rPr>
              <a:t>400</a:t>
            </a:r>
            <a:endParaRPr sz="1400">
              <a:solidFill>
                <a:schemeClr val="dk1"/>
              </a:solidFill>
            </a:endParaRPr>
          </a:p>
          <a:p>
            <a:pPr indent="0" lvl="0" marL="0" rtl="0" algn="l">
              <a:lnSpc>
                <a:spcPct val="150000"/>
              </a:lnSpc>
              <a:spcBef>
                <a:spcPts val="0"/>
              </a:spcBef>
              <a:spcAft>
                <a:spcPts val="0"/>
              </a:spcAft>
              <a:buNone/>
            </a:pPr>
            <a:r>
              <a:rPr b="1" lang="en-US" sz="1400">
                <a:solidFill>
                  <a:schemeClr val="dk1"/>
                </a:solidFill>
              </a:rPr>
              <a:t>Explanation</a:t>
            </a:r>
            <a:endParaRPr b="1" sz="1400">
              <a:solidFill>
                <a:schemeClr val="dk1"/>
              </a:solidFill>
            </a:endParaRPr>
          </a:p>
          <a:p>
            <a:pPr indent="0" lvl="0" marL="0" rtl="0" algn="l">
              <a:lnSpc>
                <a:spcPct val="150000"/>
              </a:lnSpc>
              <a:spcBef>
                <a:spcPts val="1200"/>
              </a:spcBef>
              <a:spcAft>
                <a:spcPts val="0"/>
              </a:spcAft>
              <a:buNone/>
            </a:pPr>
            <a:r>
              <a:rPr lang="en-US" sz="1400">
                <a:solidFill>
                  <a:schemeClr val="dk1"/>
                </a:solidFill>
              </a:rPr>
              <a:t>Subarray [-2, -40, 5]</a:t>
            </a:r>
            <a:endParaRPr sz="14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lang="en-US" sz="1400">
                <a:solidFill>
                  <a:schemeClr val="dk1"/>
                </a:solidFill>
              </a:rPr>
              <a:t>(−2)×(−40)×5=400 </a:t>
            </a:r>
            <a:endParaRPr sz="1400">
              <a:solidFill>
                <a:schemeClr val="dk1"/>
              </a:solidFill>
            </a:endParaRPr>
          </a:p>
          <a:p>
            <a:pPr indent="0" lvl="0" marL="0" rtl="0" algn="l">
              <a:spcBef>
                <a:spcPts val="0"/>
              </a:spcBef>
              <a:spcAft>
                <a:spcPts val="0"/>
              </a:spcAft>
              <a:buNone/>
            </a:pPr>
            <a:r>
              <a:t/>
            </a:r>
            <a:endParaRPr sz="1400">
              <a:solidFill>
                <a:schemeClr val="dk1"/>
              </a:solidFill>
            </a:endParaRPr>
          </a:p>
        </p:txBody>
      </p:sp>
      <p:pic>
        <p:nvPicPr>
          <p:cNvPr id="242" name="Google Shape;242;g3e27c63ab70_0_185"/>
          <p:cNvPicPr preferRelativeResize="0"/>
          <p:nvPr/>
        </p:nvPicPr>
        <p:blipFill>
          <a:blip r:embed="rId3">
            <a:alphaModFix/>
          </a:blip>
          <a:stretch>
            <a:fillRect/>
          </a:stretch>
        </p:blipFill>
        <p:spPr>
          <a:xfrm>
            <a:off x="4337700" y="1152475"/>
            <a:ext cx="3479100" cy="3416400"/>
          </a:xfrm>
          <a:prstGeom prst="rect">
            <a:avLst/>
          </a:prstGeom>
          <a:noFill/>
          <a:ln cap="flat" cmpd="sng" w="952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e27c63ab70_0_200"/>
          <p:cNvSpPr txBox="1"/>
          <p:nvPr>
            <p:ph type="title"/>
          </p:nvPr>
        </p:nvSpPr>
        <p:spPr>
          <a:xfrm>
            <a:off x="391825" y="445025"/>
            <a:ext cx="767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US" sz="2222">
                <a:solidFill>
                  <a:srgbClr val="8474F5"/>
                </a:solidFill>
              </a:rPr>
              <a:t>Java Code - </a:t>
            </a:r>
            <a:r>
              <a:rPr b="1" lang="en-US" sz="2222">
                <a:solidFill>
                  <a:srgbClr val="8474F5"/>
                </a:solidFill>
              </a:rPr>
              <a:t>AI Sensor Multiplication Pattern</a:t>
            </a:r>
            <a:endParaRPr b="1" sz="2222">
              <a:solidFill>
                <a:srgbClr val="8474F5"/>
              </a:solidFill>
            </a:endParaRPr>
          </a:p>
          <a:p>
            <a:pPr indent="0" lvl="0" marL="0" rtl="0" algn="l">
              <a:spcBef>
                <a:spcPts val="0"/>
              </a:spcBef>
              <a:spcAft>
                <a:spcPts val="0"/>
              </a:spcAft>
              <a:buNone/>
            </a:pPr>
            <a:r>
              <a:t/>
            </a:r>
            <a:endParaRPr/>
          </a:p>
        </p:txBody>
      </p:sp>
      <p:sp>
        <p:nvSpPr>
          <p:cNvPr id="248" name="Google Shape;248;g3e27c63ab70_0_200"/>
          <p:cNvSpPr txBox="1"/>
          <p:nvPr>
            <p:ph idx="1" type="body"/>
          </p:nvPr>
        </p:nvSpPr>
        <p:spPr>
          <a:xfrm>
            <a:off x="391825" y="1075900"/>
            <a:ext cx="3799200" cy="3647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import java.util.*;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public class SensorAnalysis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public static void main(String[] args)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Scanner sc = new Scanner(System.in);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int n = sc.nextInt();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int[] arr = new int[n];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for(int i = 0; i &lt; n; i++)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arr[i] = sc.nextInt();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int maxProduct = arr[0];</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int minProduct = arr[0];</a:t>
            </a:r>
            <a:endParaRPr>
              <a:solidFill>
                <a:schemeClr val="dk1"/>
              </a:solidFill>
            </a:endParaRPr>
          </a:p>
          <a:p>
            <a:pPr indent="0" lvl="0" marL="0" rtl="0" algn="l">
              <a:lnSpc>
                <a:spcPct val="115000"/>
              </a:lnSpc>
              <a:spcBef>
                <a:spcPts val="0"/>
              </a:spcBef>
              <a:spcAft>
                <a:spcPts val="0"/>
              </a:spcAft>
              <a:buNone/>
            </a:pPr>
            <a:r>
              <a:rPr lang="en-US">
                <a:solidFill>
                  <a:schemeClr val="dk1"/>
                </a:solidFill>
              </a:rPr>
              <a:t>        int answer = arr[0];</a:t>
            </a:r>
            <a:endParaRPr>
              <a:solidFill>
                <a:schemeClr val="dk1"/>
              </a:solidFill>
            </a:endParaRPr>
          </a:p>
          <a:p>
            <a:pPr indent="0" lvl="0" marL="0" rtl="0" algn="l">
              <a:lnSpc>
                <a:spcPct val="115000"/>
              </a:lnSpc>
              <a:spcBef>
                <a:spcPts val="0"/>
              </a:spcBef>
              <a:spcAft>
                <a:spcPts val="0"/>
              </a:spcAft>
              <a:buNone/>
            </a:pPr>
            <a:r>
              <a:rPr lang="en-US">
                <a:solidFill>
                  <a:schemeClr val="dk1"/>
                </a:solidFill>
              </a:rPr>
              <a:t>          </a:t>
            </a:r>
            <a:r>
              <a:rPr lang="en-US">
                <a:solidFill>
                  <a:schemeClr val="dk1"/>
                </a:solidFill>
              </a:rPr>
              <a:t>for(int i = 1; i &lt; n; i++)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if(arr[i] &lt; 0)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
        <p:nvSpPr>
          <p:cNvPr id="249" name="Google Shape;249;g3e27c63ab70_0_200"/>
          <p:cNvSpPr txBox="1"/>
          <p:nvPr>
            <p:ph idx="2" type="body"/>
          </p:nvPr>
        </p:nvSpPr>
        <p:spPr>
          <a:xfrm>
            <a:off x="4191025" y="1075975"/>
            <a:ext cx="3874800" cy="3647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chemeClr val="dk1"/>
                </a:solidFill>
              </a:rPr>
              <a:t>                int temp = maxProduct;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maxProduct = minProduct;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minProduct = temp;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maxProduct = Math.max(arr[i], maxProduct * arr[i]);</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minProduct = Math.min(arr[i], minProduct * arr[i]);</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answer = Math.max(answer, maxProduct);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        } System.out.println(answer);</a:t>
            </a:r>
            <a:endParaRPr>
              <a:solidFill>
                <a:schemeClr val="dk1"/>
              </a:solidFill>
            </a:endParaRPr>
          </a:p>
          <a:p>
            <a:pPr indent="0" lvl="0" marL="0" rtl="0" algn="l">
              <a:lnSpc>
                <a:spcPct val="115000"/>
              </a:lnSpc>
              <a:spcBef>
                <a:spcPts val="0"/>
              </a:spcBef>
              <a:spcAft>
                <a:spcPts val="0"/>
              </a:spcAft>
              <a:buNone/>
            </a:pPr>
            <a:r>
              <a:rPr lang="en-US">
                <a:solidFill>
                  <a:schemeClr val="dk1"/>
                </a:solidFill>
              </a:rPr>
              <a:t>    }}          </a:t>
            </a:r>
            <a:r>
              <a:rPr lang="en-US">
                <a:solidFill>
                  <a:schemeClr val="dk1"/>
                </a:solidFill>
                <a:highlight>
                  <a:schemeClr val="lt1"/>
                </a:highlight>
              </a:rPr>
              <a:t> </a:t>
            </a:r>
            <a:endParaRPr b="1">
              <a:solidFill>
                <a:schemeClr val="dk1"/>
              </a:solidFill>
              <a:highlight>
                <a:schemeClr val="lt1"/>
              </a:highlight>
            </a:endParaRPr>
          </a:p>
          <a:p>
            <a:pPr indent="0" lvl="0" marL="0" rtl="0" algn="l">
              <a:lnSpc>
                <a:spcPct val="115000"/>
              </a:lnSpc>
              <a:spcBef>
                <a:spcPts val="0"/>
              </a:spcBef>
              <a:spcAft>
                <a:spcPts val="0"/>
              </a:spcAft>
              <a:buNone/>
            </a:pPr>
            <a:r>
              <a:t/>
            </a:r>
            <a:endParaRPr>
              <a:solidFill>
                <a:schemeClr val="dk1"/>
              </a:solidFill>
            </a:endParaRPr>
          </a:p>
        </p:txBody>
      </p:sp>
      <p:sp>
        <p:nvSpPr>
          <p:cNvPr id="250" name="Google Shape;250;g3e27c63ab70_0_200"/>
          <p:cNvSpPr txBox="1"/>
          <p:nvPr/>
        </p:nvSpPr>
        <p:spPr>
          <a:xfrm>
            <a:off x="4877875" y="3940800"/>
            <a:ext cx="2501100" cy="630600"/>
          </a:xfrm>
          <a:prstGeom prst="rect">
            <a:avLst/>
          </a:prstGeom>
          <a:noFill/>
          <a:ln cap="flat" cmpd="sng" w="38100">
            <a:solidFill>
              <a:srgbClr val="8474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US">
                <a:solidFill>
                  <a:schemeClr val="dk1"/>
                </a:solidFill>
                <a:highlight>
                  <a:schemeClr val="lt1"/>
                </a:highlight>
                <a:latin typeface="Roboto"/>
                <a:ea typeface="Roboto"/>
                <a:cs typeface="Roboto"/>
                <a:sym typeface="Roboto"/>
              </a:rPr>
              <a:t>Time Complexity: O(N)</a:t>
            </a:r>
            <a:endParaRPr b="1">
              <a:solidFill>
                <a:schemeClr val="dk1"/>
              </a:solidFill>
              <a:highlight>
                <a:schemeClr val="lt1"/>
              </a:highlight>
              <a:latin typeface="Roboto"/>
              <a:ea typeface="Roboto"/>
              <a:cs typeface="Roboto"/>
              <a:sym typeface="Roboto"/>
            </a:endParaRPr>
          </a:p>
          <a:p>
            <a:pPr indent="0" lvl="0" marL="0" rtl="0" algn="ctr">
              <a:lnSpc>
                <a:spcPct val="115000"/>
              </a:lnSpc>
              <a:spcBef>
                <a:spcPts val="0"/>
              </a:spcBef>
              <a:spcAft>
                <a:spcPts val="0"/>
              </a:spcAft>
              <a:buClr>
                <a:schemeClr val="dk1"/>
              </a:buClr>
              <a:buSzPts val="1100"/>
              <a:buFont typeface="Arial"/>
              <a:buNone/>
            </a:pPr>
            <a:r>
              <a:rPr b="1" lang="en-US">
                <a:solidFill>
                  <a:schemeClr val="dk1"/>
                </a:solidFill>
                <a:highlight>
                  <a:schemeClr val="lt1"/>
                </a:highlight>
                <a:latin typeface="Roboto"/>
                <a:ea typeface="Roboto"/>
                <a:cs typeface="Roboto"/>
                <a:sym typeface="Roboto"/>
              </a:rPr>
              <a:t> Space Complexity: O(1)</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e27c63ab70_0_212"/>
          <p:cNvSpPr txBox="1"/>
          <p:nvPr>
            <p:ph type="title"/>
          </p:nvPr>
        </p:nvSpPr>
        <p:spPr>
          <a:xfrm>
            <a:off x="424200" y="370925"/>
            <a:ext cx="736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8474F5"/>
                </a:solidFill>
              </a:rPr>
              <a:t>Investment Risk Chain</a:t>
            </a:r>
            <a:endParaRPr b="1" sz="2000">
              <a:solidFill>
                <a:srgbClr val="8474F5"/>
              </a:solidFill>
            </a:endParaRPr>
          </a:p>
        </p:txBody>
      </p:sp>
      <p:sp>
        <p:nvSpPr>
          <p:cNvPr id="256" name="Google Shape;256;g3e27c63ab70_0_212"/>
          <p:cNvSpPr txBox="1"/>
          <p:nvPr>
            <p:ph idx="1" type="body"/>
          </p:nvPr>
        </p:nvSpPr>
        <p:spPr>
          <a:xfrm>
            <a:off x="424200" y="1017725"/>
            <a:ext cx="7441200" cy="3689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1400">
                <a:solidFill>
                  <a:schemeClr val="dk1"/>
                </a:solidFill>
              </a:rPr>
              <a:t>Problem Statement                                                                             </a:t>
            </a:r>
            <a:endParaRPr b="1" sz="1400">
              <a:solidFill>
                <a:schemeClr val="dk1"/>
              </a:solidFill>
              <a:highlight>
                <a:schemeClr val="lt1"/>
              </a:highlight>
            </a:endParaRPr>
          </a:p>
          <a:p>
            <a:pPr indent="0" lvl="0" marL="0" rtl="0" algn="l">
              <a:spcBef>
                <a:spcPts val="1200"/>
              </a:spcBef>
              <a:spcAft>
                <a:spcPts val="0"/>
              </a:spcAft>
              <a:buClr>
                <a:schemeClr val="dk1"/>
              </a:buClr>
              <a:buSzPts val="1100"/>
              <a:buFont typeface="Arial"/>
              <a:buNone/>
            </a:pPr>
            <a:r>
              <a:rPr lang="en-US" sz="1400">
                <a:solidFill>
                  <a:schemeClr val="dk1"/>
                </a:solidFill>
              </a:rPr>
              <a:t>A financial firm stores percentage gain/loss values for investments.</a:t>
            </a:r>
            <a:endParaRPr sz="1400">
              <a:solidFill>
                <a:schemeClr val="dk1"/>
              </a:solidFill>
            </a:endParaRPr>
          </a:p>
          <a:p>
            <a:pPr indent="0" lvl="0" marL="0" rtl="0" algn="l">
              <a:spcBef>
                <a:spcPts val="1200"/>
              </a:spcBef>
              <a:spcAft>
                <a:spcPts val="0"/>
              </a:spcAft>
              <a:buNone/>
            </a:pPr>
            <a:r>
              <a:rPr lang="en-US" sz="1400">
                <a:solidFill>
                  <a:schemeClr val="dk1"/>
                </a:solidFill>
              </a:rPr>
              <a:t>Find the continuous investment chain producing the maximum compounded multiplication value.</a:t>
            </a:r>
            <a:endParaRPr sz="1400">
              <a:solidFill>
                <a:schemeClr val="dk1"/>
              </a:solidFill>
            </a:endParaRPr>
          </a:p>
          <a:p>
            <a:pPr indent="0" lvl="0" marL="0" rtl="0" algn="l">
              <a:spcBef>
                <a:spcPts val="2400"/>
              </a:spcBef>
              <a:spcAft>
                <a:spcPts val="0"/>
              </a:spcAft>
              <a:buNone/>
            </a:pPr>
            <a:r>
              <a:rPr b="1" lang="en-US" sz="1400">
                <a:solidFill>
                  <a:schemeClr val="dk1"/>
                </a:solidFill>
              </a:rPr>
              <a:t>Sample Input Format</a:t>
            </a:r>
            <a:endParaRPr b="1" sz="1400">
              <a:solidFill>
                <a:schemeClr val="dk1"/>
              </a:solidFill>
            </a:endParaRPr>
          </a:p>
          <a:p>
            <a:pPr indent="-317500" lvl="0" marL="457200" rtl="0" algn="l">
              <a:spcBef>
                <a:spcPts val="1200"/>
              </a:spcBef>
              <a:spcAft>
                <a:spcPts val="0"/>
              </a:spcAft>
              <a:buSzPts val="1400"/>
              <a:buChar char="●"/>
            </a:pPr>
            <a:r>
              <a:rPr lang="en-US" sz="1400">
                <a:solidFill>
                  <a:schemeClr val="dk1"/>
                </a:solidFill>
              </a:rPr>
              <a:t>First line represents the size of array N</a:t>
            </a:r>
            <a:endParaRPr sz="1400">
              <a:solidFill>
                <a:schemeClr val="dk1"/>
              </a:solidFill>
            </a:endParaRPr>
          </a:p>
          <a:p>
            <a:pPr indent="-317500" lvl="0" marL="457200" rtl="0" algn="l">
              <a:spcBef>
                <a:spcPts val="0"/>
              </a:spcBef>
              <a:spcAft>
                <a:spcPts val="0"/>
              </a:spcAft>
              <a:buSzPts val="1400"/>
              <a:buChar char="●"/>
            </a:pPr>
            <a:r>
              <a:rPr lang="en-US" sz="1400">
                <a:solidFill>
                  <a:schemeClr val="dk1"/>
                </a:solidFill>
              </a:rPr>
              <a:t>Second line represents N space-separated integer elements</a:t>
            </a:r>
            <a:endParaRPr sz="1400">
              <a:solidFill>
                <a:schemeClr val="dk1"/>
              </a:solidFill>
            </a:endParaRPr>
          </a:p>
          <a:p>
            <a:pPr indent="0" lvl="0" marL="0" rtl="0" algn="l">
              <a:spcBef>
                <a:spcPts val="2400"/>
              </a:spcBef>
              <a:spcAft>
                <a:spcPts val="0"/>
              </a:spcAft>
              <a:buNone/>
            </a:pPr>
            <a:r>
              <a:rPr b="1" lang="en-US" sz="1400">
                <a:solidFill>
                  <a:schemeClr val="dk1"/>
                </a:solidFill>
              </a:rPr>
              <a:t>Sample Output Format</a:t>
            </a:r>
            <a:endParaRPr b="1" sz="1400">
              <a:solidFill>
                <a:schemeClr val="dk1"/>
              </a:solidFill>
            </a:endParaRPr>
          </a:p>
          <a:p>
            <a:pPr indent="-317500" lvl="0" marL="457200" rtl="0" algn="l">
              <a:spcBef>
                <a:spcPts val="1200"/>
              </a:spcBef>
              <a:spcAft>
                <a:spcPts val="0"/>
              </a:spcAft>
              <a:buSzPts val="1400"/>
              <a:buFont typeface="Roboto"/>
              <a:buChar char="●"/>
            </a:pPr>
            <a:r>
              <a:rPr lang="en-US" sz="1400">
                <a:solidFill>
                  <a:schemeClr val="dk1"/>
                </a:solidFill>
              </a:rPr>
              <a:t>Print the maximum product subarray value</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lnSpc>
                <a:spcPct val="150000"/>
              </a:lnSpc>
              <a:spcBef>
                <a:spcPts val="1200"/>
              </a:spcBef>
              <a:spcAft>
                <a:spcPts val="0"/>
              </a:spcAft>
              <a:buNone/>
            </a:pPr>
            <a:r>
              <a:t/>
            </a:r>
            <a:endParaRPr sz="1400">
              <a:solidFill>
                <a:schemeClr val="dk1"/>
              </a:solidFill>
            </a:endParaRPr>
          </a:p>
        </p:txBody>
      </p:sp>
      <p:sp>
        <p:nvSpPr>
          <p:cNvPr id="257" name="Google Shape;257;g3e27c63ab70_0_212"/>
          <p:cNvSpPr txBox="1"/>
          <p:nvPr/>
        </p:nvSpPr>
        <p:spPr>
          <a:xfrm>
            <a:off x="4743300" y="1146175"/>
            <a:ext cx="2881800" cy="315300"/>
          </a:xfrm>
          <a:prstGeom prst="rect">
            <a:avLst/>
          </a:prstGeom>
          <a:noFill/>
          <a:ln cap="flat" cmpd="sng" w="38100">
            <a:solidFill>
              <a:srgbClr val="8474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dk1"/>
                </a:solidFill>
                <a:latin typeface="Roboto"/>
                <a:ea typeface="Roboto"/>
                <a:cs typeface="Roboto"/>
                <a:sym typeface="Roboto"/>
              </a:rPr>
              <a:t>Asked in Goldman Sachs (2025)</a:t>
            </a:r>
            <a:endParaRPr b="1">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e27c63ab70_0_226"/>
          <p:cNvSpPr txBox="1"/>
          <p:nvPr>
            <p:ph type="title"/>
          </p:nvPr>
        </p:nvSpPr>
        <p:spPr>
          <a:xfrm>
            <a:off x="402650" y="424950"/>
            <a:ext cx="74358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US" sz="2000">
                <a:solidFill>
                  <a:srgbClr val="8474F5"/>
                </a:solidFill>
              </a:rPr>
              <a:t>Investment Risk Chain</a:t>
            </a:r>
            <a:endParaRPr/>
          </a:p>
        </p:txBody>
      </p:sp>
      <p:sp>
        <p:nvSpPr>
          <p:cNvPr id="263" name="Google Shape;263;g3e27c63ab70_0_226"/>
          <p:cNvSpPr txBox="1"/>
          <p:nvPr>
            <p:ph idx="1" type="body"/>
          </p:nvPr>
        </p:nvSpPr>
        <p:spPr>
          <a:xfrm>
            <a:off x="402650" y="1152475"/>
            <a:ext cx="42483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US">
                <a:solidFill>
                  <a:schemeClr val="dk1"/>
                </a:solidFill>
              </a:rPr>
              <a:t>Sample Input</a:t>
            </a:r>
            <a:endParaRPr b="1">
              <a:solidFill>
                <a:schemeClr val="dk1"/>
              </a:solidFill>
            </a:endParaRPr>
          </a:p>
          <a:p>
            <a:pPr indent="0" lvl="0" marL="0" rtl="0" algn="l">
              <a:spcBef>
                <a:spcPts val="1200"/>
              </a:spcBef>
              <a:spcAft>
                <a:spcPts val="0"/>
              </a:spcAft>
              <a:buClr>
                <a:schemeClr val="dk1"/>
              </a:buClr>
              <a:buSzPts val="1100"/>
              <a:buFont typeface="Arial"/>
              <a:buNone/>
            </a:pPr>
            <a:r>
              <a:rPr lang="en-US">
                <a:solidFill>
                  <a:schemeClr val="dk1"/>
                </a:solidFill>
              </a:rPr>
              <a:t>6</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1 -2 -3 4 -1 2</a:t>
            </a:r>
            <a:endParaRPr>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lnSpc>
                <a:spcPct val="150000"/>
              </a:lnSpc>
              <a:spcBef>
                <a:spcPts val="0"/>
              </a:spcBef>
              <a:spcAft>
                <a:spcPts val="0"/>
              </a:spcAft>
              <a:buClr>
                <a:schemeClr val="dk1"/>
              </a:buClr>
              <a:buSzPts val="1100"/>
              <a:buFont typeface="Arial"/>
              <a:buNone/>
            </a:pPr>
            <a:r>
              <a:rPr b="1" lang="en-US">
                <a:solidFill>
                  <a:schemeClr val="dk1"/>
                </a:solidFill>
              </a:rPr>
              <a:t>Sample Output</a:t>
            </a:r>
            <a:endParaRPr b="1">
              <a:solidFill>
                <a:schemeClr val="dk1"/>
              </a:solidFill>
            </a:endParaRPr>
          </a:p>
          <a:p>
            <a:pPr indent="0" lvl="0" marL="0" rtl="0" algn="l">
              <a:lnSpc>
                <a:spcPct val="150000"/>
              </a:lnSpc>
              <a:spcBef>
                <a:spcPts val="0"/>
              </a:spcBef>
              <a:spcAft>
                <a:spcPts val="0"/>
              </a:spcAft>
              <a:buNone/>
            </a:pPr>
            <a:r>
              <a:rPr lang="en-US">
                <a:solidFill>
                  <a:schemeClr val="dk1"/>
                </a:solidFill>
              </a:rPr>
              <a:t>48</a:t>
            </a:r>
            <a:endParaRPr>
              <a:solidFill>
                <a:schemeClr val="dk1"/>
              </a:solidFill>
            </a:endParaRPr>
          </a:p>
          <a:p>
            <a:pPr indent="0" lvl="0" marL="0" rtl="0" algn="l">
              <a:lnSpc>
                <a:spcPct val="150000"/>
              </a:lnSpc>
              <a:spcBef>
                <a:spcPts val="0"/>
              </a:spcBef>
              <a:spcAft>
                <a:spcPts val="0"/>
              </a:spcAft>
              <a:buNone/>
            </a:pPr>
            <a:r>
              <a:rPr b="1" lang="en-US">
                <a:solidFill>
                  <a:schemeClr val="dk1"/>
                </a:solidFill>
              </a:rPr>
              <a:t>Explanation</a:t>
            </a:r>
            <a:endParaRPr b="1">
              <a:solidFill>
                <a:schemeClr val="dk1"/>
              </a:solidFill>
            </a:endParaRPr>
          </a:p>
          <a:p>
            <a:pPr indent="0" lvl="0" marL="0" rtl="0" algn="l">
              <a:spcBef>
                <a:spcPts val="1200"/>
              </a:spcBef>
              <a:spcAft>
                <a:spcPts val="0"/>
              </a:spcAft>
              <a:buNone/>
            </a:pPr>
            <a:r>
              <a:rPr lang="en-US">
                <a:solidFill>
                  <a:schemeClr val="dk1"/>
                </a:solidFill>
              </a:rPr>
              <a:t>Subarray [-2, -3, 4, -1, 2]</a:t>
            </a:r>
            <a:endParaRPr>
              <a:solidFill>
                <a:schemeClr val="dk1"/>
              </a:solidFill>
            </a:endParaRPr>
          </a:p>
          <a:p>
            <a:pPr indent="0" lvl="0" marL="0" rtl="0" algn="l">
              <a:lnSpc>
                <a:spcPct val="150000"/>
              </a:lnSpc>
              <a:spcBef>
                <a:spcPts val="1200"/>
              </a:spcBef>
              <a:spcAft>
                <a:spcPts val="0"/>
              </a:spcAft>
              <a:buNone/>
            </a:pPr>
            <a:r>
              <a:rPr lang="en-US">
                <a:solidFill>
                  <a:schemeClr val="dk1"/>
                </a:solidFill>
              </a:rPr>
              <a:t>(−2)×(−3)×4×(−1)×2 = 48</a:t>
            </a:r>
            <a:endParaRPr b="1">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b="1">
              <a:solidFill>
                <a:schemeClr val="dk1"/>
              </a:solidFill>
            </a:endParaRPr>
          </a:p>
        </p:txBody>
      </p:sp>
      <p:pic>
        <p:nvPicPr>
          <p:cNvPr id="264" name="Google Shape;264;g3e27c63ab70_0_226"/>
          <p:cNvPicPr preferRelativeResize="0"/>
          <p:nvPr/>
        </p:nvPicPr>
        <p:blipFill>
          <a:blip r:embed="rId3">
            <a:alphaModFix/>
          </a:blip>
          <a:stretch>
            <a:fillRect/>
          </a:stretch>
        </p:blipFill>
        <p:spPr>
          <a:xfrm>
            <a:off x="4651000" y="1152475"/>
            <a:ext cx="3255850" cy="341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e27c63ab70_0_237"/>
          <p:cNvSpPr txBox="1"/>
          <p:nvPr>
            <p:ph type="title"/>
          </p:nvPr>
        </p:nvSpPr>
        <p:spPr>
          <a:xfrm>
            <a:off x="311700" y="392100"/>
            <a:ext cx="7635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000"/>
              <a:buFont typeface="Arial"/>
              <a:buNone/>
            </a:pPr>
            <a:r>
              <a:rPr b="1" lang="en-US" sz="2000">
                <a:solidFill>
                  <a:srgbClr val="8474F5"/>
                </a:solidFill>
              </a:rPr>
              <a:t>Java Code - </a:t>
            </a:r>
            <a:r>
              <a:rPr b="1" lang="en-US" sz="2000">
                <a:solidFill>
                  <a:srgbClr val="8474F5"/>
                </a:solidFill>
              </a:rPr>
              <a:t>Investment Risk Chain</a:t>
            </a:r>
            <a:endParaRPr/>
          </a:p>
          <a:p>
            <a:pPr indent="0" lvl="0" marL="0" rtl="0" algn="l">
              <a:spcBef>
                <a:spcPts val="0"/>
              </a:spcBef>
              <a:spcAft>
                <a:spcPts val="0"/>
              </a:spcAft>
              <a:buNone/>
            </a:pPr>
            <a:r>
              <a:t/>
            </a:r>
            <a:endParaRPr/>
          </a:p>
        </p:txBody>
      </p:sp>
      <p:sp>
        <p:nvSpPr>
          <p:cNvPr id="270" name="Google Shape;270;g3e27c63ab70_0_237"/>
          <p:cNvSpPr txBox="1"/>
          <p:nvPr>
            <p:ph idx="1" type="body"/>
          </p:nvPr>
        </p:nvSpPr>
        <p:spPr>
          <a:xfrm>
            <a:off x="311700" y="1073150"/>
            <a:ext cx="3817800" cy="3577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import java.util.*;</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public class InvestmentAnalysis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public static void main(String[] args)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Scanner sc = new Scanner(System.in);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n = sc.nextInt();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arr = new int[n];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for(int i = 0; i &lt; n; i++)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arr[i] = sc.nextInt();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maxVal = arr[0];</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minVal = arr[0];</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result = arr[0];</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for(int i = 1; i &lt; n; i++)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int current = arr[i];</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271" name="Google Shape;271;g3e27c63ab70_0_237"/>
          <p:cNvSpPr txBox="1"/>
          <p:nvPr>
            <p:ph idx="2" type="body"/>
          </p:nvPr>
        </p:nvSpPr>
        <p:spPr>
          <a:xfrm>
            <a:off x="4129500" y="1073275"/>
            <a:ext cx="3817800" cy="3577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US">
                <a:solidFill>
                  <a:schemeClr val="dk1"/>
                </a:solidFill>
              </a:rPr>
              <a:t>int tempMax = Math.max(current,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Math.max(maxVal * current,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minVal * current));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minVal = Math.min(current,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Math.min(maxVal * current,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minVal * current));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maxVal = tempMax;</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result = Math.max(result, maxVal);</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System.out.println(result);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a:t>
            </a:r>
            <a:endParaRPr>
              <a:solidFill>
                <a:schemeClr val="dk1"/>
              </a:solidFill>
            </a:endParaRPr>
          </a:p>
          <a:p>
            <a:pPr indent="0" lvl="0" marL="0" rtl="0" algn="l">
              <a:spcBef>
                <a:spcPts val="0"/>
              </a:spcBef>
              <a:spcAft>
                <a:spcPts val="0"/>
              </a:spcAft>
              <a:buNone/>
            </a:pPr>
            <a:r>
              <a:rPr lang="en-US">
                <a:solidFill>
                  <a:schemeClr val="dk1"/>
                </a:solidFill>
              </a:rPr>
              <a:t>          </a:t>
            </a:r>
            <a:endParaRPr>
              <a:solidFill>
                <a:schemeClr val="dk1"/>
              </a:solidFill>
            </a:endParaRPr>
          </a:p>
        </p:txBody>
      </p:sp>
      <p:sp>
        <p:nvSpPr>
          <p:cNvPr id="272" name="Google Shape;272;g3e27c63ab70_0_237"/>
          <p:cNvSpPr txBox="1"/>
          <p:nvPr/>
        </p:nvSpPr>
        <p:spPr>
          <a:xfrm>
            <a:off x="4786825" y="3766825"/>
            <a:ext cx="2261700" cy="648000"/>
          </a:xfrm>
          <a:prstGeom prst="rect">
            <a:avLst/>
          </a:prstGeom>
          <a:noFill/>
          <a:ln cap="flat" cmpd="sng" w="38100">
            <a:solidFill>
              <a:srgbClr val="8474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US">
                <a:solidFill>
                  <a:schemeClr val="dk1"/>
                </a:solidFill>
                <a:latin typeface="Roboto"/>
                <a:ea typeface="Roboto"/>
                <a:cs typeface="Roboto"/>
                <a:sym typeface="Roboto"/>
              </a:rPr>
              <a:t> </a:t>
            </a:r>
            <a:r>
              <a:rPr b="1" lang="en-US">
                <a:solidFill>
                  <a:schemeClr val="dk1"/>
                </a:solidFill>
                <a:highlight>
                  <a:schemeClr val="lt1"/>
                </a:highlight>
                <a:latin typeface="Roboto"/>
                <a:ea typeface="Roboto"/>
                <a:cs typeface="Roboto"/>
                <a:sym typeface="Roboto"/>
              </a:rPr>
              <a:t>Time Complexity: O(N)</a:t>
            </a:r>
            <a:endParaRPr b="1">
              <a:solidFill>
                <a:schemeClr val="dk1"/>
              </a:solidFill>
              <a:highlight>
                <a:schemeClr val="lt1"/>
              </a:highlight>
              <a:latin typeface="Roboto"/>
              <a:ea typeface="Roboto"/>
              <a:cs typeface="Roboto"/>
              <a:sym typeface="Roboto"/>
            </a:endParaRPr>
          </a:p>
          <a:p>
            <a:pPr indent="0" lvl="0" marL="0" rtl="0" algn="ctr">
              <a:lnSpc>
                <a:spcPct val="115000"/>
              </a:lnSpc>
              <a:spcBef>
                <a:spcPts val="0"/>
              </a:spcBef>
              <a:spcAft>
                <a:spcPts val="0"/>
              </a:spcAft>
              <a:buClr>
                <a:schemeClr val="dk1"/>
              </a:buClr>
              <a:buSzPts val="1100"/>
              <a:buFont typeface="Arial"/>
              <a:buNone/>
            </a:pPr>
            <a:r>
              <a:rPr b="1" lang="en-US">
                <a:solidFill>
                  <a:schemeClr val="dk1"/>
                </a:solidFill>
                <a:highlight>
                  <a:schemeClr val="lt1"/>
                </a:highlight>
                <a:latin typeface="Roboto"/>
                <a:ea typeface="Roboto"/>
                <a:cs typeface="Roboto"/>
                <a:sym typeface="Roboto"/>
              </a:rPr>
              <a:t> Space Complexity: O(1)</a:t>
            </a:r>
            <a:endParaRPr>
              <a:solidFill>
                <a:schemeClr val="dk2"/>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e27c63ab70_0_247"/>
          <p:cNvSpPr txBox="1"/>
          <p:nvPr>
            <p:ph type="title"/>
          </p:nvPr>
        </p:nvSpPr>
        <p:spPr>
          <a:xfrm>
            <a:off x="311700" y="445025"/>
            <a:ext cx="73527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2800"/>
              <a:buFont typeface="Arial"/>
              <a:buNone/>
            </a:pPr>
            <a:r>
              <a:rPr b="1" lang="en-US" sz="2000">
                <a:solidFill>
                  <a:srgbClr val="8474F5"/>
                </a:solidFill>
              </a:rPr>
              <a:t>Interview questions</a:t>
            </a:r>
            <a:endParaRPr/>
          </a:p>
        </p:txBody>
      </p:sp>
      <p:sp>
        <p:nvSpPr>
          <p:cNvPr id="278" name="Google Shape;278;g3e27c63ab70_0_247"/>
          <p:cNvSpPr txBox="1"/>
          <p:nvPr>
            <p:ph idx="1" type="body"/>
          </p:nvPr>
        </p:nvSpPr>
        <p:spPr>
          <a:xfrm>
            <a:off x="377375" y="1327650"/>
            <a:ext cx="7712700" cy="20904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Clr>
                <a:schemeClr val="dk1"/>
              </a:buClr>
              <a:buSzPts val="1100"/>
              <a:buFont typeface="Arial"/>
              <a:buNone/>
            </a:pPr>
            <a:r>
              <a:rPr lang="en-US" sz="1400">
                <a:solidFill>
                  <a:schemeClr val="dk1"/>
                </a:solidFill>
              </a:rPr>
              <a:t>What is the time complexity of the optimal solution?                                          </a:t>
            </a:r>
            <a:r>
              <a:rPr b="1" lang="en-US" sz="1400">
                <a:solidFill>
                  <a:schemeClr val="dk1"/>
                </a:solidFill>
              </a:rPr>
              <a:t>  </a:t>
            </a:r>
            <a:endParaRPr b="1" sz="1400">
              <a:solidFill>
                <a:schemeClr val="dk1"/>
              </a:solidFill>
              <a:highlight>
                <a:schemeClr val="accent6"/>
              </a:highlight>
            </a:endParaRPr>
          </a:p>
          <a:p>
            <a:pPr indent="0" lvl="0" marL="0" rtl="0" algn="l">
              <a:lnSpc>
                <a:spcPct val="150000"/>
              </a:lnSpc>
              <a:spcBef>
                <a:spcPts val="1200"/>
              </a:spcBef>
              <a:spcAft>
                <a:spcPts val="0"/>
              </a:spcAft>
              <a:buClr>
                <a:schemeClr val="dk1"/>
              </a:buClr>
              <a:buSzPts val="1100"/>
              <a:buFont typeface="Arial"/>
              <a:buNone/>
            </a:pPr>
            <a:r>
              <a:rPr lang="en-US" sz="1400">
                <a:solidFill>
                  <a:schemeClr val="dk1"/>
                </a:solidFill>
              </a:rPr>
              <a:t>A) O(N²)</a:t>
            </a:r>
            <a:br>
              <a:rPr lang="en-US" sz="1400">
                <a:solidFill>
                  <a:schemeClr val="dk1"/>
                </a:solidFill>
              </a:rPr>
            </a:br>
            <a:r>
              <a:rPr lang="en-US" sz="1400">
                <a:solidFill>
                  <a:schemeClr val="dk1"/>
                </a:solidFill>
              </a:rPr>
              <a:t> B) O(log N)</a:t>
            </a:r>
            <a:br>
              <a:rPr lang="en-US" sz="1400">
                <a:solidFill>
                  <a:schemeClr val="dk1"/>
                </a:solidFill>
              </a:rPr>
            </a:br>
            <a:r>
              <a:rPr lang="en-US" sz="1400">
                <a:solidFill>
                  <a:schemeClr val="dk1"/>
                </a:solidFill>
              </a:rPr>
              <a:t> C) O(N)</a:t>
            </a:r>
            <a:br>
              <a:rPr lang="en-US" sz="1400">
                <a:solidFill>
                  <a:schemeClr val="dk1"/>
                </a:solidFill>
              </a:rPr>
            </a:br>
            <a:r>
              <a:rPr lang="en-US" sz="1400">
                <a:solidFill>
                  <a:schemeClr val="dk1"/>
                </a:solidFill>
              </a:rPr>
              <a:t> D) O(N log N)</a:t>
            </a:r>
            <a:endParaRPr sz="14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50000"/>
              </a:lnSpc>
              <a:spcBef>
                <a:spcPts val="0"/>
              </a:spcBef>
              <a:spcAft>
                <a:spcPts val="0"/>
              </a:spcAft>
              <a:buNone/>
            </a:pPr>
            <a:r>
              <a:t/>
            </a:r>
            <a:endParaRPr sz="1400"/>
          </a:p>
        </p:txBody>
      </p:sp>
      <p:sp>
        <p:nvSpPr>
          <p:cNvPr id="279" name="Google Shape;279;g3e27c63ab70_0_247"/>
          <p:cNvSpPr txBox="1"/>
          <p:nvPr/>
        </p:nvSpPr>
        <p:spPr>
          <a:xfrm>
            <a:off x="436075" y="3621050"/>
            <a:ext cx="7101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Clr>
                <a:schemeClr val="dk1"/>
              </a:buClr>
              <a:buSzPts val="1100"/>
              <a:buFont typeface="Arial"/>
              <a:buNone/>
            </a:pPr>
            <a:r>
              <a:rPr b="1" lang="en-US">
                <a:solidFill>
                  <a:schemeClr val="dk1"/>
                </a:solidFill>
                <a:latin typeface="Roboto"/>
                <a:ea typeface="Roboto"/>
                <a:cs typeface="Roboto"/>
                <a:sym typeface="Roboto"/>
              </a:rPr>
              <a:t>Answer:    </a:t>
            </a:r>
            <a:r>
              <a:rPr lang="en-US">
                <a:solidFill>
                  <a:schemeClr val="dk1"/>
                </a:solidFill>
                <a:latin typeface="Roboto"/>
                <a:ea typeface="Roboto"/>
                <a:cs typeface="Roboto"/>
                <a:sym typeface="Roboto"/>
              </a:rPr>
              <a:t>C) O(N)</a:t>
            </a:r>
            <a:endParaRPr>
              <a:solidFill>
                <a:schemeClr val="dk2"/>
              </a:solidFill>
              <a:latin typeface="Roboto"/>
              <a:ea typeface="Roboto"/>
              <a:cs typeface="Roboto"/>
              <a:sym typeface="Roboto"/>
            </a:endParaRPr>
          </a:p>
        </p:txBody>
      </p:sp>
      <p:sp>
        <p:nvSpPr>
          <p:cNvPr id="280" name="Google Shape;280;g3e27c63ab70_0_247"/>
          <p:cNvSpPr txBox="1"/>
          <p:nvPr/>
        </p:nvSpPr>
        <p:spPr>
          <a:xfrm>
            <a:off x="5066825" y="1075825"/>
            <a:ext cx="2783100" cy="400200"/>
          </a:xfrm>
          <a:prstGeom prst="rect">
            <a:avLst/>
          </a:prstGeom>
          <a:noFill/>
          <a:ln cap="flat" cmpd="sng" w="38100">
            <a:solidFill>
              <a:srgbClr val="8474F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Asked in Amazon (2025) - MCQ</a:t>
            </a:r>
            <a:endParaRPr b="1">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e27c63ab70_0_257"/>
          <p:cNvSpPr txBox="1"/>
          <p:nvPr>
            <p:ph type="title"/>
          </p:nvPr>
        </p:nvSpPr>
        <p:spPr>
          <a:xfrm>
            <a:off x="372525" y="445025"/>
            <a:ext cx="72813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00">
                <a:solidFill>
                  <a:srgbClr val="8474F5"/>
                </a:solidFill>
              </a:rPr>
              <a:t>Interview questions</a:t>
            </a:r>
            <a:endParaRPr/>
          </a:p>
        </p:txBody>
      </p:sp>
      <p:sp>
        <p:nvSpPr>
          <p:cNvPr id="286" name="Google Shape;286;g3e27c63ab70_0_257"/>
          <p:cNvSpPr txBox="1"/>
          <p:nvPr>
            <p:ph idx="1" type="body"/>
          </p:nvPr>
        </p:nvSpPr>
        <p:spPr>
          <a:xfrm>
            <a:off x="372525" y="1264975"/>
            <a:ext cx="7567200" cy="19845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Clr>
                <a:schemeClr val="dk1"/>
              </a:buClr>
              <a:buSzPts val="1100"/>
              <a:buFont typeface="Arial"/>
              <a:buNone/>
            </a:pPr>
            <a:r>
              <a:rPr lang="en-US" sz="1400">
                <a:solidFill>
                  <a:schemeClr val="dk1"/>
                </a:solidFill>
              </a:rPr>
              <a:t>Which algorithm is most similar to this problem?                            </a:t>
            </a:r>
            <a:endParaRPr b="1" sz="1400">
              <a:solidFill>
                <a:schemeClr val="dk1"/>
              </a:solidFill>
              <a:highlight>
                <a:srgbClr val="FFFF00"/>
              </a:highlight>
            </a:endParaRPr>
          </a:p>
          <a:p>
            <a:pPr indent="0" lvl="0" marL="0" rtl="0" algn="l">
              <a:lnSpc>
                <a:spcPct val="150000"/>
              </a:lnSpc>
              <a:spcBef>
                <a:spcPts val="1200"/>
              </a:spcBef>
              <a:spcAft>
                <a:spcPts val="0"/>
              </a:spcAft>
              <a:buNone/>
            </a:pPr>
            <a:r>
              <a:rPr lang="en-US" sz="1400">
                <a:solidFill>
                  <a:schemeClr val="dk1"/>
                </a:solidFill>
              </a:rPr>
              <a:t>A) Binary Search</a:t>
            </a:r>
            <a:br>
              <a:rPr lang="en-US" sz="1400">
                <a:solidFill>
                  <a:schemeClr val="dk1"/>
                </a:solidFill>
              </a:rPr>
            </a:br>
            <a:r>
              <a:rPr lang="en-US" sz="1400">
                <a:solidFill>
                  <a:schemeClr val="dk1"/>
                </a:solidFill>
              </a:rPr>
              <a:t> B) Merge Sort</a:t>
            </a:r>
            <a:br>
              <a:rPr lang="en-US" sz="1400">
                <a:solidFill>
                  <a:schemeClr val="dk1"/>
                </a:solidFill>
              </a:rPr>
            </a:br>
            <a:r>
              <a:rPr lang="en-US" sz="1400">
                <a:solidFill>
                  <a:schemeClr val="dk1"/>
                </a:solidFill>
              </a:rPr>
              <a:t> C) Kadane’s Algorithm</a:t>
            </a:r>
            <a:br>
              <a:rPr lang="en-US" sz="1400">
                <a:solidFill>
                  <a:schemeClr val="dk1"/>
                </a:solidFill>
              </a:rPr>
            </a:br>
            <a:r>
              <a:rPr lang="en-US" sz="1400">
                <a:solidFill>
                  <a:schemeClr val="dk1"/>
                </a:solidFill>
              </a:rPr>
              <a:t> D) BFS</a:t>
            </a:r>
            <a:endParaRPr sz="1400">
              <a:solidFill>
                <a:schemeClr val="dk1"/>
              </a:solidFill>
            </a:endParaRPr>
          </a:p>
          <a:p>
            <a:pPr indent="0" lvl="0" marL="0" rtl="0" algn="l">
              <a:lnSpc>
                <a:spcPct val="150000"/>
              </a:lnSpc>
              <a:spcBef>
                <a:spcPts val="1200"/>
              </a:spcBef>
              <a:spcAft>
                <a:spcPts val="0"/>
              </a:spcAft>
              <a:buClr>
                <a:schemeClr val="dk1"/>
              </a:buClr>
              <a:buSzPts val="1100"/>
              <a:buFont typeface="Arial"/>
              <a:buNone/>
            </a:pPr>
            <a:r>
              <a:t/>
            </a:r>
            <a:endParaRPr sz="1400">
              <a:solidFill>
                <a:schemeClr val="dk1"/>
              </a:solidFill>
            </a:endParaRPr>
          </a:p>
          <a:p>
            <a:pPr indent="0" lvl="0" marL="0" rtl="0" algn="l">
              <a:lnSpc>
                <a:spcPct val="150000"/>
              </a:lnSpc>
              <a:spcBef>
                <a:spcPts val="1200"/>
              </a:spcBef>
              <a:spcAft>
                <a:spcPts val="0"/>
              </a:spcAft>
              <a:buNone/>
            </a:pPr>
            <a:r>
              <a:t/>
            </a:r>
            <a:endParaRPr sz="1400"/>
          </a:p>
        </p:txBody>
      </p:sp>
      <p:sp>
        <p:nvSpPr>
          <p:cNvPr id="287" name="Google Shape;287;g3e27c63ab70_0_257"/>
          <p:cNvSpPr txBox="1"/>
          <p:nvPr/>
        </p:nvSpPr>
        <p:spPr>
          <a:xfrm>
            <a:off x="520700" y="3496725"/>
            <a:ext cx="7493100" cy="67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Clr>
                <a:schemeClr val="dk1"/>
              </a:buClr>
              <a:buSzPts val="1100"/>
              <a:buFont typeface="Arial"/>
              <a:buNone/>
            </a:pPr>
            <a:r>
              <a:rPr b="1" lang="en-US">
                <a:solidFill>
                  <a:schemeClr val="dk1"/>
                </a:solidFill>
                <a:latin typeface="Roboto"/>
                <a:ea typeface="Roboto"/>
                <a:cs typeface="Roboto"/>
                <a:sym typeface="Roboto"/>
              </a:rPr>
              <a:t>Answer: </a:t>
            </a:r>
            <a:r>
              <a:rPr lang="en-US">
                <a:solidFill>
                  <a:schemeClr val="dk1"/>
                </a:solidFill>
                <a:latin typeface="Roboto"/>
                <a:ea typeface="Roboto"/>
                <a:cs typeface="Roboto"/>
                <a:sym typeface="Roboto"/>
              </a:rPr>
              <a:t>C) Kadane’s Algorithm</a:t>
            </a:r>
            <a:endParaRPr>
              <a:solidFill>
                <a:schemeClr val="dk2"/>
              </a:solidFill>
              <a:latin typeface="Roboto"/>
              <a:ea typeface="Roboto"/>
              <a:cs typeface="Roboto"/>
              <a:sym typeface="Roboto"/>
            </a:endParaRPr>
          </a:p>
        </p:txBody>
      </p:sp>
      <p:sp>
        <p:nvSpPr>
          <p:cNvPr id="288" name="Google Shape;288;g3e27c63ab70_0_257"/>
          <p:cNvSpPr txBox="1"/>
          <p:nvPr/>
        </p:nvSpPr>
        <p:spPr>
          <a:xfrm>
            <a:off x="5040050" y="1017725"/>
            <a:ext cx="3010800" cy="448800"/>
          </a:xfrm>
          <a:prstGeom prst="rect">
            <a:avLst/>
          </a:prstGeom>
          <a:noFill/>
          <a:ln cap="flat" cmpd="sng" w="38100">
            <a:solidFill>
              <a:srgbClr val="8474F5"/>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latin typeface="Roboto"/>
                <a:ea typeface="Roboto"/>
                <a:cs typeface="Roboto"/>
                <a:sym typeface="Roboto"/>
              </a:rPr>
              <a:t>Asked in Amazon OA (2026) - MCQ</a:t>
            </a:r>
            <a:endParaRPr b="1">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g23f307fc558_0_8"/>
          <p:cNvPicPr preferRelativeResize="0"/>
          <p:nvPr/>
        </p:nvPicPr>
        <p:blipFill rotWithShape="1">
          <a:blip r:embed="rId3">
            <a:alphaModFix/>
          </a:blip>
          <a:srcRect b="0" l="0" r="53855" t="0"/>
          <a:stretch/>
        </p:blipFill>
        <p:spPr>
          <a:xfrm>
            <a:off x="8096776" y="1"/>
            <a:ext cx="1047224" cy="1102725"/>
          </a:xfrm>
          <a:prstGeom prst="rect">
            <a:avLst/>
          </a:prstGeom>
          <a:noFill/>
          <a:ln>
            <a:noFill/>
          </a:ln>
        </p:spPr>
      </p:pic>
      <p:sp>
        <p:nvSpPr>
          <p:cNvPr id="294" name="Google Shape;294;g23f307fc558_0_8"/>
          <p:cNvSpPr txBox="1"/>
          <p:nvPr/>
        </p:nvSpPr>
        <p:spPr>
          <a:xfrm>
            <a:off x="629999" y="1141357"/>
            <a:ext cx="81171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1500"/>
              </a:spcBef>
              <a:spcAft>
                <a:spcPts val="1500"/>
              </a:spcAft>
              <a:buClr>
                <a:srgbClr val="000000"/>
              </a:buClr>
              <a:buSzPts val="1800"/>
              <a:buFont typeface="Arial"/>
              <a:buNone/>
            </a:pPr>
            <a:r>
              <a:rPr b="0" i="0" lang="en-US" sz="1500" u="none" cap="none" strike="noStrike">
                <a:solidFill>
                  <a:srgbClr val="000000"/>
                </a:solidFill>
                <a:latin typeface="Roboto"/>
                <a:ea typeface="Roboto"/>
                <a:cs typeface="Roboto"/>
                <a:sym typeface="Roboto"/>
              </a:rPr>
              <a:t>Explain the Maximum Product Subarray problem.</a:t>
            </a:r>
            <a:endParaRPr b="0" i="0" sz="1500" u="none" cap="none" strike="noStrike">
              <a:solidFill>
                <a:srgbClr val="000000"/>
              </a:solidFill>
              <a:latin typeface="Roboto"/>
              <a:ea typeface="Roboto"/>
              <a:cs typeface="Roboto"/>
              <a:sym typeface="Roboto"/>
            </a:endParaRPr>
          </a:p>
        </p:txBody>
      </p:sp>
      <p:sp>
        <p:nvSpPr>
          <p:cNvPr id="295" name="Google Shape;295;g23f307fc558_0_8"/>
          <p:cNvSpPr txBox="1"/>
          <p:nvPr/>
        </p:nvSpPr>
        <p:spPr>
          <a:xfrm>
            <a:off x="1007600" y="1856175"/>
            <a:ext cx="6709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The Maximum Product Subarray problem involves finding a contiguous subarray within an array that has the largest product of its elements.</a:t>
            </a:r>
            <a:endParaRPr b="0" i="0" u="none" cap="none" strike="noStrike">
              <a:solidFill>
                <a:srgbClr val="000000"/>
              </a:solidFill>
              <a:latin typeface="Roboto"/>
              <a:ea typeface="Roboto"/>
              <a:cs typeface="Roboto"/>
              <a:sym typeface="Roboto"/>
            </a:endParaRPr>
          </a:p>
        </p:txBody>
      </p:sp>
      <p:sp>
        <p:nvSpPr>
          <p:cNvPr id="296" name="Google Shape;296;g23f307fc558_0_8"/>
          <p:cNvSpPr txBox="1"/>
          <p:nvPr/>
        </p:nvSpPr>
        <p:spPr>
          <a:xfrm>
            <a:off x="404318" y="439875"/>
            <a:ext cx="7313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1" i="0" lang="en-US" sz="2000" u="none" cap="none" strike="noStrike">
                <a:solidFill>
                  <a:srgbClr val="8474F5"/>
                </a:solidFill>
                <a:latin typeface="Roboto"/>
                <a:ea typeface="Roboto"/>
                <a:cs typeface="Roboto"/>
                <a:sym typeface="Roboto"/>
              </a:rPr>
              <a:t>Interview questions</a:t>
            </a:r>
            <a:endParaRPr b="1" i="0" sz="2000" u="none" cap="none" strike="noStrike">
              <a:solidFill>
                <a:srgbClr val="8474F5"/>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g23f307fc558_0_18"/>
          <p:cNvPicPr preferRelativeResize="0"/>
          <p:nvPr/>
        </p:nvPicPr>
        <p:blipFill rotWithShape="1">
          <a:blip r:embed="rId3">
            <a:alphaModFix/>
          </a:blip>
          <a:srcRect b="0" l="0" r="53855" t="0"/>
          <a:stretch/>
        </p:blipFill>
        <p:spPr>
          <a:xfrm>
            <a:off x="8096776" y="1"/>
            <a:ext cx="1047224" cy="1102725"/>
          </a:xfrm>
          <a:prstGeom prst="rect">
            <a:avLst/>
          </a:prstGeom>
          <a:noFill/>
          <a:ln>
            <a:noFill/>
          </a:ln>
        </p:spPr>
      </p:pic>
      <p:sp>
        <p:nvSpPr>
          <p:cNvPr id="302" name="Google Shape;302;g23f307fc558_0_1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303" name="Google Shape;303;g23f307fc558_0_18"/>
          <p:cNvSpPr txBox="1"/>
          <p:nvPr/>
        </p:nvSpPr>
        <p:spPr>
          <a:xfrm>
            <a:off x="605375" y="1276725"/>
            <a:ext cx="65721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1500"/>
              </a:spcAft>
              <a:buClr>
                <a:srgbClr val="000000"/>
              </a:buClr>
              <a:buSzPts val="1800"/>
              <a:buFont typeface="Arial"/>
              <a:buNone/>
            </a:pPr>
            <a:r>
              <a:rPr b="0" i="0" lang="en-US" sz="1500" u="none" cap="none" strike="noStrike">
                <a:solidFill>
                  <a:srgbClr val="000000"/>
                </a:solidFill>
                <a:latin typeface="Roboto"/>
                <a:ea typeface="Roboto"/>
                <a:cs typeface="Roboto"/>
                <a:sym typeface="Roboto"/>
              </a:rPr>
              <a:t>How would you approach solving the Maximum Product Subarray problem?</a:t>
            </a:r>
            <a:endParaRPr b="0" i="0" sz="1100" u="none" cap="none" strike="noStrike">
              <a:solidFill>
                <a:srgbClr val="000000"/>
              </a:solidFill>
              <a:latin typeface="Roboto"/>
              <a:ea typeface="Roboto"/>
              <a:cs typeface="Roboto"/>
              <a:sym typeface="Roboto"/>
            </a:endParaRPr>
          </a:p>
        </p:txBody>
      </p:sp>
      <p:sp>
        <p:nvSpPr>
          <p:cNvPr id="304" name="Google Shape;304;g23f307fc558_0_18"/>
          <p:cNvSpPr txBox="1"/>
          <p:nvPr/>
        </p:nvSpPr>
        <p:spPr>
          <a:xfrm>
            <a:off x="1131375" y="1916600"/>
            <a:ext cx="63849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One common approach is to use dynamic programming. We can keep track of both the maximum and minimum product subarrays at each index while iterating through the array. By considering the maximum of four cases for each element, we update the maximum and minimum subarray products. Finally, we return the maximum product found.</a:t>
            </a:r>
            <a:endParaRPr b="0" i="0" sz="2400" u="none" cap="none" strike="noStrike">
              <a:solidFill>
                <a:schemeClr val="dk1"/>
              </a:solidFill>
              <a:latin typeface="Roboto"/>
              <a:ea typeface="Roboto"/>
              <a:cs typeface="Roboto"/>
              <a:sym typeface="Roboto"/>
            </a:endParaRPr>
          </a:p>
        </p:txBody>
      </p:sp>
      <p:sp>
        <p:nvSpPr>
          <p:cNvPr id="305" name="Google Shape;305;g23f307fc558_0_18"/>
          <p:cNvSpPr txBox="1"/>
          <p:nvPr/>
        </p:nvSpPr>
        <p:spPr>
          <a:xfrm>
            <a:off x="336796" y="492325"/>
            <a:ext cx="7004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1" i="0" lang="en-US" sz="2000" u="none" cap="none" strike="noStrike">
                <a:solidFill>
                  <a:srgbClr val="8474F5"/>
                </a:solidFill>
                <a:latin typeface="Roboto"/>
                <a:ea typeface="Roboto"/>
                <a:cs typeface="Roboto"/>
                <a:sym typeface="Roboto"/>
              </a:rPr>
              <a:t>Interview questions</a:t>
            </a:r>
            <a:endParaRPr b="1" i="0" sz="2000" u="none" cap="none" strike="noStrike">
              <a:solidFill>
                <a:srgbClr val="8474F5"/>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g23f307fc558_0_30"/>
          <p:cNvPicPr preferRelativeResize="0"/>
          <p:nvPr/>
        </p:nvPicPr>
        <p:blipFill rotWithShape="1">
          <a:blip r:embed="rId3">
            <a:alphaModFix/>
          </a:blip>
          <a:srcRect b="0" l="0" r="53855" t="0"/>
          <a:stretch/>
        </p:blipFill>
        <p:spPr>
          <a:xfrm>
            <a:off x="8096776" y="1"/>
            <a:ext cx="1047224" cy="1102725"/>
          </a:xfrm>
          <a:prstGeom prst="rect">
            <a:avLst/>
          </a:prstGeom>
          <a:noFill/>
          <a:ln>
            <a:noFill/>
          </a:ln>
        </p:spPr>
      </p:pic>
      <p:sp>
        <p:nvSpPr>
          <p:cNvPr id="311" name="Google Shape;311;g23f307fc558_0_30"/>
          <p:cNvSpPr txBox="1"/>
          <p:nvPr/>
        </p:nvSpPr>
        <p:spPr>
          <a:xfrm>
            <a:off x="549500" y="1260850"/>
            <a:ext cx="67914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1500"/>
              </a:spcBef>
              <a:spcAft>
                <a:spcPts val="1500"/>
              </a:spcAft>
              <a:buClr>
                <a:srgbClr val="000000"/>
              </a:buClr>
              <a:buSzPts val="1800"/>
              <a:buFont typeface="Arial"/>
              <a:buNone/>
            </a:pPr>
            <a:r>
              <a:rPr b="0" i="0" lang="en-US" sz="1500" u="none" cap="none" strike="noStrike">
                <a:solidFill>
                  <a:srgbClr val="000000"/>
                </a:solidFill>
                <a:latin typeface="Roboto"/>
                <a:ea typeface="Roboto"/>
                <a:cs typeface="Roboto"/>
                <a:sym typeface="Roboto"/>
              </a:rPr>
              <a:t>What is the time complexity of the Maximum Product Subarray algorithm?</a:t>
            </a:r>
            <a:endParaRPr b="1" i="0" sz="1500" u="none" cap="none" strike="noStrike">
              <a:solidFill>
                <a:srgbClr val="000000"/>
              </a:solidFill>
              <a:latin typeface="Roboto"/>
              <a:ea typeface="Roboto"/>
              <a:cs typeface="Roboto"/>
              <a:sym typeface="Roboto"/>
            </a:endParaRPr>
          </a:p>
        </p:txBody>
      </p:sp>
      <p:sp>
        <p:nvSpPr>
          <p:cNvPr id="312" name="Google Shape;312;g23f307fc558_0_30"/>
          <p:cNvSpPr txBox="1"/>
          <p:nvPr/>
        </p:nvSpPr>
        <p:spPr>
          <a:xfrm>
            <a:off x="1007400" y="1909225"/>
            <a:ext cx="65937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The time complexity of the algorithm is O(n), where n is the size of the input array. This is because we iterate through the array only once, performing constant time operations at each index.</a:t>
            </a:r>
            <a:endParaRPr b="0" i="0" u="none" cap="none" strike="noStrike">
              <a:solidFill>
                <a:srgbClr val="000000"/>
              </a:solidFill>
              <a:latin typeface="Roboto"/>
              <a:ea typeface="Roboto"/>
              <a:cs typeface="Roboto"/>
              <a:sym typeface="Roboto"/>
            </a:endParaRPr>
          </a:p>
        </p:txBody>
      </p:sp>
      <p:sp>
        <p:nvSpPr>
          <p:cNvPr id="313" name="Google Shape;313;g23f307fc558_0_30"/>
          <p:cNvSpPr txBox="1"/>
          <p:nvPr/>
        </p:nvSpPr>
        <p:spPr>
          <a:xfrm>
            <a:off x="311195" y="472250"/>
            <a:ext cx="7427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1" i="0" lang="en-US" sz="2000" u="none" cap="none" strike="noStrike">
                <a:solidFill>
                  <a:srgbClr val="8474F5"/>
                </a:solidFill>
                <a:latin typeface="Roboto"/>
                <a:ea typeface="Roboto"/>
                <a:cs typeface="Roboto"/>
                <a:sym typeface="Roboto"/>
              </a:rPr>
              <a:t>Interview questions</a:t>
            </a:r>
            <a:endParaRPr b="1" i="0" sz="2000" u="none" cap="none" strike="noStrike">
              <a:solidFill>
                <a:srgbClr val="8474F5"/>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35"/>
          <p:cNvPicPr preferRelativeResize="0"/>
          <p:nvPr/>
        </p:nvPicPr>
        <p:blipFill rotWithShape="1">
          <a:blip r:embed="rId3">
            <a:alphaModFix/>
          </a:blip>
          <a:srcRect b="0" l="0" r="53855" t="0"/>
          <a:stretch/>
        </p:blipFill>
        <p:spPr>
          <a:xfrm>
            <a:off x="8096776" y="1"/>
            <a:ext cx="1047224" cy="1102725"/>
          </a:xfrm>
          <a:prstGeom prst="rect">
            <a:avLst/>
          </a:prstGeom>
          <a:noFill/>
          <a:ln>
            <a:noFill/>
          </a:ln>
        </p:spPr>
      </p:pic>
      <p:sp>
        <p:nvSpPr>
          <p:cNvPr id="319" name="Google Shape;319;p35"/>
          <p:cNvSpPr/>
          <p:nvPr/>
        </p:nvSpPr>
        <p:spPr>
          <a:xfrm>
            <a:off x="1007602" y="790605"/>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320" name="Google Shape;320;p35"/>
          <p:cNvSpPr txBox="1"/>
          <p:nvPr/>
        </p:nvSpPr>
        <p:spPr>
          <a:xfrm>
            <a:off x="454400" y="1102725"/>
            <a:ext cx="68865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1500"/>
              </a:spcBef>
              <a:spcAft>
                <a:spcPts val="1500"/>
              </a:spcAft>
              <a:buClr>
                <a:srgbClr val="000000"/>
              </a:buClr>
              <a:buSzPts val="1800"/>
              <a:buFont typeface="Arial"/>
              <a:buNone/>
            </a:pPr>
            <a:r>
              <a:rPr b="0" i="0" lang="en-US" sz="1500" u="none" cap="none" strike="noStrike">
                <a:solidFill>
                  <a:srgbClr val="000000"/>
                </a:solidFill>
                <a:latin typeface="Roboto"/>
                <a:ea typeface="Roboto"/>
                <a:cs typeface="Roboto"/>
                <a:sym typeface="Roboto"/>
              </a:rPr>
              <a:t>How can we handle edge cases in the Maximum Product Subarray problem? </a:t>
            </a:r>
            <a:endParaRPr b="1" i="0" sz="2100" u="none" cap="none" strike="noStrike">
              <a:solidFill>
                <a:srgbClr val="000000"/>
              </a:solidFill>
              <a:latin typeface="Roboto"/>
              <a:ea typeface="Roboto"/>
              <a:cs typeface="Roboto"/>
              <a:sym typeface="Roboto"/>
            </a:endParaRPr>
          </a:p>
        </p:txBody>
      </p:sp>
      <p:sp>
        <p:nvSpPr>
          <p:cNvPr id="321" name="Google Shape;321;p35"/>
          <p:cNvSpPr txBox="1"/>
          <p:nvPr/>
        </p:nvSpPr>
        <p:spPr>
          <a:xfrm>
            <a:off x="700500" y="1798200"/>
            <a:ext cx="66510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000000"/>
              </a:buClr>
              <a:buSzPts val="1800"/>
              <a:buFont typeface="Arial"/>
              <a:buNone/>
            </a:pPr>
            <a:r>
              <a:rPr i="0" lang="en-US" u="none" cap="none" strike="noStrike">
                <a:solidFill>
                  <a:srgbClr val="000000"/>
                </a:solidFill>
                <a:latin typeface="Roboto"/>
                <a:ea typeface="Roboto"/>
                <a:cs typeface="Roboto"/>
                <a:sym typeface="Roboto"/>
              </a:rPr>
              <a:t>One possible edge case is an empty array. In such cases, we can return 0 as there are no elements to consider. </a:t>
            </a:r>
            <a:endParaRPr i="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800"/>
              <a:buFont typeface="Arial"/>
              <a:buNone/>
            </a:pPr>
            <a:r>
              <a:rPr i="0" lang="en-US" u="none" cap="none" strike="noStrike">
                <a:solidFill>
                  <a:srgbClr val="000000"/>
                </a:solidFill>
                <a:latin typeface="Roboto"/>
                <a:ea typeface="Roboto"/>
                <a:cs typeface="Roboto"/>
                <a:sym typeface="Roboto"/>
              </a:rPr>
              <a:t>Another edge case is when the array has only one element. In this case, the maximum product subarray would be that single element.</a:t>
            </a:r>
            <a:endParaRPr i="0" u="none" cap="none" strike="noStrike">
              <a:solidFill>
                <a:srgbClr val="000000"/>
              </a:solidFill>
              <a:latin typeface="Roboto"/>
              <a:ea typeface="Roboto"/>
              <a:cs typeface="Roboto"/>
              <a:sym typeface="Roboto"/>
            </a:endParaRPr>
          </a:p>
        </p:txBody>
      </p:sp>
      <p:sp>
        <p:nvSpPr>
          <p:cNvPr id="322" name="Google Shape;322;p35"/>
          <p:cNvSpPr txBox="1"/>
          <p:nvPr/>
        </p:nvSpPr>
        <p:spPr>
          <a:xfrm>
            <a:off x="408757" y="485775"/>
            <a:ext cx="7234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800"/>
              <a:buFont typeface="Arial"/>
              <a:buNone/>
            </a:pPr>
            <a:r>
              <a:rPr b="1" i="0" lang="en-US" sz="2000" u="none" cap="none" strike="noStrike">
                <a:solidFill>
                  <a:srgbClr val="8474F5"/>
                </a:solidFill>
                <a:latin typeface="Roboto"/>
                <a:ea typeface="Roboto"/>
                <a:cs typeface="Roboto"/>
                <a:sym typeface="Roboto"/>
              </a:rPr>
              <a:t>Interview questions</a:t>
            </a:r>
            <a:endParaRPr b="1" i="0" sz="2000" u="none" cap="none" strike="noStrike">
              <a:solidFill>
                <a:srgbClr val="8474F5"/>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g3e9c74afdbb_0_1"/>
          <p:cNvPicPr preferRelativeResize="0"/>
          <p:nvPr/>
        </p:nvPicPr>
        <p:blipFill>
          <a:blip r:embed="rId3">
            <a:alphaModFix/>
          </a:blip>
          <a:stretch>
            <a:fillRect/>
          </a:stretch>
        </p:blipFill>
        <p:spPr>
          <a:xfrm>
            <a:off x="359025" y="430538"/>
            <a:ext cx="1295400" cy="1167825"/>
          </a:xfrm>
          <a:prstGeom prst="rect">
            <a:avLst/>
          </a:prstGeom>
          <a:noFill/>
          <a:ln>
            <a:noFill/>
          </a:ln>
        </p:spPr>
      </p:pic>
      <p:sp>
        <p:nvSpPr>
          <p:cNvPr id="328" name="Google Shape;328;g3e9c74afdbb_0_1"/>
          <p:cNvSpPr txBox="1"/>
          <p:nvPr/>
        </p:nvSpPr>
        <p:spPr>
          <a:xfrm>
            <a:off x="1837925" y="768138"/>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07FEC"/>
                </a:solidFill>
                <a:latin typeface="Roboto"/>
                <a:ea typeface="Roboto"/>
                <a:cs typeface="Roboto"/>
                <a:sym typeface="Roboto"/>
              </a:rPr>
              <a:t>Help Desk </a:t>
            </a:r>
            <a:endParaRPr/>
          </a:p>
        </p:txBody>
      </p:sp>
      <p:sp>
        <p:nvSpPr>
          <p:cNvPr id="329" name="Google Shape;329;g3e9c74afdbb_0_1"/>
          <p:cNvSpPr txBox="1"/>
          <p:nvPr/>
        </p:nvSpPr>
        <p:spPr>
          <a:xfrm>
            <a:off x="576675" y="2033800"/>
            <a:ext cx="5678100" cy="1385400"/>
          </a:xfrm>
          <a:prstGeom prst="rect">
            <a:avLst/>
          </a:prstGeom>
          <a:noFill/>
          <a:ln>
            <a:noFill/>
          </a:ln>
        </p:spPr>
        <p:txBody>
          <a:bodyPr anchorCtr="0" anchor="t" bIns="91425" lIns="91425" spcFirstLastPara="1" rIns="91425" wrap="square" tIns="91425">
            <a:spAutoFit/>
          </a:bodyPr>
          <a:lstStyle/>
          <a:p>
            <a:pPr indent="0" lvl="0" marL="457200" rtl="0" algn="l">
              <a:lnSpc>
                <a:spcPct val="200000"/>
              </a:lnSpc>
              <a:spcBef>
                <a:spcPts val="0"/>
              </a:spcBef>
              <a:spcAft>
                <a:spcPts val="0"/>
              </a:spcAft>
              <a:buNone/>
            </a:pPr>
            <a:r>
              <a:rPr lang="en-US">
                <a:solidFill>
                  <a:schemeClr val="dk1"/>
                </a:solidFill>
                <a:latin typeface="Roboto"/>
                <a:ea typeface="Roboto"/>
                <a:cs typeface="Roboto"/>
                <a:sym typeface="Roboto"/>
              </a:rPr>
              <a:t>Any concerns related to attendance/marks/ faculty ; you can reach out to ETHNUS helpdesk through the displayed QR code</a:t>
            </a:r>
            <a:endParaRPr>
              <a:solidFill>
                <a:schemeClr val="dk1"/>
              </a:solidFill>
              <a:latin typeface="Roboto"/>
              <a:ea typeface="Roboto"/>
              <a:cs typeface="Roboto"/>
              <a:sym typeface="Roboto"/>
            </a:endParaRPr>
          </a:p>
          <a:p>
            <a:pPr indent="0" lvl="0" marL="0" rtl="0" algn="l">
              <a:spcBef>
                <a:spcPts val="0"/>
              </a:spcBef>
              <a:spcAft>
                <a:spcPts val="0"/>
              </a:spcAft>
              <a:buNone/>
            </a:pPr>
            <a:r>
              <a:rPr lang="en-US">
                <a:solidFill>
                  <a:schemeClr val="dk1"/>
                </a:solidFill>
                <a:latin typeface="Roboto"/>
                <a:ea typeface="Roboto"/>
                <a:cs typeface="Roboto"/>
                <a:sym typeface="Roboto"/>
              </a:rPr>
              <a:t>           </a:t>
            </a:r>
            <a:r>
              <a:rPr lang="en-US" sz="2200" u="sng">
                <a:solidFill>
                  <a:schemeClr val="accent5"/>
                </a:solidFill>
                <a:latin typeface="Roboto"/>
                <a:ea typeface="Roboto"/>
                <a:cs typeface="Roboto"/>
                <a:sym typeface="Roboto"/>
                <a:hlinkClick r:id="rId4">
                  <a:extLst>
                    <a:ext uri="{A12FA001-AC4F-418D-AE19-62706E023703}">
                      <ahyp:hlinkClr val="tx"/>
                    </a:ext>
                  </a:extLst>
                </a:hlinkClick>
              </a:rPr>
              <a:t>https://codemithra.com/vit-helpdesk/</a:t>
            </a:r>
            <a:endParaRPr/>
          </a:p>
        </p:txBody>
      </p:sp>
      <p:pic>
        <p:nvPicPr>
          <p:cNvPr id="330" name="Google Shape;330;g3e9c74afdbb_0_1"/>
          <p:cNvPicPr preferRelativeResize="0"/>
          <p:nvPr/>
        </p:nvPicPr>
        <p:blipFill rotWithShape="1">
          <a:blip r:embed="rId5">
            <a:alphaModFix/>
          </a:blip>
          <a:srcRect b="0" l="0" r="0" t="0"/>
          <a:stretch/>
        </p:blipFill>
        <p:spPr>
          <a:xfrm>
            <a:off x="6254775" y="1745238"/>
            <a:ext cx="2165724" cy="19625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36" name="Google Shape;336;p5"/>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337" name="Google Shape;337;p5"/>
          <p:cNvSpPr/>
          <p:nvPr/>
        </p:nvSpPr>
        <p:spPr>
          <a:xfrm>
            <a:off x="1634725" y="3886448"/>
            <a:ext cx="5184000" cy="4533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43" name="Google Shape;343;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44" name="Google Shape;344;p6"/>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45" name="Google Shape;345;p6"/>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346" name="Google Shape;346;p6"/>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47" name="Google Shape;347;p6"/>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48" name="Google Shape;348;p6"/>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349" name="Google Shape;349;p6"/>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50" name="Google Shape;350;p6"/>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351" name="Google Shape;351;p6"/>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52" name="Google Shape;352;p6"/>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353" name="Google Shape;353;p6"/>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