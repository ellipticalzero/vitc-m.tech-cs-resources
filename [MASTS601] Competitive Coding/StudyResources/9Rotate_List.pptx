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Roboto Black"/>
      <p:bold r:id="rId34"/>
      <p:boldItalic r:id="rId35"/>
    </p:embeddedFont>
    <p:embeddedFont>
      <p:font typeface="Robo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40" roundtripDataSignature="AMtx7mgWL6tcwGa2JGZoA2S+ARol9Tpg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88AC66A-72F3-4520-A6E6-70E045F40620}">
  <a:tblStyle styleId="{088AC66A-72F3-4520-A6E6-70E045F4062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Black-boldItalic.fntdata"/><Relationship Id="rId12" Type="http://schemas.openxmlformats.org/officeDocument/2006/relationships/slide" Target="slides/slide6.xml"/><Relationship Id="rId34" Type="http://schemas.openxmlformats.org/officeDocument/2006/relationships/font" Target="fonts/RobotoBlack-bold.fntdata"/><Relationship Id="rId15" Type="http://schemas.openxmlformats.org/officeDocument/2006/relationships/slide" Target="slides/slide9.xml"/><Relationship Id="rId37" Type="http://schemas.openxmlformats.org/officeDocument/2006/relationships/font" Target="fonts/Roboto-bold.fntdata"/><Relationship Id="rId14" Type="http://schemas.openxmlformats.org/officeDocument/2006/relationships/slide" Target="slides/slide8.xml"/><Relationship Id="rId36" Type="http://schemas.openxmlformats.org/officeDocument/2006/relationships/font" Target="fonts/Robot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fd07ba9d7_1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efd07ba9d7_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3d0138414_0_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g373d013841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3c1788ac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73c1788ac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21c30a0d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721c30a0d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function rotateRight(head, k):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head == null OR head.next == null OR k == 0: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Step 1: Find length and tail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length = 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tail =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while tail.next is not null: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tail = tail.next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length += 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Step 2: Normalize k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k = k % length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k == 0: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Step 3: Find new tail (length - k - 1)th node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newTail =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for i = 1 to (length - k - 1):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newTail = newTail.next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Step 4: Break and rotate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newHead = newTail.next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newTail.next = null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tail.next =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return newHead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21c30a0d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721c30a0d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21c30a0d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721c30a0d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function rotateLeft(head, k):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head == null OR head.next == null OR k == 0: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Step 1: Find length and tail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length = 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tail =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while tail.next is not null: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tail = tail.next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length += 1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Step 2: Normalize k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k = k % length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k == 0: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Step 3: Find new head and tail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newTail =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for i = 1 to (k - 1):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newTail = newTail.next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newHead = newTail.next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Step 4: Break and reconnect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newTail.next = null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tail.next = 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return newHead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21c30a0d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721c30a0d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3c1dcbc4c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73c1dcbc4c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java.util.Scanner;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Node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int 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 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Node(int data)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this.data = data;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this.next =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class RotateLeftLinkedList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Function to insert node at end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insert(Node head, int data)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newNode = new Node(data);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null) return newNode;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(temp.next != null) temp = temp.next;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temp.next = newNode;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Function to rotate list to the left by k positions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rotateLeft(Node head, int k)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 || head.next == null || k == 0) return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Step 1: Find length and tail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length = 1;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tail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(tail.next != null)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tail = tail.next;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length++;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Normalize k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k = k % length;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(k == 0) return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Step 2: Find new head and tail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newTail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1; i &lt; k; i++)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newTail = newTail.next;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newHead = newTail.next;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newTail.next =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tail.next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newHead;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Function to print the list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void printList(Node head)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 != null)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System.out.print(temp.data);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if (temp.next != null) System.out.print(" →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// Main method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public static void main(String[] args)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Scanner sc = new Scanner(System.in);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head = null;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number of elements in the list: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n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System.out.println("Enter " + n + " elements:");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0; i &lt; n; i++) {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int value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head = insert(head, value);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number of positions to rotate left (k): 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k = sc.nextInt();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System.out.println("Original List:");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head = rotateLeft(head, k);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System.out.println("List after left rotation by " + k + ":");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3c1dcbc4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73c1dcbc4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3c1788ac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73c1788ac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721c30a0d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721c30a0d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73d41a85a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73d41a85a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21c30a0d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g3721c30a0d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3c1dcbc4c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g373c1dcbc4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3d013841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73d013841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3c1788ac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73c1788ac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3d013841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73d013841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3d0138414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373d013841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73c1788ac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73c1788ac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efd07ba9d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efd07ba9d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efd07ba9d7_1_53:notes"/>
          <p:cNvSpPr/>
          <p:nvPr>
            <p:ph idx="2" type="sldImg"/>
          </p:nvPr>
        </p:nvSpPr>
        <p:spPr>
          <a:xfrm>
            <a:off x="685800" y="1143000"/>
            <a:ext cx="54849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g3efd07ba9d7_1_53:notes"/>
          <p:cNvSpPr txBox="1"/>
          <p:nvPr>
            <p:ph idx="1" type="body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0" sz="1200" strike="noStrike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Roboto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23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23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5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2" name="Google Shape;62;p25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3" name="Google Shape;63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6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26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6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8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">
  <p:cSld name="10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9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29"/>
          <p:cNvSpPr/>
          <p:nvPr/>
        </p:nvSpPr>
        <p:spPr>
          <a:xfrm>
            <a:off x="902326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29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" name="Google Shape;89;p29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29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29"/>
          <p:cNvSpPr/>
          <p:nvPr/>
        </p:nvSpPr>
        <p:spPr>
          <a:xfrm>
            <a:off x="894683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29"/>
          <p:cNvSpPr/>
          <p:nvPr/>
        </p:nvSpPr>
        <p:spPr>
          <a:xfrm>
            <a:off x="902326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29"/>
          <p:cNvSpPr/>
          <p:nvPr/>
        </p:nvSpPr>
        <p:spPr>
          <a:xfrm>
            <a:off x="887040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" name="Google Shape;94;p29"/>
          <p:cNvSpPr/>
          <p:nvPr/>
        </p:nvSpPr>
        <p:spPr>
          <a:xfrm>
            <a:off x="879397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29"/>
          <p:cNvSpPr/>
          <p:nvPr/>
        </p:nvSpPr>
        <p:spPr>
          <a:xfrm>
            <a:off x="8717540" y="5006004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fd07ba9d7_1_10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g3efd07ba9d7_1_10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9" name="Google Shape;99;g3efd07ba9d7_1_10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latin typeface="Roboto"/>
                <a:ea typeface="Roboto"/>
                <a:cs typeface="Roboto"/>
                <a:sym typeface="Roboto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g3efd07ba9d7_1_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Roboto"/>
              <a:buNone/>
              <a:defRPr b="0" i="0" sz="33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1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-1" y="5414"/>
            <a:ext cx="9144003" cy="5138087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orms.gle/QNFuUQUa2ZAznLfv6" TargetMode="External"/><Relationship Id="rId4" Type="http://schemas.openxmlformats.org/officeDocument/2006/relationships/hyperlink" Target="https://forms.gle/QNFuUQUa2ZAznLfv6" TargetMode="External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hyperlink" Target="https://codemithra.com/vit-helpdesk/" TargetMode="External"/><Relationship Id="rId5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4.png"/><Relationship Id="rId4" Type="http://schemas.openxmlformats.org/officeDocument/2006/relationships/hyperlink" Target="https://learn.codemithra.com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jp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06" name="Google Shape;106;p1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7" name="Google Shape;10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4600" y="524088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00050" y="3386138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fd07ba9d7_1_110"/>
          <p:cNvSpPr txBox="1"/>
          <p:nvPr>
            <p:ph type="title"/>
          </p:nvPr>
        </p:nvSpPr>
        <p:spPr>
          <a:xfrm>
            <a:off x="1405728" y="479750"/>
            <a:ext cx="8372700" cy="5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2000">
                <a:solidFill>
                  <a:srgbClr val="807FEC"/>
                </a:solidFill>
              </a:rPr>
              <a:t>  </a:t>
            </a:r>
            <a:r>
              <a:rPr b="1" lang="en" sz="2000">
                <a:solidFill>
                  <a:srgbClr val="807FEC"/>
                </a:solidFill>
              </a:rPr>
              <a:t>Test Time On</a:t>
            </a:r>
            <a:r>
              <a:rPr b="1" lang="en" sz="2000">
                <a:solidFill>
                  <a:srgbClr val="807FEC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Remove Linked List Elements</a:t>
            </a:r>
            <a:r>
              <a:rPr b="1" lang="en" sz="2000">
                <a:solidFill>
                  <a:srgbClr val="807FE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2000">
              <a:solidFill>
                <a:srgbClr val="807FEC"/>
              </a:solidFill>
            </a:endParaRPr>
          </a:p>
        </p:txBody>
      </p:sp>
      <p:sp>
        <p:nvSpPr>
          <p:cNvPr id="115" name="Google Shape;115;g3efd07ba9d7_1_110"/>
          <p:cNvSpPr txBox="1"/>
          <p:nvPr/>
        </p:nvSpPr>
        <p:spPr>
          <a:xfrm>
            <a:off x="1936250" y="4239350"/>
            <a:ext cx="53973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URL</a:t>
            </a:r>
            <a:r>
              <a:rPr lang="en" sz="2100">
                <a:solidFill>
                  <a:srgbClr val="807FEC"/>
                </a:solidFill>
                <a:latin typeface="Roboto"/>
                <a:ea typeface="Roboto"/>
                <a:cs typeface="Roboto"/>
                <a:sym typeface="Roboto"/>
              </a:rPr>
              <a:t> :</a:t>
            </a:r>
            <a:r>
              <a:rPr lang="en" sz="2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 </a:t>
            </a:r>
            <a:r>
              <a:rPr lang="en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https://forms.gle/QNFuUQUa2ZAznLfv6</a:t>
            </a:r>
            <a:endParaRPr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g3efd07ba9d7_1_110" title="qr-cod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1085" y="1128000"/>
            <a:ext cx="2958951" cy="2958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193194" y="2006024"/>
            <a:ext cx="469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" sz="2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Rotate Linked List</a:t>
            </a:r>
            <a:endParaRPr b="1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"/>
          <p:cNvSpPr txBox="1"/>
          <p:nvPr/>
        </p:nvSpPr>
        <p:spPr>
          <a:xfrm>
            <a:off x="152400" y="4572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8181EF"/>
                </a:solidFill>
                <a:latin typeface="Roboto Black"/>
                <a:ea typeface="Roboto Black"/>
                <a:cs typeface="Roboto Black"/>
                <a:sym typeface="Roboto Black"/>
              </a:rPr>
              <a:t>TOPICS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962721" y="1628019"/>
            <a:ext cx="32040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Introduction 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Algorithm Pseudocode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Example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Code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Time and space complexity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oboto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Advantages and disadvantages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Noto Sans Symbols"/>
              <a:buChar char="⮚"/>
            </a:pPr>
            <a:r>
              <a:rPr b="0" i="0" lang="en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Interview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373d0138414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g373d0138414_0_18"/>
          <p:cNvSpPr txBox="1"/>
          <p:nvPr>
            <p:ph type="ctrTitle"/>
          </p:nvPr>
        </p:nvSpPr>
        <p:spPr>
          <a:xfrm>
            <a:off x="333200" y="879350"/>
            <a:ext cx="72843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lang="en" sz="1800"/>
              <a:t>Rotate Linked List</a:t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4680"/>
              <a:buFont typeface="Arial"/>
              <a:buNone/>
            </a:pPr>
            <a:r>
              <a:t/>
            </a:r>
            <a:endParaRPr b="1"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" name="Google Shape;137;g373d0138414_0_18"/>
          <p:cNvSpPr txBox="1"/>
          <p:nvPr/>
        </p:nvSpPr>
        <p:spPr>
          <a:xfrm>
            <a:off x="481250" y="1232650"/>
            <a:ext cx="7140600" cy="31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Objective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Rotate the linked list to the right by </a:t>
            </a: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places.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Rotation: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Moving the tail of the list to become the new head.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Input: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[1 -&gt; 2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3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4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5], k = 2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Rotation 1: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[5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1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3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4]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Rotation 2: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[4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5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1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3]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Final Output: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[4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5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1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2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-&gt; 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3]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Interview Context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Recency: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Highly relevant in 2024–2026 assessments.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LeetCode 61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Microsoft</a:t>
            </a:r>
            <a:r>
              <a:rPr lang="en" sz="1100">
                <a:solidFill>
                  <a:schemeClr val="dk1"/>
                </a:solidFill>
              </a:rPr>
              <a:t> (IDC SDE-1 Coding Loop)November 04, 2024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3c1788ac8_0_4"/>
          <p:cNvSpPr txBox="1"/>
          <p:nvPr/>
        </p:nvSpPr>
        <p:spPr>
          <a:xfrm>
            <a:off x="533400" y="444500"/>
            <a:ext cx="4479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g373c1788ac8_0_4"/>
          <p:cNvSpPr txBox="1"/>
          <p:nvPr/>
        </p:nvSpPr>
        <p:spPr>
          <a:xfrm>
            <a:off x="533400" y="938075"/>
            <a:ext cx="7705800" cy="3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"Circular" Strategy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most efficient way to solve this is to temporarily turn the list into a circle.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Measure and Connect: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Find the length of the list and connect the tail to the head to form a loop.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the Breakpoint: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Calculate exactly where the new tail should be.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Break the Loop: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Cut the connection at the new tail to restore a linear list.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/>
        </p:nvSpPr>
        <p:spPr>
          <a:xfrm>
            <a:off x="533400" y="381000"/>
            <a:ext cx="7364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Rotate Linked List – Right Rotation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 Steps 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1: Get the Length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Traverse the list to count nodes (n) and stop at the last node.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Handle Large K: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Update k = k % n. If k == 0 return the original head.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2: Create a Loop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Connect the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tail.next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the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head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The list is now a circle.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3: Find the New Tail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new tail is at position (n - k)from the start.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Move your pointer (n - k) steps forward.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 4: The Break</a:t>
            </a:r>
            <a:endParaRPr b="1"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newHead = newTail.next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newTail.next = null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(to break the circle).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●"/>
            </a:pP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Return </a:t>
            </a:r>
            <a:r>
              <a:rPr lang="en" sz="1100">
                <a:solidFill>
                  <a:srgbClr val="188038"/>
                </a:solidFill>
                <a:latin typeface="Roboto"/>
                <a:ea typeface="Roboto"/>
                <a:cs typeface="Roboto"/>
                <a:sym typeface="Roboto"/>
              </a:rPr>
              <a:t>newHead</a:t>
            </a:r>
            <a:r>
              <a:rPr lang="en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t/>
            </a:r>
            <a:endParaRPr b="1"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21c30a0d3_0_4"/>
          <p:cNvSpPr txBox="1"/>
          <p:nvPr/>
        </p:nvSpPr>
        <p:spPr>
          <a:xfrm>
            <a:off x="2362200" y="381000"/>
            <a:ext cx="3956100" cy="439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Pseudocode : ( Right Rotation )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function rotateRight(head, k):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head == null OR head.next == null OR k == 0: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length = 1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tail =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while tail.next is not null: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tail = tail.next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length += 1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k = k % length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k == 0: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newTail =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for i = 1 to (length - k - 1):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newTail = newTail.next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newHead = newTail.next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newTail.next = null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tail.next =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return newHead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721c30a0d3_0_8"/>
          <p:cNvSpPr txBox="1"/>
          <p:nvPr/>
        </p:nvSpPr>
        <p:spPr>
          <a:xfrm>
            <a:off x="533400" y="304800"/>
            <a:ext cx="73644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Rotate Linked List – Left Rotation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Algorithm Steps (Left Rotation):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Edge Check: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If the list is empty, has only one node, or k == 0, return the list as is.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Length and Tail: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Traverse the list to determine its length and the last node.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Normalize K: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Compute k = k % length to handle k &gt; length.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New Head and New Tail: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Traverse to the kth node.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node at position k will become the new head.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node at position k - 1 will become the new tail.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Break and Reconnect: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Break the link at the new tail.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Connect the old tail next to the old head.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21c30a0d3_0_12"/>
          <p:cNvSpPr txBox="1"/>
          <p:nvPr/>
        </p:nvSpPr>
        <p:spPr>
          <a:xfrm>
            <a:off x="2362200" y="381000"/>
            <a:ext cx="3910200" cy="459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Pseudocode : ( Left Rotation )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function rotateLeft(head, k):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head == null OR head.next == null OR k == 0: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length = 1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tail =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while tail.next is not null: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tail = tail.next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length += 1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k = k % length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if k == 0: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newTail =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for i = 1 to (k - 1):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newTail = newTail.next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newHead = newTail.next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newTail.next = null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tail.next = 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return newHead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21c30a0d3_0_22"/>
          <p:cNvSpPr txBox="1"/>
          <p:nvPr/>
        </p:nvSpPr>
        <p:spPr>
          <a:xfrm>
            <a:off x="533400" y="444500"/>
            <a:ext cx="4479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g3721c30a0d3_0_22"/>
          <p:cNvSpPr txBox="1"/>
          <p:nvPr/>
        </p:nvSpPr>
        <p:spPr>
          <a:xfrm>
            <a:off x="647700" y="1573350"/>
            <a:ext cx="3226500" cy="554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Linked List:  10 → 20 → 30 → 40 → 50 → 60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 = 2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g3721c30a0d3_0_22"/>
          <p:cNvSpPr txBox="1"/>
          <p:nvPr/>
        </p:nvSpPr>
        <p:spPr>
          <a:xfrm>
            <a:off x="609600" y="465150"/>
            <a:ext cx="41790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Example:[Problem Statement]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Rotate the linked list to the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left 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by k positions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g3721c30a0d3_0_22"/>
          <p:cNvSpPr txBox="1"/>
          <p:nvPr/>
        </p:nvSpPr>
        <p:spPr>
          <a:xfrm>
            <a:off x="5029200" y="1745250"/>
            <a:ext cx="28929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30 → 40 → 50 → 60 → 10 → 20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g3721c30a0d3_0_22"/>
          <p:cNvSpPr txBox="1"/>
          <p:nvPr/>
        </p:nvSpPr>
        <p:spPr>
          <a:xfrm>
            <a:off x="4419600" y="457200"/>
            <a:ext cx="4064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Left Rotation Logic: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After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left rotation by 2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the first 2 nodes (10 and 20) move to the end of the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new list becomes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g3721c30a0d3_0_22"/>
          <p:cNvSpPr txBox="1"/>
          <p:nvPr/>
        </p:nvSpPr>
        <p:spPr>
          <a:xfrm>
            <a:off x="609600" y="2362200"/>
            <a:ext cx="6220800" cy="23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Explanation (Step-by-step):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Original List: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10 → 20 → 30 → 40 → 50 → 60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Length = 6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 = 2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 Head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will be the node at position k = 2 → node 30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New Tail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will be the node before that → node 20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Break the link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at 20.next and store 30 as the new head.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Old Tail (node 60)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will now point to the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old head (10)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74" name="Google Shape;174;g3721c30a0d3_0_22"/>
          <p:cNvGraphicFramePr/>
          <p:nvPr/>
        </p:nvGraphicFramePr>
        <p:xfrm>
          <a:off x="5594275" y="4045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{088AC66A-72F3-4520-A6E6-70E045F40620}</a:tableStyleId>
              </a:tblPr>
              <a:tblGrid>
                <a:gridCol w="2327900"/>
              </a:tblGrid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"/>
                          <a:ea typeface="Roboto"/>
                          <a:cs typeface="Roboto"/>
                          <a:sym typeface="Roboto"/>
                        </a:rPr>
                        <a:t>30 → 40 → 50 → 60 → 10 → 20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1"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175" name="Google Shape;175;g3721c30a0d3_0_22"/>
          <p:cNvSpPr txBox="1"/>
          <p:nvPr/>
        </p:nvSpPr>
        <p:spPr>
          <a:xfrm>
            <a:off x="5518075" y="3553775"/>
            <a:ext cx="30000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Final Rotated List:</a:t>
            </a:r>
            <a:endParaRPr b="1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3c1dcbc4c_0_22"/>
          <p:cNvSpPr txBox="1"/>
          <p:nvPr/>
        </p:nvSpPr>
        <p:spPr>
          <a:xfrm>
            <a:off x="457200" y="368300"/>
            <a:ext cx="44229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import java.util.Scanner;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class Node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int data;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 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Node(int data)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this.data = data;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this.next = null;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public class RotateLeftLinkedList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insert(Node head, int data)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newNode = new Node(data);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null) return newNode;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(temp.next != null) temp = temp.next;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temp.next = newNode;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g373c1dcbc4c_0_22"/>
          <p:cNvSpPr txBox="1"/>
          <p:nvPr/>
        </p:nvSpPr>
        <p:spPr>
          <a:xfrm>
            <a:off x="4220000" y="215900"/>
            <a:ext cx="44229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static Node rotateLeft(Node head, int k)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(head == null || head.next == null || k == 0) return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// Step 1: Find length and tail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length = 1;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tail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(tail.next != null)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tail = tail.next;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length++;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k = k % length;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if (k == 0) return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newTail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1; i &lt; k; i++)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newTail = newTail.next;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newHead = newTail.next;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newTail.next = null;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tail.next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return newHead;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3c1dcbc4c_0_27"/>
          <p:cNvSpPr txBox="1"/>
          <p:nvPr/>
        </p:nvSpPr>
        <p:spPr>
          <a:xfrm>
            <a:off x="533400" y="368300"/>
            <a:ext cx="42321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static void printList(Node head)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temp = head;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while (temp != null)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System.out.print(temp.data);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if (temp.next != null) System.out.print(" →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temp = temp.next;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public static void main(String[] args)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Scanner sc = new Scanner(System.in);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Node head = null;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number of elements in the list: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n = sc.nextInt();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System.out.println("Enter " + n + " elements:");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for (int i = 0; i &lt; n; i++) {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int value = sc.nextInt();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    head = insert(head, value);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7" name="Google Shape;187;g373c1dcbc4c_0_27"/>
          <p:cNvSpPr txBox="1"/>
          <p:nvPr/>
        </p:nvSpPr>
        <p:spPr>
          <a:xfrm>
            <a:off x="4876800" y="215900"/>
            <a:ext cx="35511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System.out.print("Enter number of positions to rotate left (k): 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int k = sc.nextInt();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System.out.println("Original List:");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head = rotateLeft(head, k);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System.out.println("List after left rotation by " + k + ":");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  printList(head);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3c1788ac8_0_33"/>
          <p:cNvSpPr txBox="1"/>
          <p:nvPr/>
        </p:nvSpPr>
        <p:spPr>
          <a:xfrm>
            <a:off x="457200" y="838200"/>
            <a:ext cx="5374800" cy="2432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Sample Input/Output: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Enter number of elements in the list: 6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Enter 6 elements: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10 20 30 40 50 60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Enter number of positions to rotate left (k): 2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Original List: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10 → 20 → 30 → 40 → 50 → 60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 after left rotation by 2: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30 → 40 → 50 → 60 → 10 → 20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21c30a0d3_0_37"/>
          <p:cNvSpPr txBox="1"/>
          <p:nvPr/>
        </p:nvSpPr>
        <p:spPr>
          <a:xfrm>
            <a:off x="457200" y="397675"/>
            <a:ext cx="8118000" cy="4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Code Explanation 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Class Definition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 class has two members: data (stores value) and next (points to next node).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Represents each element of the linked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insert() Function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Adds a new node at the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end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the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Used to construct the linked list from user input.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Traverses till the last node and links the new node.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rotateLeft() Function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Performs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left rotation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by k positions.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Handles edge cases: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List is empty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Only one node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 = 0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73d41a85a7_0_10"/>
          <p:cNvSpPr txBox="1"/>
          <p:nvPr/>
        </p:nvSpPr>
        <p:spPr>
          <a:xfrm>
            <a:off x="457200" y="626275"/>
            <a:ext cx="8118000" cy="3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Steps: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length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 the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Normalize k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k = k % length (no unnecessary rotations).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 new tail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Node at position k - 1.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Set new head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newTail.next.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Break the link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Set newTail.next = null.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Connect old tail to old head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tail.next = head.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Return newHead.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printList() Function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Traverses the list and prints each node's data.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Formats output with → arrows.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721c30a0d3_0_43"/>
          <p:cNvSpPr txBox="1"/>
          <p:nvPr/>
        </p:nvSpPr>
        <p:spPr>
          <a:xfrm>
            <a:off x="457200" y="626275"/>
            <a:ext cx="81180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main() Function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Scanner to accept user input: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elements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Elements of the list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Number of positions k to rotate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Builds the list using insert().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Calls rotateLeft() to perform rotation.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Displays the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original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rotated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73c1dcbc4c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g373c1dcbc4c_0_16"/>
          <p:cNvSpPr txBox="1"/>
          <p:nvPr/>
        </p:nvSpPr>
        <p:spPr>
          <a:xfrm>
            <a:off x="481250" y="318250"/>
            <a:ext cx="4765500" cy="4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Complexity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O(n)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for finding length and rotating (single traversal each).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 Complexity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O(1)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– no extra memory used, just pointer manipulation.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User-Friendly Input/Output</a:t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Prompts users clearly and shows before-and-after list states.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Time Complexity: O(n)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Finding Length of the List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traverse the entire list once to calculate its length → takes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O(n)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time.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Finding the New Tail (k-th Node)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We traverse up to the k-th node → takes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O(k)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time.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Since k &lt; n, this is at most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O(n)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Connecting Tail to Head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involves simple pointer updates →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O(1)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g373c1dcbc4c_0_16"/>
          <p:cNvSpPr txBox="1"/>
          <p:nvPr/>
        </p:nvSpPr>
        <p:spPr>
          <a:xfrm>
            <a:off x="5629175" y="1793700"/>
            <a:ext cx="3000000" cy="19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 Complexity: O(1)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extra data structures (arrays, hashmaps, etc.) are used.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operations are performed in-place by modifying pointers.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Only a few variables are used (length, tail, newTail, etc.)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73d0138414_0_6"/>
          <p:cNvSpPr txBox="1"/>
          <p:nvPr/>
        </p:nvSpPr>
        <p:spPr>
          <a:xfrm>
            <a:off x="457200" y="321475"/>
            <a:ext cx="8118000" cy="46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Advantages of Left Rotating a Linked List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Efficient In-Place Operation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Rotation is done using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pointer manipulation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only.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 need to copy or recreate the list.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Space-efficient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uses O(1) space.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Preserves Node Order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Nodes are not modified — only their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positions are shifted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Ensures data integrity if values shouldn't be changed.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Scalable for Large Lists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Performs well even with large lists due to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O(n)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time complexity.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 be optimized further for repeated operations.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Useful in Real-world Scenarios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Useful in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task scheduling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streaming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and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circular buffer implementations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Avoids Unnecessary Rotations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Handles k &gt; n by reducing k = k % n.</a:t>
            </a: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3c1788ac8_0_37"/>
          <p:cNvSpPr txBox="1"/>
          <p:nvPr/>
        </p:nvSpPr>
        <p:spPr>
          <a:xfrm>
            <a:off x="457200" y="473875"/>
            <a:ext cx="8118000" cy="4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Disadvantages of Left Rotating a Linked List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Requires Full Traversal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Must traverse the entire list to compute the length and rotate.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Less efficient if you need frequent or dynamic rotations.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Pointer Management Complexity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Care must be taken when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breaking and re-linking nodes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Slightly harder to implement correctly compared to array-based rotations.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Not Directly Applicable to Doubly/Circular Lists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Needs modification for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doubly linked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circular lists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This version works only for </a:t>
            </a: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singly linked lists</a:t>
            </a: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Edge Cases Need Special Handling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Must handle special cases like k = 0, k = n, or empty/single-node lists.</a:t>
            </a:r>
            <a:b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0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Cannot Randomly Access Nodes</a:t>
            </a:r>
            <a:br>
              <a:rPr b="1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endParaRPr b="1" i="0" sz="12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○"/>
            </a:pPr>
            <a:r>
              <a:rPr b="0" i="0" lang="en" sz="12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Unlike arrays, you can't access the k-th node directly — requires traversal.</a:t>
            </a:r>
            <a:endParaRPr b="1" i="0" sz="14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"/>
          <p:cNvSpPr txBox="1"/>
          <p:nvPr>
            <p:ph idx="1" type="subTitle"/>
          </p:nvPr>
        </p:nvSpPr>
        <p:spPr>
          <a:xfrm>
            <a:off x="502550" y="1320225"/>
            <a:ext cx="8520600" cy="31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00"/>
              <a:t>Differentiate between left and right rotation of a linked list.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lang="en" sz="1300"/>
            </a:b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Left rotation: first k nodes move to the end.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Right rotation: last k nodes move to the front.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10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69803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1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73d0138414_0_28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69803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2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g373d0138414_0_28"/>
          <p:cNvSpPr txBox="1"/>
          <p:nvPr>
            <p:ph idx="1" type="subTitle"/>
          </p:nvPr>
        </p:nvSpPr>
        <p:spPr>
          <a:xfrm>
            <a:off x="502550" y="1320225"/>
            <a:ext cx="8520600" cy="31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00"/>
              <a:t>Explain the steps to rotate a singly linked list to the right by k nodes.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Find length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Normalize k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Find (length - k)th node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Update next pointers to rearrange the list</a:t>
            </a: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3d0138414_0_42"/>
          <p:cNvSpPr txBox="1"/>
          <p:nvPr>
            <p:ph idx="1" type="subTitle"/>
          </p:nvPr>
        </p:nvSpPr>
        <p:spPr>
          <a:xfrm>
            <a:off x="502550" y="1320225"/>
            <a:ext cx="85206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00"/>
              <a:t>How would you rotate a linked list to the left by k positions?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br>
              <a:rPr b="1" lang="en" sz="1300"/>
            </a:b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Traverse to kth node</a:t>
            </a:r>
            <a:endParaRPr sz="13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Make it the new head</a:t>
            </a:r>
            <a:endParaRPr sz="13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Break and reconnect the tail to the original head</a:t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/>
          </a:p>
        </p:txBody>
      </p:sp>
      <p:sp>
        <p:nvSpPr>
          <p:cNvPr id="242" name="Google Shape;242;g373d0138414_0_42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69803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3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3c1788ac8_0_49"/>
          <p:cNvSpPr txBox="1"/>
          <p:nvPr/>
        </p:nvSpPr>
        <p:spPr>
          <a:xfrm>
            <a:off x="2694500" y="521450"/>
            <a:ext cx="3000000" cy="400200"/>
          </a:xfrm>
          <a:prstGeom prst="rect">
            <a:avLst/>
          </a:prstGeom>
          <a:solidFill>
            <a:srgbClr val="4026C7">
              <a:alpha val="69803"/>
            </a:srgbClr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  4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g373c1788ac8_0_49"/>
          <p:cNvSpPr txBox="1"/>
          <p:nvPr>
            <p:ph idx="1" type="subTitle"/>
          </p:nvPr>
        </p:nvSpPr>
        <p:spPr>
          <a:xfrm>
            <a:off x="502550" y="1320225"/>
            <a:ext cx="8520600" cy="33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00"/>
              <a:t>What edge cases must be considered while rotating a list?</a:t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Answer:</a:t>
            </a:r>
            <a:endParaRPr b="1"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Empty list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k = 0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k % length == 0</a:t>
            </a:r>
            <a:br>
              <a:rPr lang="en" sz="1300"/>
            </a:b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Single-node list</a:t>
            </a:r>
            <a:br>
              <a:rPr lang="en" sz="1300"/>
            </a:br>
            <a:br>
              <a:rPr lang="en" sz="1300"/>
            </a:b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fd07ba9d7_1_0"/>
          <p:cNvSpPr txBox="1"/>
          <p:nvPr>
            <p:ph type="title"/>
          </p:nvPr>
        </p:nvSpPr>
        <p:spPr>
          <a:xfrm>
            <a:off x="1757250" y="725150"/>
            <a:ext cx="41280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807FEC"/>
                </a:solidFill>
              </a:rPr>
              <a:t>Help Desk </a:t>
            </a:r>
            <a:endParaRPr b="1" sz="2000">
              <a:solidFill>
                <a:srgbClr val="807FE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g3efd07ba9d7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30525"/>
            <a:ext cx="1295400" cy="116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g3efd07ba9d7_1_0"/>
          <p:cNvSpPr txBox="1"/>
          <p:nvPr/>
        </p:nvSpPr>
        <p:spPr>
          <a:xfrm>
            <a:off x="659100" y="1842250"/>
            <a:ext cx="5316000" cy="22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Any concerns related to attendance/marks/ faculty ; you can reach out to ETHNUS helpdesk through the displayed QR code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r>
              <a:rPr lang="en" sz="22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https://codemithra.com/vit-helpdesk/</a:t>
            </a:r>
            <a:endParaRPr sz="2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6" name="Google Shape;256;g3efd07ba9d7_1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6625" y="1842250"/>
            <a:ext cx="2165724" cy="196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efd07ba9d7_1_53"/>
          <p:cNvSpPr/>
          <p:nvPr/>
        </p:nvSpPr>
        <p:spPr>
          <a:xfrm>
            <a:off x="555120" y="915840"/>
            <a:ext cx="7545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2" name="Google Shape;262;g3efd07ba9d7_1_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99160" y="913210"/>
            <a:ext cx="2855119" cy="288845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g3efd07ba9d7_1_53"/>
          <p:cNvSpPr/>
          <p:nvPr/>
        </p:nvSpPr>
        <p:spPr>
          <a:xfrm>
            <a:off x="1634725" y="3801680"/>
            <a:ext cx="51840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2925" lIns="81625" spcFirstLastPara="1" rIns="81625" wrap="square" tIns="82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sng" cap="none" strike="noStrik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https://learn.codemithra.com</a:t>
            </a:r>
            <a:endParaRPr b="0" i="0" sz="1200" u="none" cap="none" strike="noStrike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5"/>
          <p:cNvSpPr txBox="1"/>
          <p:nvPr/>
        </p:nvSpPr>
        <p:spPr>
          <a:xfrm>
            <a:off x="3141000" y="2194650"/>
            <a:ext cx="2862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" sz="3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3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0" name="Google Shape;27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016" y="4591075"/>
            <a:ext cx="338161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2650" y="4591075"/>
            <a:ext cx="338161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5"/>
          <p:cNvSpPr txBox="1"/>
          <p:nvPr/>
        </p:nvSpPr>
        <p:spPr>
          <a:xfrm>
            <a:off x="1980750" y="4590801"/>
            <a:ext cx="118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3" name="Google Shape;273;p1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p15"/>
          <p:cNvSpPr txBox="1"/>
          <p:nvPr/>
        </p:nvSpPr>
        <p:spPr>
          <a:xfrm>
            <a:off x="3519050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5" name="Google Shape;27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23771" y="4591063"/>
            <a:ext cx="338161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5"/>
          <p:cNvSpPr txBox="1"/>
          <p:nvPr/>
        </p:nvSpPr>
        <p:spPr>
          <a:xfrm>
            <a:off x="5457275" y="4590801"/>
            <a:ext cx="193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b="0" i="0" sz="1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7" name="Google Shape;277;p1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