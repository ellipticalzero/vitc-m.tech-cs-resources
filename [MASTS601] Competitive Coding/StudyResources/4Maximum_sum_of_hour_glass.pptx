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y="5143500" cx="9144000"/>
  <p:notesSz cx="6858000" cy="9144000"/>
  <p:embeddedFontLst>
    <p:embeddedFont>
      <p:font typeface="Roboto"/>
      <p:regular r:id="rId36"/>
      <p:bold r:id="rId37"/>
      <p:italic r:id="rId38"/>
      <p:boldItalic r:id="rId39"/>
    </p:embeddedFont>
    <p:embeddedFont>
      <p:font typeface="Oxygen"/>
      <p:regular r:id="rId40"/>
      <p:bold r:id="rId41"/>
    </p:embeddedFont>
    <p:embeddedFont>
      <p:font typeface="Proxima Nova"/>
      <p:regular r:id="rId42"/>
      <p:bold r:id="rId43"/>
      <p:italic r:id="rId44"/>
      <p:boldItalic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6740F0B-6A4E-4B9D-AD56-EE3823218988}">
  <a:tblStyle styleId="{96740F0B-6A4E-4B9D-AD56-EE3823218988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Oxygen-regular.fntdata"/><Relationship Id="rId20" Type="http://schemas.openxmlformats.org/officeDocument/2006/relationships/slide" Target="slides/slide14.xml"/><Relationship Id="rId42" Type="http://schemas.openxmlformats.org/officeDocument/2006/relationships/font" Target="fonts/ProximaNova-regular.fntdata"/><Relationship Id="rId41" Type="http://schemas.openxmlformats.org/officeDocument/2006/relationships/font" Target="fonts/Oxygen-bold.fntdata"/><Relationship Id="rId22" Type="http://schemas.openxmlformats.org/officeDocument/2006/relationships/slide" Target="slides/slide16.xml"/><Relationship Id="rId44" Type="http://schemas.openxmlformats.org/officeDocument/2006/relationships/font" Target="fonts/ProximaNova-italic.fntdata"/><Relationship Id="rId21" Type="http://schemas.openxmlformats.org/officeDocument/2006/relationships/slide" Target="slides/slide15.xml"/><Relationship Id="rId43" Type="http://schemas.openxmlformats.org/officeDocument/2006/relationships/font" Target="fonts/ProximaNova-bold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45" Type="http://schemas.openxmlformats.org/officeDocument/2006/relationships/font" Target="fonts/ProximaNova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font" Target="fonts/Roboto-bold.fntdata"/><Relationship Id="rId14" Type="http://schemas.openxmlformats.org/officeDocument/2006/relationships/slide" Target="slides/slide8.xml"/><Relationship Id="rId36" Type="http://schemas.openxmlformats.org/officeDocument/2006/relationships/font" Target="fonts/Roboto-regular.fntdata"/><Relationship Id="rId17" Type="http://schemas.openxmlformats.org/officeDocument/2006/relationships/slide" Target="slides/slide11.xml"/><Relationship Id="rId39" Type="http://schemas.openxmlformats.org/officeDocument/2006/relationships/font" Target="fonts/Roboto-boldItalic.fntdata"/><Relationship Id="rId16" Type="http://schemas.openxmlformats.org/officeDocument/2006/relationships/slide" Target="slides/slide10.xml"/><Relationship Id="rId38" Type="http://schemas.openxmlformats.org/officeDocument/2006/relationships/font" Target="fonts/Roboto-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2" name="Google Shape;62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:notes"/>
          <p:cNvSpPr/>
          <p:nvPr>
            <p:ph idx="2" type="sldImg"/>
          </p:nvPr>
        </p:nvSpPr>
        <p:spPr>
          <a:xfrm>
            <a:off x="685800" y="1143000"/>
            <a:ext cx="5484813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8" name="Google Shape;78;p4:notes"/>
          <p:cNvSpPr txBox="1"/>
          <p:nvPr>
            <p:ph idx="1"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/>
          <p:nvPr>
            <p:ph idx="2" type="sldImg"/>
          </p:nvPr>
        </p:nvSpPr>
        <p:spPr>
          <a:xfrm>
            <a:off x="685800" y="1143000"/>
            <a:ext cx="5484813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5" name="Google Shape;85;p5:notes"/>
          <p:cNvSpPr txBox="1"/>
          <p:nvPr>
            <p:ph idx="1"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6:notes"/>
          <p:cNvSpPr/>
          <p:nvPr>
            <p:ph idx="2" type="sldImg"/>
          </p:nvPr>
        </p:nvSpPr>
        <p:spPr>
          <a:xfrm>
            <a:off x="685800" y="1143000"/>
            <a:ext cx="5484813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3" name="Google Shape;93;p6:notes"/>
          <p:cNvSpPr txBox="1"/>
          <p:nvPr>
            <p:ph idx="1"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7:notes"/>
          <p:cNvSpPr/>
          <p:nvPr>
            <p:ph idx="2" type="sldImg"/>
          </p:nvPr>
        </p:nvSpPr>
        <p:spPr>
          <a:xfrm>
            <a:off x="685800" y="1143000"/>
            <a:ext cx="5484813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2" name="Google Shape;102;p7:notes"/>
          <p:cNvSpPr txBox="1"/>
          <p:nvPr>
            <p:ph idx="1"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0:notes"/>
          <p:cNvSpPr/>
          <p:nvPr>
            <p:ph idx="2" type="sldImg"/>
          </p:nvPr>
        </p:nvSpPr>
        <p:spPr>
          <a:xfrm>
            <a:off x="685800" y="1143000"/>
            <a:ext cx="5484813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3" name="Google Shape;133;p10:notes"/>
          <p:cNvSpPr txBox="1"/>
          <p:nvPr>
            <p:ph idx="1"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1:notes"/>
          <p:cNvSpPr/>
          <p:nvPr>
            <p:ph idx="2" type="sldImg"/>
          </p:nvPr>
        </p:nvSpPr>
        <p:spPr>
          <a:xfrm>
            <a:off x="685800" y="1143000"/>
            <a:ext cx="5484813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3" name="Google Shape;143;p11:notes"/>
          <p:cNvSpPr txBox="1"/>
          <p:nvPr>
            <p:ph idx="1"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2:notes"/>
          <p:cNvSpPr/>
          <p:nvPr>
            <p:ph idx="2" type="sldImg"/>
          </p:nvPr>
        </p:nvSpPr>
        <p:spPr>
          <a:xfrm>
            <a:off x="685800" y="1143000"/>
            <a:ext cx="5484813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8" name="Google Shape;158;p12:notes"/>
          <p:cNvSpPr txBox="1"/>
          <p:nvPr>
            <p:ph idx="1"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e3769a88ac_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e3769a88ac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7:notes"/>
          <p:cNvSpPr/>
          <p:nvPr>
            <p:ph idx="2" type="sldImg"/>
          </p:nvPr>
        </p:nvSpPr>
        <p:spPr>
          <a:xfrm>
            <a:off x="685800" y="1143000"/>
            <a:ext cx="5484813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8" name="Google Shape;208;p17:notes"/>
          <p:cNvSpPr txBox="1"/>
          <p:nvPr>
            <p:ph idx="1"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000"/>
              <a:t>Maximum sum of hour glass = 13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8:notes"/>
          <p:cNvSpPr/>
          <p:nvPr>
            <p:ph idx="2" type="sldImg"/>
          </p:nvPr>
        </p:nvSpPr>
        <p:spPr>
          <a:xfrm>
            <a:off x="685800" y="1143000"/>
            <a:ext cx="54849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5" name="Google Shape;215;p18:notes"/>
          <p:cNvSpPr txBox="1"/>
          <p:nvPr>
            <p:ph idx="1" type="body"/>
          </p:nvPr>
        </p:nvSpPr>
        <p:spPr>
          <a:xfrm>
            <a:off x="685800" y="4400640"/>
            <a:ext cx="5486100" cy="3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000"/>
              <a:t>Maximum sum of hour glass = 13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9:notes"/>
          <p:cNvSpPr/>
          <p:nvPr>
            <p:ph idx="2" type="sldImg"/>
          </p:nvPr>
        </p:nvSpPr>
        <p:spPr>
          <a:xfrm>
            <a:off x="685800" y="1143000"/>
            <a:ext cx="5484813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1" name="Google Shape;221;p19:notes"/>
          <p:cNvSpPr txBox="1"/>
          <p:nvPr>
            <p:ph idx="1"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000"/>
              <a:t>Maximum sum of hour glass = 13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5" name="Google Shape;245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8" name="Google Shape;278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3" name="Google Shape;283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9" name="Google Shape;289;p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8" name="Google Shape;298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1" name="Google Shape;41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2" name="Google Shape;42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6" name="Google Shape;4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9" name="Google Shape;49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0" name="Google Shape;50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mc:AlternateContent>
    <mc:Choice Requires="p14">
      <p:transition spd="slow" p14:dur="2200">
        <p14:prism dir="l"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Relationship Id="rId4" Type="http://schemas.openxmlformats.org/officeDocument/2006/relationships/image" Target="../media/image7.png"/><Relationship Id="rId5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forms.gle/4LD4LutpGGuCE5zR8" TargetMode="External"/><Relationship Id="rId4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www.jointaro.com/interviews/companies/nutanix/maximum-sum-of-an-hourglass/?utm_source=chatgpt.com" TargetMode="Externa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s://leetcode-in-java.github.io/src/main/java/g2401_2500/s2428_maximum_sum_of_an_hourglass/?utm_source=chatgpt.com" TargetMode="Externa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9.png"/><Relationship Id="rId4" Type="http://schemas.openxmlformats.org/officeDocument/2006/relationships/hyperlink" Target="https://codemithra.com/vit-helpdesk/" TargetMode="External"/><Relationship Id="rId5" Type="http://schemas.openxmlformats.org/officeDocument/2006/relationships/hyperlink" Target="https://learn.codemithra.com/" TargetMode="External"/><Relationship Id="rId6" Type="http://schemas.openxmlformats.org/officeDocument/2006/relationships/image" Target="../media/image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0.jpg"/><Relationship Id="rId4" Type="http://schemas.openxmlformats.org/officeDocument/2006/relationships/image" Target="../media/image11.png"/><Relationship Id="rId5" Type="http://schemas.openxmlformats.org/officeDocument/2006/relationships/image" Target="../media/image14.png"/><Relationship Id="rId6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t/>
            </a:r>
            <a:endParaRPr/>
          </a:p>
        </p:txBody>
      </p:sp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57" name="Google Shape;5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3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61153" y="703315"/>
            <a:ext cx="4134799" cy="29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00053" y="3386140"/>
            <a:ext cx="4743901" cy="115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729200" y="1231900"/>
            <a:ext cx="80862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URL</a:t>
            </a:r>
            <a:r>
              <a:rPr b="1" lang="en-US">
                <a:solidFill>
                  <a:srgbClr val="373737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:</a:t>
            </a:r>
            <a:r>
              <a:rPr b="1" lang="en-US" u="sng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3"/>
              </a:rPr>
              <a:t>https://forms.gle/4LD4LutpGGuCE5zR8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QR CODE</a:t>
            </a:r>
            <a:r>
              <a:rPr b="1" lang="en-US">
                <a:solidFill>
                  <a:srgbClr val="373737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:</a:t>
            </a:r>
            <a:endParaRPr b="1">
              <a:solidFill>
                <a:srgbClr val="37373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5" name="Google Shape;6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76414" y="1957431"/>
            <a:ext cx="2773228" cy="2671520"/>
          </a:xfrm>
          <a:prstGeom prst="rect">
            <a:avLst/>
          </a:prstGeom>
          <a:noFill/>
          <a:ln cap="flat" cmpd="sng" w="9525">
            <a:solidFill>
              <a:srgbClr val="807FEC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6" name="Google Shape;66;p14"/>
          <p:cNvSpPr txBox="1"/>
          <p:nvPr/>
        </p:nvSpPr>
        <p:spPr>
          <a:xfrm>
            <a:off x="1217775" y="528325"/>
            <a:ext cx="5640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4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TEST TIME ON MAXIMUM PRODUCT SUBARRAY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73" name="Google Shape;7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5"/>
          <p:cNvSpPr txBox="1"/>
          <p:nvPr/>
        </p:nvSpPr>
        <p:spPr>
          <a:xfrm>
            <a:off x="82895" y="2071994"/>
            <a:ext cx="4690800" cy="17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MAXIMUM SUM OF HOURGLASS IN MATRIX</a:t>
            </a:r>
            <a:endParaRPr b="1" i="0" sz="3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b="0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152400" y="152400"/>
            <a:ext cx="3000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/>
          <p:nvPr/>
        </p:nvSpPr>
        <p:spPr>
          <a:xfrm>
            <a:off x="555120" y="915840"/>
            <a:ext cx="7544880" cy="8299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6"/>
          <p:cNvSpPr/>
          <p:nvPr/>
        </p:nvSpPr>
        <p:spPr>
          <a:xfrm>
            <a:off x="318550" y="427650"/>
            <a:ext cx="7844100" cy="41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700" u="none" cap="none" strike="noStrike">
                <a:solidFill>
                  <a:srgbClr val="8181EF"/>
                </a:solidFill>
                <a:latin typeface="Roboto"/>
                <a:ea typeface="Roboto"/>
                <a:cs typeface="Roboto"/>
                <a:sym typeface="Roboto"/>
              </a:rPr>
              <a:t>MAXIMUM SUM OF HOURGLASS IN MATRIX</a:t>
            </a:r>
            <a:endParaRPr b="1" i="0" sz="1700" u="none" cap="none" strike="noStrike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700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Introduction: </a:t>
            </a:r>
            <a:r>
              <a:rPr lang="en-US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Finding the hourglass pattern with the maximum sum in a matrix.</a:t>
            </a:r>
            <a:endParaRPr b="1" i="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 this problem, we have a matrix i.e. two-dimensional (2D) array. </a:t>
            </a:r>
            <a:endParaRPr b="0" i="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Example:</a:t>
            </a:r>
            <a:endParaRPr b="0" i="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We have to find the maximum sum of the hourglass value of a matrix.</a:t>
            </a:r>
            <a:endParaRPr b="0" i="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2" name="Google Shape;82;p16" title="ChatGPT Image May 20, 2026, 11_54_22 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7975" y="1930775"/>
            <a:ext cx="3805498" cy="1902725"/>
          </a:xfrm>
          <a:prstGeom prst="rect">
            <a:avLst/>
          </a:prstGeom>
          <a:noFill/>
          <a:ln cap="flat" cmpd="sng" w="38100">
            <a:solidFill>
              <a:srgbClr val="807FEC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/>
          <p:nvPr/>
        </p:nvSpPr>
        <p:spPr>
          <a:xfrm>
            <a:off x="555120" y="915840"/>
            <a:ext cx="7544880" cy="8299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7"/>
          <p:cNvSpPr txBox="1"/>
          <p:nvPr/>
        </p:nvSpPr>
        <p:spPr>
          <a:xfrm>
            <a:off x="156225" y="400875"/>
            <a:ext cx="71865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700" u="none" cap="none" strike="noStrike">
                <a:solidFill>
                  <a:srgbClr val="8181EF"/>
                </a:solidFill>
                <a:latin typeface="Roboto"/>
                <a:ea typeface="Roboto"/>
                <a:cs typeface="Roboto"/>
                <a:sym typeface="Roboto"/>
              </a:rPr>
              <a:t>MAXIMUM SUM OF HOURGLASS IN MATRIX</a:t>
            </a:r>
            <a:endParaRPr b="1" i="0" sz="1700" u="none" cap="none" strike="noStrike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700" u="none" cap="none" strike="noStrike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Introduction:</a:t>
            </a:r>
            <a:r>
              <a:rPr b="1" i="0" lang="en-US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0" i="0" lang="en-US" u="none" cap="none" strike="noStrike">
                <a:solidFill>
                  <a:srgbClr val="0F0F0F"/>
                </a:solidFill>
                <a:latin typeface="Roboto"/>
                <a:ea typeface="Roboto"/>
                <a:cs typeface="Roboto"/>
                <a:sym typeface="Roboto"/>
              </a:rPr>
              <a:t>Hourglass</a:t>
            </a:r>
            <a:endParaRPr b="1" i="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7"/>
          <p:cNvSpPr/>
          <p:nvPr/>
        </p:nvSpPr>
        <p:spPr>
          <a:xfrm>
            <a:off x="497175" y="1478950"/>
            <a:ext cx="5325912" cy="3263652"/>
          </a:xfrm>
          <a:prstGeom prst="cloud">
            <a:avLst/>
          </a:prstGeom>
          <a:solidFill>
            <a:srgbClr val="CFE2F3"/>
          </a:solidFill>
          <a:ln cap="flat" cmpd="sng" w="38100">
            <a:solidFill>
              <a:srgbClr val="8181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F0F0F"/>
                </a:solidFill>
                <a:latin typeface="Roboto"/>
                <a:ea typeface="Roboto"/>
                <a:cs typeface="Roboto"/>
                <a:sym typeface="Roboto"/>
              </a:rPr>
              <a:t>                                             </a:t>
            </a:r>
            <a:endParaRPr b="0" i="0" sz="1600" u="none" cap="none" strike="noStrike">
              <a:solidFill>
                <a:srgbClr val="0F0F0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F0F0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F0F0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0" i="0" lang="en-US" sz="1400" u="none" cap="none" strike="noStrike">
                <a:solidFill>
                  <a:srgbClr val="0F0F0F"/>
                </a:solidFill>
                <a:latin typeface="Roboto"/>
                <a:ea typeface="Roboto"/>
                <a:cs typeface="Roboto"/>
                <a:sym typeface="Roboto"/>
              </a:rPr>
              <a:t>The </a:t>
            </a:r>
            <a:r>
              <a:rPr b="1" i="0" lang="en-US" sz="1400" u="none" cap="none" strike="noStrike">
                <a:solidFill>
                  <a:srgbClr val="0F0F0F"/>
                </a:solidFill>
                <a:latin typeface="Roboto"/>
                <a:ea typeface="Roboto"/>
                <a:cs typeface="Roboto"/>
                <a:sym typeface="Roboto"/>
              </a:rPr>
              <a:t>hourglass</a:t>
            </a:r>
            <a:r>
              <a:rPr b="0" i="0" lang="en-US" sz="1400" u="none" cap="none" strike="noStrike">
                <a:solidFill>
                  <a:srgbClr val="0F0F0F"/>
                </a:solidFill>
                <a:latin typeface="Roboto"/>
                <a:ea typeface="Roboto"/>
                <a:cs typeface="Roboto"/>
                <a:sym typeface="Roboto"/>
              </a:rPr>
              <a:t> concept in the algorithm </a:t>
            </a:r>
            <a:r>
              <a:rPr b="1" i="0" lang="en-US" sz="1400" u="none" cap="none" strike="noStrike">
                <a:solidFill>
                  <a:srgbClr val="0F0F0F"/>
                </a:solidFill>
                <a:latin typeface="Roboto"/>
                <a:ea typeface="Roboto"/>
                <a:cs typeface="Roboto"/>
                <a:sym typeface="Roboto"/>
              </a:rPr>
              <a:t>comes from the device</a:t>
            </a:r>
            <a:r>
              <a:rPr b="0" i="0" lang="en-US" sz="1400" u="none" cap="none" strike="noStrike">
                <a:solidFill>
                  <a:srgbClr val="0F0F0F"/>
                </a:solidFill>
                <a:latin typeface="Roboto"/>
                <a:ea typeface="Roboto"/>
                <a:cs typeface="Roboto"/>
                <a:sym typeface="Roboto"/>
              </a:rPr>
              <a:t> which is used to measure the passage of time.</a:t>
            </a:r>
            <a:endParaRPr b="0" i="0" sz="1400" u="none" cap="none" strike="noStrike">
              <a:solidFill>
                <a:srgbClr val="0F0F0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0F0F"/>
                </a:solidFill>
                <a:latin typeface="Roboto"/>
                <a:ea typeface="Roboto"/>
                <a:cs typeface="Roboto"/>
                <a:sym typeface="Roboto"/>
              </a:rPr>
              <a:t>The device is called sandglass.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0F0F0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0" name="Google Shape;90;p17" title="hourglass.jpg"/>
          <p:cNvPicPr preferRelativeResize="0"/>
          <p:nvPr/>
        </p:nvPicPr>
        <p:blipFill rotWithShape="1">
          <a:blip r:embed="rId3">
            <a:alphaModFix/>
          </a:blip>
          <a:srcRect b="5707" l="21629" r="20969" t="2398"/>
          <a:stretch/>
        </p:blipFill>
        <p:spPr>
          <a:xfrm>
            <a:off x="6004550" y="999975"/>
            <a:ext cx="2258149" cy="3819325"/>
          </a:xfrm>
          <a:prstGeom prst="rect">
            <a:avLst/>
          </a:prstGeom>
          <a:noFill/>
          <a:ln cap="flat" cmpd="sng" w="9525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/>
          <p:nvPr/>
        </p:nvSpPr>
        <p:spPr>
          <a:xfrm>
            <a:off x="555120" y="915840"/>
            <a:ext cx="7544880" cy="8299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8"/>
          <p:cNvSpPr/>
          <p:nvPr/>
        </p:nvSpPr>
        <p:spPr>
          <a:xfrm>
            <a:off x="332747" y="534620"/>
            <a:ext cx="5232600" cy="35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700" u="none" cap="none" strike="noStrike">
                <a:solidFill>
                  <a:srgbClr val="8181EF"/>
                </a:solidFill>
                <a:latin typeface="Roboto"/>
                <a:ea typeface="Roboto"/>
                <a:cs typeface="Roboto"/>
                <a:sym typeface="Roboto"/>
              </a:rPr>
              <a:t>MAXIMUM SUM OF HOURGLASS IN MATRIX</a:t>
            </a:r>
            <a:endParaRPr b="1" i="0" sz="1700" u="none" cap="none" strike="noStrike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Introduction:</a:t>
            </a:r>
            <a:endParaRPr b="1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F0F0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F0F0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F0F0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F0F0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F0F0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F0F0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F0F0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X X X</a:t>
            </a:r>
            <a:endParaRPr b="0" i="0" sz="2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X X X</a:t>
            </a:r>
            <a:endParaRPr b="0" i="0" sz="3200" u="none" cap="none" strike="noStrike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7" name="Google Shape;97;p18"/>
          <p:cNvSpPr/>
          <p:nvPr/>
        </p:nvSpPr>
        <p:spPr>
          <a:xfrm>
            <a:off x="2598775" y="3599875"/>
            <a:ext cx="1146900" cy="1243500"/>
          </a:xfrm>
          <a:prstGeom prst="bracket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8"/>
          <p:cNvSpPr/>
          <p:nvPr/>
        </p:nvSpPr>
        <p:spPr>
          <a:xfrm>
            <a:off x="309475" y="1481888"/>
            <a:ext cx="5725500" cy="1449900"/>
          </a:xfrm>
          <a:prstGeom prst="homePlate">
            <a:avLst>
              <a:gd fmla="val 50000" name="adj"/>
            </a:avLst>
          </a:prstGeom>
          <a:solidFill>
            <a:srgbClr val="EA9999">
              <a:alpha val="46667"/>
            </a:srgbClr>
          </a:solidFill>
          <a:ln cap="flat" cmpd="sng" w="38100">
            <a:solidFill>
              <a:srgbClr val="8181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400" u="none" cap="none" strike="noStrike">
                <a:solidFill>
                  <a:srgbClr val="0F0F0F"/>
                </a:solidFill>
                <a:latin typeface="Roboto"/>
                <a:ea typeface="Roboto"/>
                <a:cs typeface="Roboto"/>
                <a:sym typeface="Roboto"/>
              </a:rPr>
              <a:t>Hourglass format: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Hourglass is a </a:t>
            </a:r>
            <a:r>
              <a:rPr b="1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7-element s</a:t>
            </a:r>
            <a:r>
              <a:rPr b="0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hape made in the matrix in the following form: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9" name="Google Shape;99;p18" title="hourglass.jpg"/>
          <p:cNvPicPr preferRelativeResize="0"/>
          <p:nvPr/>
        </p:nvPicPr>
        <p:blipFill rotWithShape="1">
          <a:blip r:embed="rId3">
            <a:alphaModFix/>
          </a:blip>
          <a:srcRect b="5707" l="21629" r="20969" t="2398"/>
          <a:stretch/>
        </p:blipFill>
        <p:spPr>
          <a:xfrm>
            <a:off x="6085100" y="1024050"/>
            <a:ext cx="2258149" cy="3819325"/>
          </a:xfrm>
          <a:prstGeom prst="rect">
            <a:avLst/>
          </a:prstGeom>
          <a:noFill/>
          <a:ln cap="flat" cmpd="sng" w="9525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/>
          <p:nvPr/>
        </p:nvSpPr>
        <p:spPr>
          <a:xfrm>
            <a:off x="555120" y="915840"/>
            <a:ext cx="7544880" cy="8299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9"/>
          <p:cNvSpPr/>
          <p:nvPr/>
        </p:nvSpPr>
        <p:spPr>
          <a:xfrm>
            <a:off x="422576" y="797649"/>
            <a:ext cx="6278400" cy="40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Important note:</a:t>
            </a:r>
            <a:endParaRPr b="1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3429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AutoNum type="arabicPeriod"/>
            </a:pPr>
            <a:r>
              <a:rPr i="0" lang="en-US" u="none" cap="none" strike="noStrike">
                <a:solidFill>
                  <a:srgbClr val="0F0F0F"/>
                </a:solidFill>
                <a:latin typeface="Roboto"/>
                <a:ea typeface="Roboto"/>
                <a:cs typeface="Roboto"/>
                <a:sym typeface="Roboto"/>
              </a:rPr>
              <a:t>The number of rows or columns of hourglass </a:t>
            </a:r>
            <a:r>
              <a:rPr b="1" i="0" lang="en-US" u="none" cap="none" strike="noStrike">
                <a:solidFill>
                  <a:srgbClr val="0F0F0F"/>
                </a:solidFill>
                <a:latin typeface="Roboto"/>
                <a:ea typeface="Roboto"/>
                <a:cs typeface="Roboto"/>
                <a:sym typeface="Roboto"/>
              </a:rPr>
              <a:t>must be equal to 3</a:t>
            </a:r>
            <a:r>
              <a:rPr i="0" lang="en-US" u="none" cap="none" strike="noStrike">
                <a:solidFill>
                  <a:srgbClr val="0F0F0F"/>
                </a:solidFill>
                <a:latin typeface="Roboto"/>
                <a:ea typeface="Roboto"/>
                <a:cs typeface="Roboto"/>
                <a:sym typeface="Roboto"/>
              </a:rPr>
              <a:t> i.e. three index values at the top, one in the middle, and three at the bottom </a:t>
            </a:r>
            <a:endParaRPr i="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3429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i="0" lang="en-US" u="none" cap="none" strike="noStrike">
                <a:solidFill>
                  <a:srgbClr val="0F0F0F"/>
                </a:solidFill>
                <a:latin typeface="Roboto"/>
                <a:ea typeface="Roboto"/>
                <a:cs typeface="Roboto"/>
                <a:sym typeface="Roboto"/>
              </a:rPr>
              <a:t>The total number of hourglasses in a matrix is equal to</a:t>
            </a:r>
            <a:r>
              <a:rPr b="1" i="0" lang="en-US" u="none" cap="none" strike="noStrike">
                <a:solidFill>
                  <a:srgbClr val="0F0F0F"/>
                </a:solidFill>
                <a:latin typeface="Roboto"/>
                <a:ea typeface="Roboto"/>
                <a:cs typeface="Roboto"/>
                <a:sym typeface="Roboto"/>
              </a:rPr>
              <a:t> (R-2) * (C-2)</a:t>
            </a:r>
            <a:r>
              <a:rPr i="0" lang="en-US" u="none" cap="none" strike="noStrike">
                <a:solidFill>
                  <a:srgbClr val="0F0F0F"/>
                </a:solidFill>
                <a:latin typeface="Roboto"/>
                <a:ea typeface="Roboto"/>
                <a:cs typeface="Roboto"/>
                <a:sym typeface="Roboto"/>
              </a:rPr>
              <a:t>, where R refers to the number of Rows and C refers to the number of Columns. </a:t>
            </a:r>
            <a:endParaRPr i="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" name="Google Shape;106;p19"/>
          <p:cNvSpPr/>
          <p:nvPr/>
        </p:nvSpPr>
        <p:spPr>
          <a:xfrm>
            <a:off x="7369444" y="1745785"/>
            <a:ext cx="1611824" cy="439476"/>
          </a:xfrm>
          <a:prstGeom prst="rect">
            <a:avLst/>
          </a:prstGeom>
          <a:solidFill>
            <a:srgbClr val="FFE599"/>
          </a:solidFill>
          <a:ln cap="flat" cmpd="sng" w="25400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9"/>
          <p:cNvSpPr/>
          <p:nvPr/>
        </p:nvSpPr>
        <p:spPr>
          <a:xfrm>
            <a:off x="7974944" y="2185261"/>
            <a:ext cx="451587" cy="439476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9"/>
          <p:cNvSpPr/>
          <p:nvPr/>
        </p:nvSpPr>
        <p:spPr>
          <a:xfrm>
            <a:off x="7369445" y="2624737"/>
            <a:ext cx="1611824" cy="439476"/>
          </a:xfrm>
          <a:prstGeom prst="rect">
            <a:avLst/>
          </a:prstGeom>
          <a:solidFill>
            <a:srgbClr val="FFE599"/>
          </a:solidFill>
          <a:ln cap="flat" cmpd="sng" w="25400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9" name="Google Shape;109;p19"/>
          <p:cNvCxnSpPr/>
          <p:nvPr/>
        </p:nvCxnSpPr>
        <p:spPr>
          <a:xfrm>
            <a:off x="7974944" y="1745785"/>
            <a:ext cx="0" cy="501469"/>
          </a:xfrm>
          <a:prstGeom prst="straightConnector1">
            <a:avLst/>
          </a:prstGeom>
          <a:noFill/>
          <a:ln cap="flat" cmpd="sng" w="25400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6471"/>
              </a:srgbClr>
            </a:outerShdw>
          </a:effectLst>
        </p:spPr>
      </p:cxnSp>
      <p:cxnSp>
        <p:nvCxnSpPr>
          <p:cNvPr id="110" name="Google Shape;110;p19"/>
          <p:cNvCxnSpPr/>
          <p:nvPr/>
        </p:nvCxnSpPr>
        <p:spPr>
          <a:xfrm>
            <a:off x="7974944" y="2562744"/>
            <a:ext cx="0" cy="501469"/>
          </a:xfrm>
          <a:prstGeom prst="straightConnector1">
            <a:avLst/>
          </a:prstGeom>
          <a:noFill/>
          <a:ln cap="flat" cmpd="sng" w="25400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6471"/>
              </a:srgbClr>
            </a:outerShdw>
          </a:effectLst>
        </p:spPr>
      </p:cxnSp>
      <p:cxnSp>
        <p:nvCxnSpPr>
          <p:cNvPr id="111" name="Google Shape;111;p19"/>
          <p:cNvCxnSpPr/>
          <p:nvPr/>
        </p:nvCxnSpPr>
        <p:spPr>
          <a:xfrm>
            <a:off x="8422431" y="1745785"/>
            <a:ext cx="0" cy="501469"/>
          </a:xfrm>
          <a:prstGeom prst="straightConnector1">
            <a:avLst/>
          </a:prstGeom>
          <a:noFill/>
          <a:ln cap="flat" cmpd="sng" w="25400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6471"/>
              </a:srgbClr>
            </a:outerShdw>
          </a:effectLst>
        </p:spPr>
      </p:cxnSp>
      <p:cxnSp>
        <p:nvCxnSpPr>
          <p:cNvPr id="112" name="Google Shape;112;p19"/>
          <p:cNvCxnSpPr/>
          <p:nvPr/>
        </p:nvCxnSpPr>
        <p:spPr>
          <a:xfrm>
            <a:off x="8422431" y="2562744"/>
            <a:ext cx="0" cy="501469"/>
          </a:xfrm>
          <a:prstGeom prst="straightConnector1">
            <a:avLst/>
          </a:prstGeom>
          <a:noFill/>
          <a:ln cap="flat" cmpd="sng" w="25400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6471"/>
              </a:srgbClr>
            </a:outerShdw>
          </a:effectLst>
        </p:spPr>
      </p:cxnSp>
      <p:sp>
        <p:nvSpPr>
          <p:cNvPr id="113" name="Google Shape;113;p19"/>
          <p:cNvSpPr txBox="1"/>
          <p:nvPr/>
        </p:nvSpPr>
        <p:spPr>
          <a:xfrm>
            <a:off x="7934013" y="1383750"/>
            <a:ext cx="482700" cy="3078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TOP</a:t>
            </a:r>
            <a:endParaRPr b="1" i="0" sz="1400" u="none" cap="none" strike="noStrike">
              <a:solidFill>
                <a:schemeClr val="dk1"/>
              </a:solidFill>
            </a:endParaRPr>
          </a:p>
        </p:txBody>
      </p:sp>
      <p:sp>
        <p:nvSpPr>
          <p:cNvPr id="114" name="Google Shape;114;p19"/>
          <p:cNvSpPr txBox="1"/>
          <p:nvPr/>
        </p:nvSpPr>
        <p:spPr>
          <a:xfrm>
            <a:off x="7810245" y="2254967"/>
            <a:ext cx="780900" cy="3078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MIDDLE</a:t>
            </a:r>
            <a:endParaRPr b="1" i="0" sz="1400" u="none" cap="none" strike="noStrike">
              <a:solidFill>
                <a:schemeClr val="dk1"/>
              </a:solidFill>
            </a:endParaRPr>
          </a:p>
        </p:txBody>
      </p:sp>
      <p:sp>
        <p:nvSpPr>
          <p:cNvPr id="115" name="Google Shape;115;p19"/>
          <p:cNvSpPr txBox="1"/>
          <p:nvPr/>
        </p:nvSpPr>
        <p:spPr>
          <a:xfrm>
            <a:off x="7825743" y="3126206"/>
            <a:ext cx="780983" cy="307777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BOTTOM</a:t>
            </a:r>
            <a:endParaRPr b="1" i="0" sz="1400" u="none" cap="none" strike="noStrike">
              <a:solidFill>
                <a:schemeClr val="dk1"/>
              </a:solidFill>
            </a:endParaRPr>
          </a:p>
        </p:txBody>
      </p:sp>
      <p:sp>
        <p:nvSpPr>
          <p:cNvPr id="116" name="Google Shape;116;p19"/>
          <p:cNvSpPr txBox="1"/>
          <p:nvPr/>
        </p:nvSpPr>
        <p:spPr>
          <a:xfrm>
            <a:off x="359575" y="351250"/>
            <a:ext cx="6404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8181EF"/>
                </a:solidFill>
                <a:latin typeface="Roboto"/>
                <a:ea typeface="Roboto"/>
                <a:cs typeface="Roboto"/>
                <a:sym typeface="Roboto"/>
              </a:rPr>
              <a:t>MAXIMUM SUM OF HOURGLASS IN MATRIX</a:t>
            </a:r>
            <a:endParaRPr b="1" i="0" sz="1700" u="none" cap="none" strike="noStrike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0"/>
          <p:cNvSpPr txBox="1"/>
          <p:nvPr/>
        </p:nvSpPr>
        <p:spPr>
          <a:xfrm>
            <a:off x="279475" y="445025"/>
            <a:ext cx="8324400" cy="42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8181EF"/>
                </a:solidFill>
                <a:latin typeface="Roboto"/>
                <a:ea typeface="Roboto"/>
                <a:cs typeface="Roboto"/>
                <a:sym typeface="Roboto"/>
              </a:rPr>
              <a:t>MAXIMUM SUM OF HOURGLASS IN MATRIX</a:t>
            </a:r>
            <a:endParaRPr b="1" i="0" sz="17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Problem Statement</a:t>
            </a:r>
            <a:endParaRPr b="1" i="0" sz="17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Given a </a:t>
            </a:r>
            <a:r>
              <a:rPr b="1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2D matrix of integers</a:t>
            </a:r>
            <a:r>
              <a:rPr b="0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find the </a:t>
            </a:r>
            <a:r>
              <a:rPr b="1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minimum hourglass sum</a:t>
            </a:r>
            <a:r>
              <a:rPr b="0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 An </a:t>
            </a:r>
            <a:r>
              <a:rPr b="1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hourglass</a:t>
            </a:r>
            <a:r>
              <a:rPr b="0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is defined as a subset of elements with the following pattern: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sum of an hourglass is:</a:t>
            </a:r>
            <a:br>
              <a:rPr b="0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 + b + c + d + e + f + g</a:t>
            </a:r>
            <a:endParaRPr b="1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0"/>
          <p:cNvSpPr/>
          <p:nvPr/>
        </p:nvSpPr>
        <p:spPr>
          <a:xfrm>
            <a:off x="1999275" y="2243525"/>
            <a:ext cx="1459500" cy="13209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rgbClr val="8181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</a:t>
            </a:r>
            <a:endParaRPr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a          b         c</a:t>
            </a:r>
            <a:endParaRPr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 d</a:t>
            </a:r>
            <a:endParaRPr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</a:t>
            </a:r>
            <a:endParaRPr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e          f           g</a:t>
            </a:r>
            <a:endParaRPr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1"/>
          <p:cNvSpPr txBox="1"/>
          <p:nvPr/>
        </p:nvSpPr>
        <p:spPr>
          <a:xfrm>
            <a:off x="1120775" y="1424875"/>
            <a:ext cx="621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8" name="Google Shape;128;p21"/>
          <p:cNvSpPr/>
          <p:nvPr/>
        </p:nvSpPr>
        <p:spPr>
          <a:xfrm>
            <a:off x="270300" y="871050"/>
            <a:ext cx="5160900" cy="1937400"/>
          </a:xfrm>
          <a:prstGeom prst="chevron">
            <a:avLst>
              <a:gd fmla="val 50000" name="adj"/>
            </a:avLst>
          </a:prstGeom>
          <a:solidFill>
            <a:srgbClr val="D9D2EB"/>
          </a:solidFill>
          <a:ln cap="flat" cmpd="sng" w="38100">
            <a:solidFill>
              <a:srgbClr val="8181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Task:</a:t>
            </a:r>
            <a:endParaRPr b="1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b="0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Identify all possible hourglasses in the matrix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b="0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Compute their sums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Return the </a:t>
            </a:r>
            <a:r>
              <a:rPr b="1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minimum sum</a:t>
            </a:r>
            <a:endParaRPr b="1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21"/>
          <p:cNvSpPr/>
          <p:nvPr/>
        </p:nvSpPr>
        <p:spPr>
          <a:xfrm>
            <a:off x="3298525" y="3038850"/>
            <a:ext cx="5160900" cy="1937400"/>
          </a:xfrm>
          <a:prstGeom prst="chevron">
            <a:avLst>
              <a:gd fmla="val 50000" name="adj"/>
            </a:avLst>
          </a:prstGeom>
          <a:solidFill>
            <a:srgbClr val="D9D2EB"/>
          </a:solidFill>
          <a:ln cap="flat" cmpd="sng" w="38100">
            <a:solidFill>
              <a:srgbClr val="8181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Constraints:</a:t>
            </a:r>
            <a:endParaRPr b="1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b="0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Matrix size ≥ 3 × 3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b="0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Elements can be positive, negative, or zero.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0" name="Google Shape;130;p21"/>
          <p:cNvSpPr txBox="1"/>
          <p:nvPr/>
        </p:nvSpPr>
        <p:spPr>
          <a:xfrm>
            <a:off x="112950" y="373600"/>
            <a:ext cx="6856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8181EF"/>
                </a:solidFill>
                <a:latin typeface="Roboto"/>
                <a:ea typeface="Roboto"/>
                <a:cs typeface="Roboto"/>
                <a:sym typeface="Roboto"/>
              </a:rPr>
              <a:t>MAXIMUM SUM OF HOURGLASS IN MATRIX</a:t>
            </a:r>
            <a:endParaRPr b="1" i="0" sz="1700" u="none" cap="none" strike="noStrike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mc:AlternateContent>
    <mc:Choice Requires="p14">
      <p:transition spd="slow" p14:dur="2200">
        <p14:prism dir="l"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2"/>
          <p:cNvSpPr/>
          <p:nvPr/>
        </p:nvSpPr>
        <p:spPr>
          <a:xfrm>
            <a:off x="3296707" y="1087907"/>
            <a:ext cx="53391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All the possible hourglass in this Matrix are:</a:t>
            </a:r>
            <a:endParaRPr b="0" i="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6" name="Google Shape;136;p22"/>
          <p:cNvSpPr/>
          <p:nvPr/>
        </p:nvSpPr>
        <p:spPr>
          <a:xfrm>
            <a:off x="516097" y="1295582"/>
            <a:ext cx="2171400" cy="2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Example 1: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br>
              <a:rPr b="0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Let Rows = 5</a:t>
            </a:r>
            <a:br>
              <a:rPr b="0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Columns = 5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br>
              <a:rPr b="0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Matrix is:</a:t>
            </a:r>
            <a:br>
              <a:rPr b="0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1  2  4  5  6</a:t>
            </a:r>
            <a:br>
              <a:rPr b="0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7  5  2  3  6</a:t>
            </a:r>
            <a:br>
              <a:rPr b="0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0  0  0  0  0</a:t>
            </a:r>
            <a:br>
              <a:rPr b="0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7  5  1  3  5</a:t>
            </a:r>
            <a:br>
              <a:rPr b="0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0  0  0  0  0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7" name="Google Shape;137;p22"/>
          <p:cNvSpPr txBox="1"/>
          <p:nvPr/>
        </p:nvSpPr>
        <p:spPr>
          <a:xfrm>
            <a:off x="3398018" y="1606938"/>
            <a:ext cx="3521700" cy="2308800"/>
          </a:xfrm>
          <a:prstGeom prst="rect">
            <a:avLst/>
          </a:prstGeom>
          <a:solidFill>
            <a:srgbClr val="D9D2EB"/>
          </a:solidFill>
          <a:ln cap="flat" cmpd="sng" w="38100">
            <a:solidFill>
              <a:srgbClr val="8181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1 2 4    2 4 5    4 5 6</a:t>
            </a:r>
            <a:br>
              <a:rPr b="0" i="0" lang="en-US" sz="16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6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5  	   2        3</a:t>
            </a:r>
            <a:br>
              <a:rPr b="0" i="0" lang="en-US" sz="16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6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0 0 0    0 0 0    0 0 0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7 5 2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    </a:t>
            </a:r>
            <a:r>
              <a:rPr b="0" i="0" lang="en-US" sz="16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5 2 3    2 3 6</a:t>
            </a:r>
            <a:br>
              <a:rPr b="0" i="0" lang="en-US" sz="16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6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i="0" lang="en-US" sz="16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        </a:t>
            </a:r>
            <a:r>
              <a:rPr b="0" i="0" lang="en-US" sz="16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0        0</a:t>
            </a:r>
            <a:br>
              <a:rPr b="0" i="0" lang="en-US" sz="16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1" i="0" lang="en-US" sz="16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7 5 1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    </a:t>
            </a:r>
            <a:r>
              <a:rPr b="0" i="0" lang="en-US" sz="16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5 1 3    1 3 5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0 0 0    0 0 0    0 0 0</a:t>
            </a:r>
            <a:br>
              <a:rPr b="0" i="0" lang="en-US" sz="16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6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5        1        3</a:t>
            </a:r>
            <a:br>
              <a:rPr b="0" i="0" lang="en-US" sz="16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6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0 0 0    0 0 0    0 0 0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22"/>
          <p:cNvSpPr txBox="1"/>
          <p:nvPr/>
        </p:nvSpPr>
        <p:spPr>
          <a:xfrm>
            <a:off x="3296700" y="4096375"/>
            <a:ext cx="4917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Maximum sum of hourglass is 27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9" name="Google Shape;139;p22"/>
          <p:cNvSpPr txBox="1"/>
          <p:nvPr/>
        </p:nvSpPr>
        <p:spPr>
          <a:xfrm>
            <a:off x="95575" y="651600"/>
            <a:ext cx="6882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 Input and Output </a:t>
            </a:r>
            <a:endParaRPr b="1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22"/>
          <p:cNvSpPr txBox="1"/>
          <p:nvPr/>
        </p:nvSpPr>
        <p:spPr>
          <a:xfrm>
            <a:off x="95575" y="295400"/>
            <a:ext cx="6300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8181EF"/>
                </a:solidFill>
                <a:latin typeface="Roboto"/>
                <a:ea typeface="Roboto"/>
                <a:cs typeface="Roboto"/>
                <a:sym typeface="Roboto"/>
              </a:rPr>
              <a:t>MAXIMUM SUM OF HOURGLASS IN MATRIX</a:t>
            </a:r>
            <a:endParaRPr b="1" i="0" sz="1700" u="none" cap="none" strike="noStrike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3"/>
          <p:cNvSpPr/>
          <p:nvPr/>
        </p:nvSpPr>
        <p:spPr>
          <a:xfrm>
            <a:off x="444900" y="927050"/>
            <a:ext cx="2067000" cy="25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Example 2: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Consider the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Rows = 4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14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Columns = 4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br>
              <a:rPr b="0" i="0" lang="en-US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>
                <a:latin typeface="Roboto"/>
                <a:ea typeface="Roboto"/>
                <a:cs typeface="Roboto"/>
                <a:sym typeface="Roboto"/>
              </a:rPr>
              <a:t>M</a:t>
            </a:r>
            <a:r>
              <a:rPr b="0" i="0" lang="en-US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atrix:-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   2 4 0 0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   0 1 1 0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   4 2 1 0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   0 3 0 1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6" name="Google Shape;146;p23"/>
          <p:cNvSpPr txBox="1"/>
          <p:nvPr/>
        </p:nvSpPr>
        <p:spPr>
          <a:xfrm>
            <a:off x="2618500" y="919100"/>
            <a:ext cx="5904900" cy="25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</a:t>
            </a:r>
            <a:r>
              <a:rPr b="0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ourglass can be created using the following indexes:-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 </a:t>
            </a:r>
            <a:r>
              <a:rPr lang="en-US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                                                           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                     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                                             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7" name="Google Shape;147;p23"/>
          <p:cNvSpPr txBox="1"/>
          <p:nvPr/>
        </p:nvSpPr>
        <p:spPr>
          <a:xfrm>
            <a:off x="2511900" y="3481550"/>
            <a:ext cx="54351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We will find the sum of all these elements of the array from [0][0] to [R-2][C-2] starting points. And the find the maxSum for all these hourglasses created from array elements.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8" name="Google Shape;148;p23"/>
          <p:cNvSpPr txBox="1"/>
          <p:nvPr/>
        </p:nvSpPr>
        <p:spPr>
          <a:xfrm>
            <a:off x="191125" y="321475"/>
            <a:ext cx="6725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8181EF"/>
                </a:solidFill>
                <a:latin typeface="Roboto"/>
                <a:ea typeface="Roboto"/>
                <a:cs typeface="Roboto"/>
                <a:sym typeface="Roboto"/>
              </a:rPr>
              <a:t>MAXIMUM SUM OF HOURGLASS IN MATRIX</a:t>
            </a:r>
            <a:endParaRPr b="1" i="0" sz="1700" u="none" cap="none" strike="noStrike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9" name="Google Shape;149;p23"/>
          <p:cNvSpPr/>
          <p:nvPr/>
        </p:nvSpPr>
        <p:spPr>
          <a:xfrm>
            <a:off x="2618500" y="1600575"/>
            <a:ext cx="1407600" cy="365100"/>
          </a:xfrm>
          <a:prstGeom prst="rect">
            <a:avLst/>
          </a:prstGeom>
          <a:noFill/>
          <a:ln cap="flat" cmpd="sng" w="38100">
            <a:solidFill>
              <a:srgbClr val="807F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matrix [i][j]</a:t>
            </a:r>
            <a:endParaRPr/>
          </a:p>
        </p:txBody>
      </p:sp>
      <p:sp>
        <p:nvSpPr>
          <p:cNvPr id="150" name="Google Shape;150;p23"/>
          <p:cNvSpPr/>
          <p:nvPr/>
        </p:nvSpPr>
        <p:spPr>
          <a:xfrm>
            <a:off x="4206175" y="1600575"/>
            <a:ext cx="1503000" cy="365100"/>
          </a:xfrm>
          <a:prstGeom prst="rect">
            <a:avLst/>
          </a:prstGeom>
          <a:noFill/>
          <a:ln cap="flat" cmpd="sng" w="38100">
            <a:solidFill>
              <a:srgbClr val="807F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</a:t>
            </a:r>
            <a:r>
              <a:rPr lang="en-US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atrix[i][j+1]  </a:t>
            </a:r>
            <a:endParaRPr/>
          </a:p>
        </p:txBody>
      </p:sp>
      <p:sp>
        <p:nvSpPr>
          <p:cNvPr id="151" name="Google Shape;151;p23"/>
          <p:cNvSpPr/>
          <p:nvPr/>
        </p:nvSpPr>
        <p:spPr>
          <a:xfrm>
            <a:off x="5830850" y="1600475"/>
            <a:ext cx="1503000" cy="365100"/>
          </a:xfrm>
          <a:prstGeom prst="rect">
            <a:avLst/>
          </a:prstGeom>
          <a:noFill/>
          <a:ln cap="flat" cmpd="sng" w="38100">
            <a:solidFill>
              <a:srgbClr val="807F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matrix[i][j+2]</a:t>
            </a:r>
            <a:endParaRPr/>
          </a:p>
        </p:txBody>
      </p:sp>
      <p:sp>
        <p:nvSpPr>
          <p:cNvPr id="152" name="Google Shape;152;p23"/>
          <p:cNvSpPr/>
          <p:nvPr/>
        </p:nvSpPr>
        <p:spPr>
          <a:xfrm>
            <a:off x="4206150" y="2130525"/>
            <a:ext cx="1503000" cy="365100"/>
          </a:xfrm>
          <a:prstGeom prst="rect">
            <a:avLst/>
          </a:prstGeom>
          <a:noFill/>
          <a:ln cap="flat" cmpd="sng" w="38100">
            <a:solidFill>
              <a:srgbClr val="807F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matrix[i+1][j+1]</a:t>
            </a:r>
            <a:endParaRPr/>
          </a:p>
        </p:txBody>
      </p:sp>
      <p:sp>
        <p:nvSpPr>
          <p:cNvPr id="153" name="Google Shape;153;p23"/>
          <p:cNvSpPr/>
          <p:nvPr/>
        </p:nvSpPr>
        <p:spPr>
          <a:xfrm>
            <a:off x="2618500" y="2625800"/>
            <a:ext cx="1407600" cy="365100"/>
          </a:xfrm>
          <a:prstGeom prst="rect">
            <a:avLst/>
          </a:prstGeom>
          <a:noFill/>
          <a:ln cap="flat" cmpd="sng" w="38100">
            <a:solidFill>
              <a:srgbClr val="807F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matrix[i+2][j]  </a:t>
            </a:r>
            <a:endParaRPr/>
          </a:p>
        </p:txBody>
      </p:sp>
      <p:sp>
        <p:nvSpPr>
          <p:cNvPr id="154" name="Google Shape;154;p23"/>
          <p:cNvSpPr/>
          <p:nvPr/>
        </p:nvSpPr>
        <p:spPr>
          <a:xfrm>
            <a:off x="4206150" y="2625800"/>
            <a:ext cx="1503000" cy="365100"/>
          </a:xfrm>
          <a:prstGeom prst="rect">
            <a:avLst/>
          </a:prstGeom>
          <a:noFill/>
          <a:ln cap="flat" cmpd="sng" w="38100">
            <a:solidFill>
              <a:srgbClr val="807F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matrix[i+2][j+1] </a:t>
            </a:r>
            <a:endParaRPr/>
          </a:p>
        </p:txBody>
      </p:sp>
      <p:sp>
        <p:nvSpPr>
          <p:cNvPr id="155" name="Google Shape;155;p23"/>
          <p:cNvSpPr/>
          <p:nvPr/>
        </p:nvSpPr>
        <p:spPr>
          <a:xfrm>
            <a:off x="5830850" y="2625800"/>
            <a:ext cx="1563900" cy="365100"/>
          </a:xfrm>
          <a:prstGeom prst="rect">
            <a:avLst/>
          </a:prstGeom>
          <a:noFill/>
          <a:ln cap="flat" cmpd="sng" w="38100">
            <a:solidFill>
              <a:srgbClr val="807F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matrix[i+2][j+2]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4"/>
          <p:cNvSpPr/>
          <p:nvPr/>
        </p:nvSpPr>
        <p:spPr>
          <a:xfrm>
            <a:off x="555120" y="915840"/>
            <a:ext cx="7544880" cy="8299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24"/>
          <p:cNvSpPr/>
          <p:nvPr/>
        </p:nvSpPr>
        <p:spPr>
          <a:xfrm>
            <a:off x="1634375" y="909350"/>
            <a:ext cx="3935700" cy="3046800"/>
          </a:xfrm>
          <a:prstGeom prst="rect">
            <a:avLst/>
          </a:prstGeom>
          <a:solidFill>
            <a:srgbClr val="D9D2EB"/>
          </a:solidFill>
          <a:ln cap="flat" cmpd="sng" w="38100">
            <a:solidFill>
              <a:srgbClr val="8181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hourglasses are :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2    4    0       </a:t>
            </a:r>
            <a:r>
              <a:rPr b="0" i="0" lang="en-US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0    1    1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n-US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   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4    2    1       </a:t>
            </a:r>
            <a:r>
              <a:rPr b="0" i="0" lang="en-US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0    3    0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4    0    0       1    1    0</a:t>
            </a:r>
            <a:endParaRPr b="0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1                 1</a:t>
            </a:r>
            <a:endParaRPr b="0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2    1    0       3    0    1</a:t>
            </a:r>
            <a:endParaRPr b="0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2" name="Google Shape;162;p24"/>
          <p:cNvSpPr txBox="1"/>
          <p:nvPr/>
        </p:nvSpPr>
        <p:spPr>
          <a:xfrm>
            <a:off x="2006826" y="4058250"/>
            <a:ext cx="3832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Maximum sum of hourglass is 14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3" name="Google Shape;163;p24"/>
          <p:cNvSpPr txBox="1"/>
          <p:nvPr/>
        </p:nvSpPr>
        <p:spPr>
          <a:xfrm>
            <a:off x="156400" y="360850"/>
            <a:ext cx="6221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8181EF"/>
                </a:solidFill>
                <a:latin typeface="Roboto"/>
                <a:ea typeface="Roboto"/>
                <a:cs typeface="Roboto"/>
                <a:sym typeface="Roboto"/>
              </a:rPr>
              <a:t>MAXIMUM SUM OF HOURGLASS IN MATRIX</a:t>
            </a:r>
            <a:endParaRPr b="1" i="0" sz="1700" u="none" cap="none" strike="noStrike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5"/>
          <p:cNvSpPr txBox="1"/>
          <p:nvPr/>
        </p:nvSpPr>
        <p:spPr>
          <a:xfrm>
            <a:off x="95575" y="451775"/>
            <a:ext cx="6882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8181EF"/>
                </a:solidFill>
                <a:latin typeface="Roboto"/>
                <a:ea typeface="Roboto"/>
                <a:cs typeface="Roboto"/>
                <a:sym typeface="Roboto"/>
              </a:rPr>
              <a:t>MAXIMUM SUM OF HOURGLASS IN MATRIX </a:t>
            </a:r>
            <a:r>
              <a:rPr b="1" i="0" lang="en-US" sz="1700" u="none" cap="none" strike="noStrike">
                <a:solidFill>
                  <a:srgbClr val="8181EF"/>
                </a:solidFill>
                <a:latin typeface="Roboto"/>
                <a:ea typeface="Roboto"/>
                <a:cs typeface="Roboto"/>
                <a:sym typeface="Roboto"/>
              </a:rPr>
              <a:t>APPROACHES</a:t>
            </a:r>
            <a:endParaRPr b="1" i="0" sz="1700" u="none" cap="none" strike="noStrike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9" name="Google Shape;169;p25"/>
          <p:cNvSpPr/>
          <p:nvPr/>
        </p:nvSpPr>
        <p:spPr>
          <a:xfrm>
            <a:off x="765550" y="1040150"/>
            <a:ext cx="3206100" cy="2172300"/>
          </a:xfrm>
          <a:prstGeom prst="ellipse">
            <a:avLst/>
          </a:prstGeom>
          <a:solidFill>
            <a:schemeClr val="lt1"/>
          </a:solidFill>
          <a:ln cap="flat" cmpd="sng" w="38100">
            <a:solidFill>
              <a:srgbClr val="807F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Brute Force (Nested Loop) </a:t>
            </a:r>
            <a:endParaRPr b="1" i="0" sz="11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●"/>
            </a:pPr>
            <a:r>
              <a:rPr b="1" i="0" lang="en-US" sz="11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Traverse all possible hourglass positions</a:t>
            </a:r>
            <a:endParaRPr b="1" i="0" sz="11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●"/>
            </a:pPr>
            <a:r>
              <a:rPr b="1" i="0" lang="en-US" sz="11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Calculate sum manually</a:t>
            </a:r>
            <a:endParaRPr b="1" i="0" sz="11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●"/>
            </a:pPr>
            <a:r>
              <a:rPr b="1" i="0" lang="en-US" sz="11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Track minimum</a:t>
            </a:r>
            <a:endParaRPr b="1" i="0" sz="11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Time: O(n × m), Space: O(1)</a:t>
            </a:r>
            <a:endParaRPr b="1" i="0" sz="11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1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0" name="Google Shape;170;p25"/>
          <p:cNvSpPr/>
          <p:nvPr/>
        </p:nvSpPr>
        <p:spPr>
          <a:xfrm>
            <a:off x="5570175" y="898175"/>
            <a:ext cx="3127800" cy="2172300"/>
          </a:xfrm>
          <a:prstGeom prst="ellipse">
            <a:avLst/>
          </a:prstGeom>
          <a:solidFill>
            <a:schemeClr val="lt1"/>
          </a:solidFill>
          <a:ln cap="flat" cmpd="sng" w="38100">
            <a:solidFill>
              <a:srgbClr val="807F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Prefix Sum </a:t>
            </a:r>
            <a:endParaRPr b="1" i="0" sz="11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●"/>
            </a:pPr>
            <a:r>
              <a:rPr b="1" i="0" lang="en-US" sz="11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Used for fast submatrix sum</a:t>
            </a:r>
            <a:endParaRPr b="1" i="0" sz="11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●"/>
            </a:pPr>
            <a:r>
              <a:rPr b="1" i="0" lang="en-US" sz="11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Hourglass is irregular shape (not rectangle)</a:t>
            </a:r>
            <a:br>
              <a:rPr b="1" i="0" lang="en-US" sz="11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i="0" lang="en-US" sz="11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Not suitable / no real benefit</a:t>
            </a:r>
            <a:endParaRPr b="1" i="0" sz="11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1" name="Google Shape;171;p25"/>
          <p:cNvSpPr/>
          <p:nvPr/>
        </p:nvSpPr>
        <p:spPr>
          <a:xfrm>
            <a:off x="3467625" y="2938650"/>
            <a:ext cx="3206100" cy="2076600"/>
          </a:xfrm>
          <a:prstGeom prst="ellipse">
            <a:avLst/>
          </a:prstGeom>
          <a:solidFill>
            <a:schemeClr val="lt1"/>
          </a:solidFill>
          <a:ln cap="flat" cmpd="sng" w="38100">
            <a:solidFill>
              <a:srgbClr val="807F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Sliding Window </a:t>
            </a:r>
            <a:endParaRPr b="1" i="0" sz="11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●"/>
            </a:pPr>
            <a:r>
              <a:rPr b="1" i="0" lang="en-US" sz="11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Try to reuse previous computation</a:t>
            </a:r>
            <a:endParaRPr b="1" i="0" sz="11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●"/>
            </a:pPr>
            <a:r>
              <a:rPr b="1" i="0" lang="en-US" sz="11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Shape changes → hard to maintain</a:t>
            </a:r>
            <a:br>
              <a:rPr b="1" i="0" lang="en-US" sz="11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i="0" lang="en-US" sz="11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Not practical</a:t>
            </a:r>
            <a:endParaRPr b="1" i="0" sz="11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2" name="Google Shape;172;p25"/>
          <p:cNvSpPr/>
          <p:nvPr/>
        </p:nvSpPr>
        <p:spPr>
          <a:xfrm>
            <a:off x="3684825" y="1079300"/>
            <a:ext cx="17400" cy="17400"/>
          </a:xfrm>
          <a:prstGeom prst="flowChartMagneticTap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25"/>
          <p:cNvSpPr/>
          <p:nvPr/>
        </p:nvSpPr>
        <p:spPr>
          <a:xfrm>
            <a:off x="0" y="1679900"/>
            <a:ext cx="1342500" cy="892800"/>
          </a:xfrm>
          <a:prstGeom prst="homePlate">
            <a:avLst>
              <a:gd fmla="val 50000" name="adj"/>
            </a:avLst>
          </a:prstGeom>
          <a:solidFill>
            <a:srgbClr val="C5B9E8"/>
          </a:solidFill>
          <a:ln cap="flat" cmpd="sng" w="38100">
            <a:solidFill>
              <a:srgbClr val="807F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>
                <a:latin typeface="Roboto"/>
                <a:ea typeface="Roboto"/>
                <a:cs typeface="Roboto"/>
                <a:sym typeface="Roboto"/>
              </a:rPr>
              <a:t>Practical Approach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b="1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4" name="Google Shape;174;p25"/>
          <p:cNvSpPr/>
          <p:nvPr/>
        </p:nvSpPr>
        <p:spPr>
          <a:xfrm>
            <a:off x="4632850" y="1601700"/>
            <a:ext cx="1519500" cy="892800"/>
          </a:xfrm>
          <a:prstGeom prst="homePlate">
            <a:avLst>
              <a:gd fmla="val 50000" name="adj"/>
            </a:avLst>
          </a:prstGeom>
          <a:solidFill>
            <a:srgbClr val="C5B9E8"/>
          </a:solidFill>
          <a:ln cap="flat" cmpd="sng" w="38100">
            <a:solidFill>
              <a:srgbClr val="807F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>
                <a:latin typeface="Roboto"/>
                <a:ea typeface="Roboto"/>
                <a:cs typeface="Roboto"/>
                <a:sym typeface="Roboto"/>
              </a:rPr>
              <a:t>Memory</a:t>
            </a:r>
            <a:endParaRPr b="1"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>
                <a:latin typeface="Roboto"/>
                <a:ea typeface="Roboto"/>
                <a:cs typeface="Roboto"/>
                <a:sym typeface="Roboto"/>
              </a:rPr>
              <a:t>Based Optimization </a:t>
            </a:r>
            <a:endParaRPr b="1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5" name="Google Shape;175;p25"/>
          <p:cNvSpPr/>
          <p:nvPr/>
        </p:nvSpPr>
        <p:spPr>
          <a:xfrm>
            <a:off x="2507900" y="3530550"/>
            <a:ext cx="1559100" cy="892800"/>
          </a:xfrm>
          <a:prstGeom prst="homePlate">
            <a:avLst>
              <a:gd fmla="val 50000" name="adj"/>
            </a:avLst>
          </a:prstGeom>
          <a:solidFill>
            <a:srgbClr val="C5B9E8"/>
          </a:solidFill>
          <a:ln cap="flat" cmpd="sng" w="38100">
            <a:solidFill>
              <a:srgbClr val="8181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>
                <a:latin typeface="Roboto"/>
                <a:ea typeface="Roboto"/>
                <a:cs typeface="Roboto"/>
                <a:sym typeface="Roboto"/>
              </a:rPr>
              <a:t>Conceptual Optimization </a:t>
            </a:r>
            <a:endParaRPr b="1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6"/>
          <p:cNvSpPr txBox="1"/>
          <p:nvPr/>
        </p:nvSpPr>
        <p:spPr>
          <a:xfrm>
            <a:off x="182450" y="529975"/>
            <a:ext cx="7551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807FEC"/>
                </a:solidFill>
                <a:latin typeface="Roboto"/>
                <a:ea typeface="Roboto"/>
                <a:cs typeface="Roboto"/>
                <a:sym typeface="Roboto"/>
              </a:rPr>
              <a:t>W</a:t>
            </a:r>
            <a:r>
              <a:rPr b="1" lang="en-US" sz="1700">
                <a:solidFill>
                  <a:srgbClr val="807FEC"/>
                </a:solidFill>
                <a:latin typeface="Roboto"/>
                <a:ea typeface="Roboto"/>
                <a:cs typeface="Roboto"/>
                <a:sym typeface="Roboto"/>
              </a:rPr>
              <a:t>HY BRUTE FORCE IS PRACTICAL (Used) ?</a:t>
            </a:r>
            <a:r>
              <a:rPr b="1" i="0" lang="en-US" sz="1700" u="none" cap="none" strike="noStrike">
                <a:solidFill>
                  <a:srgbClr val="807FE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b="1" i="0" sz="1700" u="none" cap="none" strike="noStrike">
              <a:solidFill>
                <a:srgbClr val="807FE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1" name="Google Shape;181;p26"/>
          <p:cNvSpPr/>
          <p:nvPr/>
        </p:nvSpPr>
        <p:spPr>
          <a:xfrm>
            <a:off x="904550" y="1087975"/>
            <a:ext cx="6950700" cy="3327600"/>
          </a:xfrm>
          <a:prstGeom prst="horizontalScroll">
            <a:avLst>
              <a:gd fmla="val 12500" name="adj"/>
            </a:avLst>
          </a:prstGeom>
          <a:solidFill>
            <a:srgbClr val="D9EAD3"/>
          </a:solidFill>
          <a:ln cap="flat" cmpd="sng" w="38100">
            <a:solidFill>
              <a:srgbClr val="807F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Every hourglass must be checked at least once</a:t>
            </a:r>
            <a:br>
              <a:rPr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No effective reuse possible due to shape</a:t>
            </a:r>
            <a:br>
              <a:rPr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Already optimal: </a:t>
            </a:r>
            <a:r>
              <a:rPr b="1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O(n × m)</a:t>
            </a:r>
            <a:endParaRPr b="1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Conclusion:</a:t>
            </a:r>
            <a:br>
              <a:rPr b="1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Brute Force is the most efficient and practical approach for this   problem</a:t>
            </a:r>
            <a:endParaRPr b="1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7"/>
          <p:cNvSpPr txBox="1"/>
          <p:nvPr>
            <p:ph type="title"/>
          </p:nvPr>
        </p:nvSpPr>
        <p:spPr>
          <a:xfrm>
            <a:off x="155325" y="4363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8181EF"/>
                </a:solidFill>
                <a:latin typeface="Roboto"/>
                <a:ea typeface="Roboto"/>
                <a:cs typeface="Roboto"/>
                <a:sym typeface="Roboto"/>
              </a:rPr>
              <a:t>MAXIMUM SUM OF HOURGLASS IN MATRIX ALGORITHM</a:t>
            </a:r>
            <a:endParaRPr b="1" sz="1700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11"/>
              <a:buNone/>
            </a:pPr>
            <a:r>
              <a:t/>
            </a:r>
            <a:endParaRPr b="1" sz="1700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7" name="Google Shape;187;p27"/>
          <p:cNvSpPr txBox="1"/>
          <p:nvPr>
            <p:ph idx="1" type="body"/>
          </p:nvPr>
        </p:nvSpPr>
        <p:spPr>
          <a:xfrm>
            <a:off x="-2677100" y="3207200"/>
            <a:ext cx="47892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8" name="Google Shape;188;p27"/>
          <p:cNvSpPr/>
          <p:nvPr/>
        </p:nvSpPr>
        <p:spPr>
          <a:xfrm>
            <a:off x="268250" y="1269475"/>
            <a:ext cx="2589300" cy="2868000"/>
          </a:xfrm>
          <a:prstGeom prst="pentagon">
            <a:avLst>
              <a:gd fmla="val 105146" name="hf"/>
              <a:gd fmla="val 110557" name="vf"/>
            </a:avLst>
          </a:prstGeom>
          <a:solidFill>
            <a:srgbClr val="E0F2F5"/>
          </a:solidFill>
          <a:ln cap="flat" cmpd="sng" w="38100">
            <a:solidFill>
              <a:srgbClr val="807F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Step 1: </a:t>
            </a:r>
            <a:r>
              <a:rPr b="0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Start the program and read the number of rows and columns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27"/>
          <p:cNvSpPr/>
          <p:nvPr/>
        </p:nvSpPr>
        <p:spPr>
          <a:xfrm>
            <a:off x="2979225" y="1426000"/>
            <a:ext cx="3040800" cy="2754900"/>
          </a:xfrm>
          <a:prstGeom prst="hexagon">
            <a:avLst>
              <a:gd fmla="val 28852" name="adj"/>
              <a:gd fmla="val 115470" name="vf"/>
            </a:avLst>
          </a:prstGeom>
          <a:solidFill>
            <a:srgbClr val="C9DAF8"/>
          </a:solidFill>
          <a:ln cap="flat" cmpd="sng" w="38100">
            <a:solidFill>
              <a:srgbClr val="807F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</a:t>
            </a:r>
            <a:r>
              <a:rPr b="1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Step 2: </a:t>
            </a:r>
            <a:r>
              <a:rPr b="0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Input all matrix elements into a 2D array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Step 3: </a:t>
            </a:r>
            <a:r>
              <a:rPr b="0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Check whether the matrix size is at least 3 × 3. If not possible, print message and stop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7"/>
          <p:cNvSpPr/>
          <p:nvPr/>
        </p:nvSpPr>
        <p:spPr>
          <a:xfrm>
            <a:off x="6141700" y="1269425"/>
            <a:ext cx="2733900" cy="2868000"/>
          </a:xfrm>
          <a:prstGeom prst="heptagon">
            <a:avLst>
              <a:gd fmla="val 102572" name="hf"/>
              <a:gd fmla="val 105210" name="vf"/>
            </a:avLst>
          </a:prstGeom>
          <a:solidFill>
            <a:srgbClr val="CFE2F3"/>
          </a:solidFill>
          <a:ln cap="flat" cmpd="sng" w="38100">
            <a:solidFill>
              <a:srgbClr val="807F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Step 4: </a:t>
            </a:r>
            <a:r>
              <a:rPr b="0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Initialize:  min_sum = Integer.MAX_VALUE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8"/>
          <p:cNvSpPr txBox="1"/>
          <p:nvPr>
            <p:ph type="title"/>
          </p:nvPr>
        </p:nvSpPr>
        <p:spPr>
          <a:xfrm>
            <a:off x="311700" y="4363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8181EF"/>
                </a:solidFill>
                <a:latin typeface="Roboto"/>
                <a:ea typeface="Roboto"/>
                <a:cs typeface="Roboto"/>
                <a:sym typeface="Roboto"/>
              </a:rPr>
              <a:t>MAXIMUM SUM OF HOURGLASS IN MATRIX ALGORITHM</a:t>
            </a:r>
            <a:endParaRPr b="1" sz="1700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11"/>
              <a:buFont typeface="Arial"/>
              <a:buNone/>
            </a:pPr>
            <a:r>
              <a:t/>
            </a:r>
            <a:endParaRPr b="1" sz="1700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1700">
              <a:solidFill>
                <a:srgbClr val="807FE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6" name="Google Shape;196;p28"/>
          <p:cNvSpPr/>
          <p:nvPr/>
        </p:nvSpPr>
        <p:spPr>
          <a:xfrm>
            <a:off x="137925" y="1529000"/>
            <a:ext cx="2669400" cy="2215500"/>
          </a:xfrm>
          <a:prstGeom prst="octagon">
            <a:avLst>
              <a:gd fmla="val 29289" name="adj"/>
            </a:avLst>
          </a:prstGeom>
          <a:solidFill>
            <a:srgbClr val="E5E2EB"/>
          </a:solidFill>
          <a:ln cap="flat" cmpd="sng" w="38100">
            <a:solidFill>
              <a:srgbClr val="807F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Step 5:</a:t>
            </a:r>
            <a:r>
              <a:rPr b="0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Traverse all possible hourglass positions using nested loops, Outer loop → rows (0 to row - 3) &amp; Inner loop → columns (0 to col - 3).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8"/>
          <p:cNvSpPr/>
          <p:nvPr/>
        </p:nvSpPr>
        <p:spPr>
          <a:xfrm>
            <a:off x="2972538" y="1452875"/>
            <a:ext cx="2944800" cy="2363100"/>
          </a:xfrm>
          <a:prstGeom prst="decagon">
            <a:avLst>
              <a:gd fmla="val 105146" name="vf"/>
            </a:avLst>
          </a:prstGeom>
          <a:solidFill>
            <a:srgbClr val="F7E1EB"/>
          </a:solidFill>
          <a:ln cap="flat" cmpd="sng" w="38100">
            <a:solidFill>
              <a:srgbClr val="807F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   </a:t>
            </a:r>
            <a:r>
              <a:rPr b="1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Step 6:</a:t>
            </a:r>
            <a:r>
              <a:rPr b="0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Calculate the hourglass sum for each position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Step 7:</a:t>
            </a:r>
            <a:r>
              <a:rPr b="0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Compare the current sum with the minimum sum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8" name="Google Shape;198;p28"/>
          <p:cNvSpPr/>
          <p:nvPr/>
        </p:nvSpPr>
        <p:spPr>
          <a:xfrm>
            <a:off x="6065425" y="1313875"/>
            <a:ext cx="2806200" cy="2526000"/>
          </a:xfrm>
          <a:prstGeom prst="dodecagon">
            <a:avLst/>
          </a:prstGeom>
          <a:solidFill>
            <a:srgbClr val="FFF2CC"/>
          </a:solidFill>
          <a:ln cap="flat" cmpd="sng" w="38100">
            <a:solidFill>
              <a:srgbClr val="807F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Step 8:</a:t>
            </a:r>
            <a:r>
              <a:rPr b="0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Update the minimum value if the current sum is smaller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Step 9:</a:t>
            </a:r>
            <a:r>
              <a:rPr b="0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Print the minimum hourglass sum and </a:t>
            </a:r>
            <a:r>
              <a:rPr lang="en-US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end.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9"/>
          <p:cNvSpPr txBox="1"/>
          <p:nvPr>
            <p:ph type="title"/>
          </p:nvPr>
        </p:nvSpPr>
        <p:spPr>
          <a:xfrm>
            <a:off x="1640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8181EF"/>
                </a:solidFill>
                <a:latin typeface="Roboto"/>
                <a:ea typeface="Roboto"/>
                <a:cs typeface="Roboto"/>
                <a:sym typeface="Roboto"/>
              </a:rPr>
              <a:t>MAXIMUM SUM OF HOURGLASS IN MATRIX PSEUDOCODE</a:t>
            </a:r>
            <a:endParaRPr b="1" sz="1700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17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4" name="Google Shape;204;p29"/>
          <p:cNvSpPr txBox="1"/>
          <p:nvPr>
            <p:ph idx="1" type="body"/>
          </p:nvPr>
        </p:nvSpPr>
        <p:spPr>
          <a:xfrm>
            <a:off x="311700" y="1017725"/>
            <a:ext cx="3999900" cy="3416400"/>
          </a:xfrm>
          <a:prstGeom prst="rect">
            <a:avLst/>
          </a:prstGeom>
          <a:solidFill>
            <a:srgbClr val="D9D2EB"/>
          </a:solidFill>
          <a:ln cap="flat" cmpd="sng" w="38100">
            <a:solidFill>
              <a:srgbClr val="807F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START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Read row and col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Create matrix[row][col]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Read all matrix elements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max_sum = minimum integer value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FOR i = 0 to row - 3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en-US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FOR j = 0 to col - 3 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5" name="Google Shape;205;p29"/>
          <p:cNvSpPr txBox="1"/>
          <p:nvPr>
            <p:ph idx="2" type="body"/>
          </p:nvPr>
        </p:nvSpPr>
        <p:spPr>
          <a:xfrm>
            <a:off x="4710050" y="1017725"/>
            <a:ext cx="3879000" cy="3416400"/>
          </a:xfrm>
          <a:prstGeom prst="rect">
            <a:avLst/>
          </a:prstGeom>
          <a:solidFill>
            <a:srgbClr val="D9D2EB"/>
          </a:solidFill>
          <a:ln cap="flat" cmpd="sng" w="38100">
            <a:solidFill>
              <a:srgbClr val="807F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sum = matrix[i][j] +  matrix[i][j+1] +  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matrix[i][j+2] + matrix[i+1][j+1] +  matrix[i+2][j] 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+ matrix[i+2][j+1] +  matrix[i+2][j+2]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IF sum &gt; max_sum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max_sum = sum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END FOR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END FOR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Print max_sum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STOP 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0"/>
          <p:cNvSpPr/>
          <p:nvPr/>
        </p:nvSpPr>
        <p:spPr>
          <a:xfrm>
            <a:off x="555120" y="915840"/>
            <a:ext cx="7544880" cy="8299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11" name="Google Shape;211;p30"/>
          <p:cNvGraphicFramePr/>
          <p:nvPr/>
        </p:nvGraphicFramePr>
        <p:xfrm>
          <a:off x="249112" y="109750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{96740F0B-6A4E-4B9D-AD56-EE3823218988}</a:tableStyleId>
              </a:tblPr>
              <a:tblGrid>
                <a:gridCol w="4068900"/>
                <a:gridCol w="3608225"/>
              </a:tblGrid>
              <a:tr h="3539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3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import java.util.*;</a:t>
                      </a:r>
                      <a:endParaRPr sz="1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3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class Main {</a:t>
                      </a:r>
                      <a:endParaRPr sz="1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3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static int findMaxSum(int[][] mat) {</a:t>
                      </a:r>
                      <a:endParaRPr sz="1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3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int row = mat.length;</a:t>
                      </a:r>
                      <a:endParaRPr sz="1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3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int col = mat[0].length;</a:t>
                      </a:r>
                      <a:endParaRPr sz="1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3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if (row &lt; 3 || col &lt; 3) {</a:t>
                      </a:r>
                      <a:endParaRPr sz="1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3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System.out.println("Not possible to form hourglass");</a:t>
                      </a:r>
                      <a:endParaRPr sz="1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3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return -1;</a:t>
                      </a:r>
                      <a:endParaRPr sz="1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3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}</a:t>
                      </a:r>
                      <a:endParaRPr sz="1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int max_sum = Integer.MIN_VALUE; </a:t>
                      </a:r>
                      <a:endParaRPr sz="1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25" marB="45725" marR="91450" marL="91450">
                    <a:lnL cap="flat" cmpd="sng" w="38100">
                      <a:solidFill>
                        <a:srgbClr val="807F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807F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807F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807F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3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for (int i = 0; i &lt;= row - 3; i++) {</a:t>
                      </a:r>
                      <a:endParaRPr sz="1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3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for (int j = 0; j &lt;= col - 3; j++) {</a:t>
                      </a:r>
                      <a:endParaRPr sz="1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3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int sum = mat[i][j] + mat[i][j + 1] + mat[i][j + 2]</a:t>
                      </a:r>
                      <a:endParaRPr sz="1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3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+ mat[i + 1][j + 1]</a:t>
                      </a:r>
                      <a:r>
                        <a:rPr lang="en-US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n-US" sz="13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+ mat[i + 2][j] + mat[i + 2][j + 1] + mat[i + 2][j + 2];</a:t>
                      </a:r>
                      <a:endParaRPr sz="1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3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max_sum = Math.max(max_sum, sum);</a:t>
                      </a:r>
                      <a:endParaRPr sz="1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3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}</a:t>
                      </a:r>
                      <a:endParaRPr sz="1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3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}</a:t>
                      </a:r>
                      <a:endParaRPr sz="1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3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return max_sum;</a:t>
                      </a:r>
                      <a:endParaRPr sz="1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3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} </a:t>
                      </a:r>
                      <a:endParaRPr sz="1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25" marB="45725" marR="91450" marL="91450">
                    <a:lnL cap="flat" cmpd="sng" w="38100">
                      <a:solidFill>
                        <a:srgbClr val="807F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807F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807F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807F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2" name="Google Shape;212;p30"/>
          <p:cNvSpPr txBox="1"/>
          <p:nvPr/>
        </p:nvSpPr>
        <p:spPr>
          <a:xfrm>
            <a:off x="155650" y="530000"/>
            <a:ext cx="59619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solidFill>
                  <a:srgbClr val="8181EF"/>
                </a:solidFill>
                <a:latin typeface="Roboto"/>
                <a:ea typeface="Roboto"/>
                <a:cs typeface="Roboto"/>
                <a:sym typeface="Roboto"/>
              </a:rPr>
              <a:t>MAXIMUM SUM OF HOURGLASS IN MATRIX PROGRAM</a:t>
            </a:r>
            <a:endParaRPr b="1" i="0" sz="17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1"/>
          <p:cNvSpPr/>
          <p:nvPr/>
        </p:nvSpPr>
        <p:spPr>
          <a:xfrm>
            <a:off x="555120" y="915840"/>
            <a:ext cx="7545000" cy="8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18" name="Google Shape;218;p31"/>
          <p:cNvGraphicFramePr/>
          <p:nvPr/>
        </p:nvGraphicFramePr>
        <p:xfrm>
          <a:off x="294687" y="60425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{96740F0B-6A4E-4B9D-AD56-EE3823218988}</a:tableStyleId>
              </a:tblPr>
              <a:tblGrid>
                <a:gridCol w="4136950"/>
                <a:gridCol w="3668500"/>
              </a:tblGrid>
              <a:tr h="3587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3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public static void main(String[] args) {</a:t>
                      </a:r>
                      <a:endParaRPr sz="1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3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Scanner sc = new Scanner(System.in);</a:t>
                      </a:r>
                      <a:endParaRPr sz="1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3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// Input rows and columns</a:t>
                      </a:r>
                      <a:endParaRPr sz="1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3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int row = sc.nextInt();</a:t>
                      </a:r>
                      <a:endParaRPr sz="1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3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int col = sc.nextInt();</a:t>
                      </a:r>
                      <a:endParaRPr sz="1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3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int[][] mat = new int[row][col];</a:t>
                      </a:r>
                      <a:endParaRPr sz="1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3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// Matrix input</a:t>
                      </a:r>
                      <a:endParaRPr sz="1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3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for (int i = 0; i &lt; row; i++) {</a:t>
                      </a:r>
                      <a:endParaRPr sz="1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3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for (int j = 0; j &lt; col; j++) {</a:t>
                      </a:r>
                      <a:endParaRPr sz="1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3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mat[i][j] = sc.nextInt();</a:t>
                      </a:r>
                      <a:endParaRPr sz="1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3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}</a:t>
                      </a:r>
                      <a:endParaRPr sz="1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3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} </a:t>
                      </a:r>
                      <a:endParaRPr sz="1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25" marB="45725" marR="91450" marL="91450">
                    <a:lnL cap="flat" cmpd="sng" w="38100">
                      <a:solidFill>
                        <a:srgbClr val="807F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807F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807F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807F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3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int result = findMaxSum(mat);</a:t>
                      </a:r>
                      <a:endParaRPr sz="1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3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if (result != -1) {</a:t>
                      </a:r>
                      <a:endParaRPr sz="1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3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System.out.println("Maximum sum of hourglass = " + result);</a:t>
                      </a:r>
                      <a:endParaRPr sz="1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3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}</a:t>
                      </a:r>
                      <a:endParaRPr sz="1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3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sc.close();</a:t>
                      </a:r>
                      <a:endParaRPr sz="1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3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}</a:t>
                      </a:r>
                      <a:endParaRPr sz="1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3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} </a:t>
                      </a:r>
                      <a:endParaRPr sz="1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25" marB="45725" marR="91450" marL="91450">
                    <a:lnL cap="flat" cmpd="sng" w="38100">
                      <a:solidFill>
                        <a:srgbClr val="807F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807F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807F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807F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2"/>
          <p:cNvSpPr txBox="1"/>
          <p:nvPr/>
        </p:nvSpPr>
        <p:spPr>
          <a:xfrm>
            <a:off x="161100" y="447825"/>
            <a:ext cx="8059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8181EF"/>
                </a:solidFill>
                <a:latin typeface="Roboto"/>
                <a:ea typeface="Roboto"/>
                <a:cs typeface="Roboto"/>
                <a:sym typeface="Roboto"/>
              </a:rPr>
              <a:t>MAXIMUM SUM OF HOURGLASS IN MATRIX TIME AND SPACE COMPLEXITY</a:t>
            </a:r>
            <a:endParaRPr b="1" i="0" sz="1700" u="none" cap="none" strike="noStrike">
              <a:solidFill>
                <a:srgbClr val="807FE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4" name="Google Shape;224;p32"/>
          <p:cNvSpPr/>
          <p:nvPr/>
        </p:nvSpPr>
        <p:spPr>
          <a:xfrm>
            <a:off x="439250" y="1340687"/>
            <a:ext cx="5004450" cy="1337256"/>
          </a:xfrm>
          <a:prstGeom prst="flowChartTerminator">
            <a:avLst/>
          </a:prstGeom>
          <a:solidFill>
            <a:srgbClr val="FCE5CD"/>
          </a:solidFill>
          <a:ln cap="flat" cmpd="sng" w="38100">
            <a:solidFill>
              <a:srgbClr val="807F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Time complexity: O(R*C) where R is the number of      Rows,C is the number of columns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5" name="Google Shape;225;p32"/>
          <p:cNvSpPr/>
          <p:nvPr/>
        </p:nvSpPr>
        <p:spPr>
          <a:xfrm>
            <a:off x="3589125" y="3041800"/>
            <a:ext cx="5004450" cy="1337256"/>
          </a:xfrm>
          <a:prstGeom prst="flowChartTerminator">
            <a:avLst/>
          </a:prstGeom>
          <a:solidFill>
            <a:srgbClr val="FCE5CD"/>
          </a:solidFill>
          <a:ln cap="flat" cmpd="sng" w="38100">
            <a:solidFill>
              <a:srgbClr val="807F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Space complexity:  O(1)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 extra data structure is used for computation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3"/>
          <p:cNvSpPr txBox="1"/>
          <p:nvPr/>
        </p:nvSpPr>
        <p:spPr>
          <a:xfrm>
            <a:off x="208525" y="390975"/>
            <a:ext cx="7603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solidFill>
                  <a:srgbClr val="8181EF"/>
                </a:solidFill>
                <a:latin typeface="Roboto"/>
                <a:ea typeface="Roboto"/>
                <a:cs typeface="Roboto"/>
                <a:sym typeface="Roboto"/>
              </a:rPr>
              <a:t>MAXIMUM SUM OF HOURGLASS IN MATRIX REAL TIME APPLICATIONS</a:t>
            </a:r>
            <a:endParaRPr b="1" i="0" sz="1700" u="none" cap="none" strike="noStrike">
              <a:solidFill>
                <a:srgbClr val="807FE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1" name="Google Shape;231;p33"/>
          <p:cNvSpPr/>
          <p:nvPr/>
        </p:nvSpPr>
        <p:spPr>
          <a:xfrm>
            <a:off x="5926425" y="2083150"/>
            <a:ext cx="2450100" cy="1511800"/>
          </a:xfrm>
          <a:prstGeom prst="flowChartDecision">
            <a:avLst/>
          </a:prstGeom>
          <a:noFill/>
          <a:ln cap="flat" cmpd="sng" w="38100">
            <a:solidFill>
              <a:srgbClr val="807F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Weather &amp; Heat Map Analysis 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2" name="Google Shape;232;p33"/>
          <p:cNvSpPr/>
          <p:nvPr/>
        </p:nvSpPr>
        <p:spPr>
          <a:xfrm>
            <a:off x="208525" y="2291650"/>
            <a:ext cx="2494550" cy="1511800"/>
          </a:xfrm>
          <a:prstGeom prst="flowChartDecision">
            <a:avLst/>
          </a:prstGeom>
          <a:noFill/>
          <a:ln cap="flat" cmpd="sng" w="38100">
            <a:solidFill>
              <a:srgbClr val="807F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</a:t>
            </a:r>
            <a:r>
              <a:rPr lang="en-US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Image      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Processing 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3" name="Google Shape;233;p33"/>
          <p:cNvSpPr/>
          <p:nvPr/>
        </p:nvSpPr>
        <p:spPr>
          <a:xfrm>
            <a:off x="2978838" y="1891675"/>
            <a:ext cx="2671800" cy="734100"/>
          </a:xfrm>
          <a:prstGeom prst="rect">
            <a:avLst/>
          </a:prstGeom>
          <a:solidFill>
            <a:srgbClr val="C5B9E8"/>
          </a:solidFill>
          <a:ln cap="flat" cmpd="sng" w="38100">
            <a:solidFill>
              <a:srgbClr val="807F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Detecting bright pixel regions.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33"/>
          <p:cNvSpPr/>
          <p:nvPr/>
        </p:nvSpPr>
        <p:spPr>
          <a:xfrm>
            <a:off x="2955775" y="1047425"/>
            <a:ext cx="2671800" cy="634200"/>
          </a:xfrm>
          <a:prstGeom prst="rect">
            <a:avLst/>
          </a:prstGeom>
          <a:solidFill>
            <a:srgbClr val="C5B9E8"/>
          </a:solidFill>
          <a:ln cap="flat" cmpd="sng" w="38100">
            <a:solidFill>
              <a:srgbClr val="807F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Pattern recognition and detection.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33"/>
          <p:cNvSpPr/>
          <p:nvPr/>
        </p:nvSpPr>
        <p:spPr>
          <a:xfrm>
            <a:off x="2978850" y="2895950"/>
            <a:ext cx="2671800" cy="734100"/>
          </a:xfrm>
          <a:prstGeom prst="rect">
            <a:avLst/>
          </a:prstGeom>
          <a:solidFill>
            <a:srgbClr val="C5B9E8"/>
          </a:solidFill>
          <a:ln cap="flat" cmpd="sng" w="38100">
            <a:solidFill>
              <a:srgbClr val="807F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Identifying high-temperature areas.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33"/>
          <p:cNvSpPr/>
          <p:nvPr/>
        </p:nvSpPr>
        <p:spPr>
          <a:xfrm>
            <a:off x="2959350" y="3900225"/>
            <a:ext cx="2710800" cy="734100"/>
          </a:xfrm>
          <a:prstGeom prst="rect">
            <a:avLst/>
          </a:prstGeom>
          <a:solidFill>
            <a:srgbClr val="C5B9E8"/>
          </a:solidFill>
          <a:ln cap="flat" cmpd="sng" w="38100">
            <a:solidFill>
              <a:srgbClr val="807F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Finding high-scoring patterns.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7" name="Google Shape;237;p33"/>
          <p:cNvCxnSpPr/>
          <p:nvPr/>
        </p:nvCxnSpPr>
        <p:spPr>
          <a:xfrm flipH="1" rot="10800000">
            <a:off x="2121775" y="1087950"/>
            <a:ext cx="755100" cy="174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cxnSp>
        <p:nvCxnSpPr>
          <p:cNvPr id="238" name="Google Shape;238;p33"/>
          <p:cNvCxnSpPr/>
          <p:nvPr/>
        </p:nvCxnSpPr>
        <p:spPr>
          <a:xfrm flipH="1" rot="10800000">
            <a:off x="1930675" y="2504150"/>
            <a:ext cx="1025100" cy="174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cxnSp>
        <p:nvCxnSpPr>
          <p:cNvPr id="239" name="Google Shape;239;p33"/>
          <p:cNvCxnSpPr/>
          <p:nvPr/>
        </p:nvCxnSpPr>
        <p:spPr>
          <a:xfrm flipH="1">
            <a:off x="5704525" y="3252800"/>
            <a:ext cx="849300" cy="204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cxnSp>
        <p:nvCxnSpPr>
          <p:cNvPr id="240" name="Google Shape;240;p33"/>
          <p:cNvCxnSpPr/>
          <p:nvPr/>
        </p:nvCxnSpPr>
        <p:spPr>
          <a:xfrm flipH="1">
            <a:off x="5712175" y="3929050"/>
            <a:ext cx="834000" cy="348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41" name="Google Shape;241;p33"/>
          <p:cNvSpPr/>
          <p:nvPr/>
        </p:nvSpPr>
        <p:spPr>
          <a:xfrm>
            <a:off x="250300" y="779850"/>
            <a:ext cx="2411000" cy="1511800"/>
          </a:xfrm>
          <a:prstGeom prst="flowChartDecision">
            <a:avLst/>
          </a:prstGeom>
          <a:noFill/>
          <a:ln cap="flat" cmpd="sng" w="38100">
            <a:solidFill>
              <a:srgbClr val="807F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AI &amp; Computer Vision 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2" name="Google Shape;242;p33"/>
          <p:cNvSpPr/>
          <p:nvPr/>
        </p:nvSpPr>
        <p:spPr>
          <a:xfrm>
            <a:off x="5926425" y="3630050"/>
            <a:ext cx="2411000" cy="1511800"/>
          </a:xfrm>
          <a:prstGeom prst="flowChartDecision">
            <a:avLst/>
          </a:prstGeom>
          <a:noFill/>
          <a:ln cap="flat" cmpd="sng" w="38100">
            <a:solidFill>
              <a:srgbClr val="807F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Game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Development 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-US">
                <a:solidFill>
                  <a:srgbClr val="8181EF"/>
                </a:solidFill>
                <a:latin typeface="Roboto"/>
                <a:ea typeface="Roboto"/>
                <a:cs typeface="Roboto"/>
                <a:sym typeface="Roboto"/>
              </a:rPr>
              <a:t>Interview questions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8" name="Google Shape;248;p34"/>
          <p:cNvSpPr txBox="1"/>
          <p:nvPr/>
        </p:nvSpPr>
        <p:spPr>
          <a:xfrm>
            <a:off x="1947150" y="3390375"/>
            <a:ext cx="5004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34"/>
          <p:cNvSpPr txBox="1"/>
          <p:nvPr/>
        </p:nvSpPr>
        <p:spPr>
          <a:xfrm>
            <a:off x="3728300" y="4146250"/>
            <a:ext cx="8080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34"/>
          <p:cNvSpPr txBox="1"/>
          <p:nvPr/>
        </p:nvSpPr>
        <p:spPr>
          <a:xfrm>
            <a:off x="384150" y="1161700"/>
            <a:ext cx="8375700" cy="20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Question:                                                                                                                </a:t>
            </a:r>
            <a:r>
              <a:rPr b="1" i="0" lang="en-US" sz="1400" u="none" cap="none" strike="noStrike">
                <a:solidFill>
                  <a:schemeClr val="dk1"/>
                </a:solidFill>
                <a:highlight>
                  <a:srgbClr val="A3EBA3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br>
              <a:rPr b="1" i="0" lang="en-US" sz="1400" u="none" cap="none" strike="noStrike">
                <a:solidFill>
                  <a:schemeClr val="dk1"/>
                </a:solidFill>
                <a:highlight>
                  <a:srgbClr val="A3EBA3"/>
                </a:highlight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If a matrix contains negative values, what is the correct initialization for finding the </a:t>
            </a:r>
            <a:r>
              <a:rPr b="1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maximum hourglass sum</a:t>
            </a:r>
            <a:r>
              <a:rPr b="0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?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A)</a:t>
            </a:r>
            <a:r>
              <a:rPr b="0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int max = 0;</a:t>
            </a:r>
            <a:br>
              <a:rPr b="0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B)</a:t>
            </a:r>
            <a:r>
              <a:rPr b="0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int max = -1;</a:t>
            </a:r>
            <a:br>
              <a:rPr b="0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C)</a:t>
            </a:r>
            <a:r>
              <a:rPr b="0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int max = Integer.MIN_VALUE;</a:t>
            </a:r>
            <a:br>
              <a:rPr b="0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D)</a:t>
            </a:r>
            <a:r>
              <a:rPr b="0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int max = 1;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34"/>
          <p:cNvSpPr txBox="1"/>
          <p:nvPr/>
        </p:nvSpPr>
        <p:spPr>
          <a:xfrm>
            <a:off x="371250" y="3246400"/>
            <a:ext cx="8401500" cy="11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Answer:</a:t>
            </a:r>
            <a:r>
              <a:rPr b="0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C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Explanation:</a:t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To correctly handle cases where the array contains negative values, max should be initialized with Integer.MIN_VALUE, ensuring that the maximum value is captured accurately. </a:t>
            </a:r>
            <a:endParaRPr i="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34"/>
          <p:cNvSpPr txBox="1"/>
          <p:nvPr/>
        </p:nvSpPr>
        <p:spPr>
          <a:xfrm>
            <a:off x="5665775" y="1017725"/>
            <a:ext cx="2571900" cy="399600"/>
          </a:xfrm>
          <a:prstGeom prst="rect">
            <a:avLst/>
          </a:prstGeom>
          <a:noFill/>
          <a:ln cap="flat" cmpd="sng" w="38100">
            <a:solidFill>
              <a:srgbClr val="807F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Asked in Zoho (2025) – MCQ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8181EF"/>
                </a:solidFill>
                <a:latin typeface="Roboto"/>
                <a:ea typeface="Roboto"/>
                <a:cs typeface="Roboto"/>
                <a:sym typeface="Roboto"/>
              </a:rPr>
              <a:t>Interview questions</a:t>
            </a:r>
            <a:endParaRPr b="1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258" name="Google Shape;258;p35"/>
          <p:cNvSpPr txBox="1"/>
          <p:nvPr>
            <p:ph idx="1" type="body"/>
          </p:nvPr>
        </p:nvSpPr>
        <p:spPr>
          <a:xfrm>
            <a:off x="311700" y="1152475"/>
            <a:ext cx="8520600" cy="28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-US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Question:                                                                                     </a:t>
            </a:r>
            <a:endParaRPr b="1" sz="1700">
              <a:solidFill>
                <a:schemeClr val="dk1"/>
              </a:solidFill>
              <a:highlight>
                <a:srgbClr val="A3EBA3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US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What will be the output of the following logic for a 3×3 matrix?</a:t>
            </a: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1 1 1</a:t>
            </a: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0 1 0</a:t>
            </a: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1 1 1</a:t>
            </a: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A)</a:t>
            </a:r>
            <a:r>
              <a:rPr lang="en-US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6</a:t>
            </a:r>
            <a:br>
              <a:rPr lang="en-US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lang="en-US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B)</a:t>
            </a:r>
            <a:r>
              <a:rPr lang="en-US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7</a:t>
            </a:r>
            <a:br>
              <a:rPr lang="en-US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lang="en-US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C)</a:t>
            </a:r>
            <a:r>
              <a:rPr lang="en-US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8</a:t>
            </a:r>
            <a:br>
              <a:rPr lang="en-US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lang="en-US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D)</a:t>
            </a:r>
            <a:r>
              <a:rPr lang="en-US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9</a:t>
            </a: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9" name="Google Shape;259;p35"/>
          <p:cNvSpPr txBox="1"/>
          <p:nvPr/>
        </p:nvSpPr>
        <p:spPr>
          <a:xfrm>
            <a:off x="311700" y="3998575"/>
            <a:ext cx="8520600" cy="4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Answer:</a:t>
            </a:r>
            <a:r>
              <a:rPr b="0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B) 7  </a:t>
            </a:r>
            <a:r>
              <a:rPr b="0" i="0" lang="en-US" sz="1400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0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                                                       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Explanation: </a:t>
            </a:r>
            <a:r>
              <a:rPr b="0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Hourglass sum = 1+1+1 + 1 + 1+1+1 = </a:t>
            </a:r>
            <a:r>
              <a:rPr b="1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7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35"/>
          <p:cNvSpPr txBox="1"/>
          <p:nvPr/>
        </p:nvSpPr>
        <p:spPr>
          <a:xfrm>
            <a:off x="5813475" y="1105350"/>
            <a:ext cx="2493600" cy="425700"/>
          </a:xfrm>
          <a:prstGeom prst="rect">
            <a:avLst/>
          </a:prstGeom>
          <a:noFill/>
          <a:ln cap="flat" cmpd="sng" w="38100">
            <a:solidFill>
              <a:srgbClr val="807F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Asked in TCS (2024) – MCQ</a:t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8181EF"/>
                </a:solidFill>
                <a:latin typeface="Roboto"/>
                <a:ea typeface="Roboto"/>
                <a:cs typeface="Roboto"/>
                <a:sym typeface="Roboto"/>
              </a:rPr>
              <a:t>Interview questions</a:t>
            </a:r>
            <a:endParaRPr b="1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266" name="Google Shape;266;p36"/>
          <p:cNvSpPr txBox="1"/>
          <p:nvPr/>
        </p:nvSpPr>
        <p:spPr>
          <a:xfrm>
            <a:off x="275100" y="1138200"/>
            <a:ext cx="8593800" cy="26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Question:                                                                            </a:t>
            </a:r>
            <a:endParaRPr b="1" i="0" sz="1700" u="none" cap="none" strike="noStrike">
              <a:solidFill>
                <a:schemeClr val="dk1"/>
              </a:solidFill>
              <a:highlight>
                <a:srgbClr val="A3EBA3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Which of the following modifications is required to convert a </a:t>
            </a:r>
            <a:r>
              <a:rPr b="1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maximum hourglass sum</a:t>
            </a:r>
            <a:r>
              <a:rPr b="0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solution into a </a:t>
            </a:r>
            <a:r>
              <a:rPr b="1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minimum hourglass sum</a:t>
            </a:r>
            <a:r>
              <a:rPr b="0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solution?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A)</a:t>
            </a:r>
            <a:r>
              <a:rPr b="0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Change loop conditions</a:t>
            </a:r>
            <a:br>
              <a:rPr b="0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B)</a:t>
            </a:r>
            <a:r>
              <a:rPr b="0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Replace Math.max() with Math.min() and use Integer.MAX_VALUE</a:t>
            </a:r>
            <a:br>
              <a:rPr b="0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C)</a:t>
            </a:r>
            <a:r>
              <a:rPr b="0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Reverse the matrix</a:t>
            </a:r>
            <a:br>
              <a:rPr b="0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D)</a:t>
            </a:r>
            <a:r>
              <a:rPr b="0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Sort the matrix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7" name="Google Shape;267;p36"/>
          <p:cNvSpPr txBox="1"/>
          <p:nvPr/>
        </p:nvSpPr>
        <p:spPr>
          <a:xfrm>
            <a:off x="348300" y="3607575"/>
            <a:ext cx="8520600" cy="8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Answer:</a:t>
            </a:r>
            <a:r>
              <a:rPr b="0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B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Explanation:</a:t>
            </a:r>
            <a:br>
              <a:rPr b="1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Only the comparison logic changes, traversal remains same.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36"/>
          <p:cNvSpPr txBox="1"/>
          <p:nvPr/>
        </p:nvSpPr>
        <p:spPr>
          <a:xfrm>
            <a:off x="5448550" y="1183525"/>
            <a:ext cx="2919300" cy="399600"/>
          </a:xfrm>
          <a:prstGeom prst="rect">
            <a:avLst/>
          </a:prstGeom>
          <a:noFill/>
          <a:ln cap="flat" cmpd="sng" w="38100">
            <a:solidFill>
              <a:srgbClr val="807F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b="1" lang="en-US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Asked in Accenture (2023) – MCQ</a:t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8181EF"/>
                </a:solidFill>
                <a:latin typeface="Roboto"/>
                <a:ea typeface="Roboto"/>
                <a:cs typeface="Roboto"/>
                <a:sym typeface="Roboto"/>
              </a:rPr>
              <a:t>Example Problem Statement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274" name="Google Shape;274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 climate research team is analyzing temperature data collected from different regions. The data is stored in a 2D matrix, where each element represents the temperature at a specific location.</a:t>
            </a: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To detect unusual cold patterns, the team focuses on a special formation called an </a:t>
            </a:r>
            <a:r>
              <a:rPr b="1" lang="en-US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hourglass</a:t>
            </a:r>
            <a:r>
              <a:rPr lang="en-US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which consists of 7 elements arranged as:</a:t>
            </a: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 b c</a:t>
            </a: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d</a:t>
            </a: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 f g</a:t>
            </a: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Each hourglass represents a cluster of nearby regions. The total temperature of a cluster is calculated by summing all 7 elements of the hourglass.</a:t>
            </a: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US"/>
              <a:t>                                                            </a:t>
            </a:r>
            <a:endParaRPr sz="1400" u="sng">
              <a:solidFill>
                <a:schemeClr val="dk1"/>
              </a:solidFill>
              <a:highlight>
                <a:srgbClr val="A3EBA3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>
                <a:solidFill>
                  <a:srgbClr val="8181EF"/>
                </a:solidFill>
              </a:rPr>
              <a:t> </a:t>
            </a:r>
            <a:r>
              <a:rPr lang="en-US"/>
              <a:t>                                                                 </a:t>
            </a:r>
            <a:endParaRPr/>
          </a:p>
        </p:txBody>
      </p:sp>
      <p:sp>
        <p:nvSpPr>
          <p:cNvPr id="275" name="Google Shape;275;p37"/>
          <p:cNvSpPr txBox="1"/>
          <p:nvPr/>
        </p:nvSpPr>
        <p:spPr>
          <a:xfrm>
            <a:off x="3849900" y="4241825"/>
            <a:ext cx="4795800" cy="434400"/>
          </a:xfrm>
          <a:prstGeom prst="rect">
            <a:avLst/>
          </a:prstGeom>
          <a:noFill/>
          <a:ln cap="flat" cmpd="sng" w="38100">
            <a:solidFill>
              <a:srgbClr val="807F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Asked in </a:t>
            </a:r>
            <a:r>
              <a:rPr b="1" lang="en-US" u="sng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Nutanix Maximum Sum of an Hourglass</a:t>
            </a:r>
            <a:r>
              <a:rPr b="1" lang="en-US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- 2025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8"/>
          <p:cNvSpPr txBox="1"/>
          <p:nvPr>
            <p:ph idx="1" type="body"/>
          </p:nvPr>
        </p:nvSpPr>
        <p:spPr>
          <a:xfrm>
            <a:off x="120550" y="51822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Your Task:</a:t>
            </a:r>
            <a:endParaRPr b="1"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Write a program to:</a:t>
            </a: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-US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Identify all possible hourglass patterns in the matrix</a:t>
            </a: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-US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Calculate the sum of each hourglass</a:t>
            </a: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Determine and print the </a:t>
            </a:r>
            <a:r>
              <a:rPr b="1" lang="en-US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minimum hourglass sum</a:t>
            </a:r>
            <a:endParaRPr b="1"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Input Format:</a:t>
            </a:r>
            <a:endParaRPr b="1"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-US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first line contains two integers </a:t>
            </a:r>
            <a:r>
              <a:rPr b="1" lang="en-US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</a:t>
            </a:r>
            <a:r>
              <a:rPr lang="en-US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and </a:t>
            </a:r>
            <a:r>
              <a:rPr b="1" lang="en-US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</a:t>
            </a:r>
            <a:r>
              <a:rPr lang="en-US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(rows and columns)</a:t>
            </a: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next </a:t>
            </a:r>
            <a:r>
              <a:rPr b="1" lang="en-US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 lines</a:t>
            </a:r>
            <a:r>
              <a:rPr lang="en-US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contain </a:t>
            </a:r>
            <a:r>
              <a:rPr b="1" lang="en-US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 integers</a:t>
            </a:r>
            <a:r>
              <a:rPr lang="en-US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each</a:t>
            </a: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Output Format:</a:t>
            </a:r>
            <a:endParaRPr b="1"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-US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Print a single integer representing the </a:t>
            </a:r>
            <a:r>
              <a:rPr b="1" lang="en-US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minimum hourglass sum</a:t>
            </a:r>
            <a:endParaRPr b="1"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9"/>
          <p:cNvSpPr txBox="1"/>
          <p:nvPr>
            <p:ph idx="1" type="body"/>
          </p:nvPr>
        </p:nvSpPr>
        <p:spPr>
          <a:xfrm>
            <a:off x="259575" y="51822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Constraints:</a:t>
            </a:r>
            <a:endParaRPr b="1"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-US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 ≤ N, M ≤ 100</a:t>
            </a: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-US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-100 ≤ matrix values ≤ 100</a:t>
            </a: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Note:</a:t>
            </a:r>
            <a:endParaRPr b="1"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 hourglass can only be formed if the matrix has at least 3 rows and 3 columns.</a:t>
            </a: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Solution:</a:t>
            </a: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 u="sng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 u="sng">
              <a:solidFill>
                <a:schemeClr val="hlink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6" name="Google Shape;286;p39"/>
          <p:cNvSpPr txBox="1"/>
          <p:nvPr/>
        </p:nvSpPr>
        <p:spPr>
          <a:xfrm>
            <a:off x="433350" y="3216650"/>
            <a:ext cx="3012900" cy="390900"/>
          </a:xfrm>
          <a:prstGeom prst="rect">
            <a:avLst/>
          </a:prstGeom>
          <a:noFill/>
          <a:ln cap="flat" cmpd="sng" w="38100">
            <a:solidFill>
              <a:srgbClr val="807F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-US" u="sng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LeetCode Hourglass Solution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mc:AlternateContent>
    <mc:Choice Requires="p14">
      <p:transition spd="slow" p14:dur="2200">
        <p14:prism dir="l"/>
      </p:transition>
    </mc:Choice>
    <mc:Fallback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0"/>
          <p:cNvSpPr txBox="1"/>
          <p:nvPr/>
        </p:nvSpPr>
        <p:spPr>
          <a:xfrm>
            <a:off x="46650" y="1223425"/>
            <a:ext cx="7186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Any concerns related to attendance/marks/ faculty ; you can reach out to ETHNUS helpdesk through the displayed QR code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2" name="Google Shape;292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21225" y="1795900"/>
            <a:ext cx="2885274" cy="2614550"/>
          </a:xfrm>
          <a:prstGeom prst="rect">
            <a:avLst/>
          </a:prstGeom>
          <a:noFill/>
          <a:ln cap="flat" cmpd="sng" w="9525">
            <a:solidFill>
              <a:srgbClr val="807FEC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93" name="Google Shape;293;p40"/>
          <p:cNvSpPr txBox="1"/>
          <p:nvPr/>
        </p:nvSpPr>
        <p:spPr>
          <a:xfrm>
            <a:off x="46650" y="558052"/>
            <a:ext cx="4572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3200" u="none" cap="none" strike="noStrike">
                <a:solidFill>
                  <a:srgbClr val="807FEC"/>
                </a:solidFill>
                <a:latin typeface="Oxygen"/>
                <a:ea typeface="Oxygen"/>
                <a:cs typeface="Oxygen"/>
                <a:sym typeface="Oxygen"/>
              </a:rPr>
              <a:t>Help Desk</a:t>
            </a:r>
            <a:endParaRPr b="1" i="0" sz="3200" u="none" cap="none" strike="noStrike">
              <a:solidFill>
                <a:srgbClr val="807FEC"/>
              </a:solidFill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94" name="Google Shape;294;p40"/>
          <p:cNvSpPr txBox="1"/>
          <p:nvPr/>
        </p:nvSpPr>
        <p:spPr>
          <a:xfrm>
            <a:off x="46661" y="2970814"/>
            <a:ext cx="51363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https://codemithra.com/vit-helpdesk/</a:t>
            </a:r>
            <a:endParaRPr b="0" i="0" sz="2400" u="sng" cap="none" strike="noStrike">
              <a:solidFill>
                <a:schemeClr val="hlink"/>
              </a:solidFill>
              <a:latin typeface="Proxima Nova"/>
              <a:ea typeface="Proxima Nova"/>
              <a:cs typeface="Proxima Nova"/>
              <a:sym typeface="Proxima Nova"/>
              <a:hlinkClick r:id="rId5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5" name="Google Shape;295;p4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564894" y="494321"/>
            <a:ext cx="712464" cy="7124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t/>
            </a:r>
            <a:endParaRPr/>
          </a:p>
        </p:txBody>
      </p:sp>
      <p:sp>
        <p:nvSpPr>
          <p:cNvPr id="301" name="Google Shape;301;p4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302" name="Google Shape;302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1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41"/>
          <p:cNvSpPr txBox="1"/>
          <p:nvPr/>
        </p:nvSpPr>
        <p:spPr>
          <a:xfrm>
            <a:off x="3141000" y="2194650"/>
            <a:ext cx="2862000" cy="75402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b="0" i="0" lang="en-US" sz="37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THANK YOU</a:t>
            </a:r>
            <a:endParaRPr b="0" i="0" sz="37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04" name="Google Shape;304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52016" y="4591075"/>
            <a:ext cx="338156" cy="33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4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72650" y="4591075"/>
            <a:ext cx="338156" cy="3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41"/>
          <p:cNvSpPr txBox="1"/>
          <p:nvPr/>
        </p:nvSpPr>
        <p:spPr>
          <a:xfrm>
            <a:off x="1980750" y="4590801"/>
            <a:ext cx="1187100" cy="3385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+91 78150 95095</a:t>
            </a:r>
            <a:endParaRPr b="0" i="0" sz="1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07" name="Google Shape;307;p41"/>
          <p:cNvCxnSpPr/>
          <p:nvPr/>
        </p:nvCxnSpPr>
        <p:spPr>
          <a:xfrm rot="10800000">
            <a:off x="3220250" y="4619675"/>
            <a:ext cx="0" cy="300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8" name="Google Shape;308;p41"/>
          <p:cNvSpPr txBox="1"/>
          <p:nvPr/>
        </p:nvSpPr>
        <p:spPr>
          <a:xfrm>
            <a:off x="3519050" y="4590801"/>
            <a:ext cx="1934700" cy="3385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codemithra@ethnus.com</a:t>
            </a:r>
            <a:endParaRPr b="0" i="0" sz="1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09" name="Google Shape;309;p4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23771" y="4591063"/>
            <a:ext cx="338156" cy="3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41"/>
          <p:cNvSpPr txBox="1"/>
          <p:nvPr/>
        </p:nvSpPr>
        <p:spPr>
          <a:xfrm>
            <a:off x="5457275" y="4590801"/>
            <a:ext cx="1934700" cy="3385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www.codemithra.com</a:t>
            </a:r>
            <a:endParaRPr b="0" i="0" sz="1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11" name="Google Shape;311;p41"/>
          <p:cNvCxnSpPr/>
          <p:nvPr/>
        </p:nvCxnSpPr>
        <p:spPr>
          <a:xfrm rot="10800000">
            <a:off x="5166625" y="4610150"/>
            <a:ext cx="0" cy="300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