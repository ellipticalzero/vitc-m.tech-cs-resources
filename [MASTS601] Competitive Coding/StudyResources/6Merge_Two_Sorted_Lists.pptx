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Roboto Black"/>
      <p:bold r:id="rId39"/>
      <p:boldItalic r:id="rId40"/>
    </p:embeddedFont>
    <p:embeddedFont>
      <p:font typeface="Roboto"/>
      <p:regular r:id="rId41"/>
      <p:bold r:id="rId42"/>
      <p:italic r:id="rId43"/>
      <p:boldItalic r:id="rId44"/>
    </p:embeddedFont>
    <p:embeddedFont>
      <p:font typeface="Oxygen"/>
      <p:regular r:id="rId45"/>
      <p:bold r:id="rId46"/>
    </p:embeddedFont>
    <p:embeddedFont>
      <p:font typeface="Proxima Nova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2052EE-9782-4227-BC2C-CD82E1386F0D}">
  <a:tblStyle styleId="{4C2052EE-9782-4227-BC2C-CD82E1386F0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Black-boldItalic.fntdata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44" Type="http://schemas.openxmlformats.org/officeDocument/2006/relationships/font" Target="fonts/Roboto-boldItalic.fntdata"/><Relationship Id="rId43" Type="http://schemas.openxmlformats.org/officeDocument/2006/relationships/font" Target="fonts/Roboto-italic.fntdata"/><Relationship Id="rId46" Type="http://schemas.openxmlformats.org/officeDocument/2006/relationships/font" Target="fonts/Oxygen-bold.fntdata"/><Relationship Id="rId45" Type="http://schemas.openxmlformats.org/officeDocument/2006/relationships/font" Target="fonts/Oxyge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roximaNova-bold.fntdata"/><Relationship Id="rId47" Type="http://schemas.openxmlformats.org/officeDocument/2006/relationships/font" Target="fonts/ProximaNova-regular.fntdata"/><Relationship Id="rId49" Type="http://schemas.openxmlformats.org/officeDocument/2006/relationships/font" Target="fonts/ProximaNova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RobotoBlack-bold.fntdata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ProximaNova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fd1a916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efd1a916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f1c469f8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f1c469f8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Function mergeSortedLists(list1, list2):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Create a dummy node to act as the start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Set current = dummy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While list1 != null and list2 != null: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list1.data &lt;= list2.data: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current.next = list1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list1 = list1.next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Else: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current.next = list2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list2 = list2.next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current = current.next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list1 is not null: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current.next = list1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Else: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current.next = list2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Return dummy.next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java.util.Scanner;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 Node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int data;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 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Node(int data)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this.data = data;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this.next = null;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class MergeSortedLists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Insert node at end of list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insert(Node head, int data)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newNode = new Node(data);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null) return newNode;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(temp.next != null)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temp.next = newNode;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Print the linked list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void printList(Node head)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 != null)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System.out.print(temp.data + "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Merge two sorted linked lists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merge(Node l1, Node l2)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dummy = new Node(0);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current = dummy;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(l1 != null &amp;&amp; l2 != null)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if (l1.data &lt;= l2.data)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current.next = l1;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l1 = l1.next;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} else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current.next = l2;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l2 = l2.next;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current = current.next;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(l1 != null) current.next = l1;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else current.next = l2;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dummy.next;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public static void main(String[] args)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Scanner sc = new Scanner(System.in);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head1 = null, head2 = null;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Input for List 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number of elements in List 1: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n1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System.out.println("Enter sorted elements for List 1:");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0; i &lt; n1; i++)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int val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head1 = insert(head1, val);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Input for List 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number of elements in List 2: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n2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System.out.println("Enter sorted elements for List 2:");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0; i &lt; n2; i++)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int val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head2 = insert(head2, val);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System.out.print("List 1: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printList(head1);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System.out.print("List 2: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printList(head2);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mergedHead = merge(head1, head2);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System.out.print("Merged List: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printList(mergedHead);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sc.close();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b2595c18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b2595c18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f1c469f8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f1c469f8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f1c469f8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f1c469f8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f1c469f8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f1c469f8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f1c469f8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f1c469f8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f1c469f8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df1c469f8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f1c469f8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f1c469f8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f1c469f8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f1c469f8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f1c469f8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df1c469f8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f1c469f8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df1c469f8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f1c469f8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df1c469f8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fd1a91600_0_97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g3efd1a91600_0_97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1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">
  <p:cSld name="10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902326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894683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902326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887040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879397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871754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oboto"/>
              <a:buNone/>
              <a:defRPr b="0" i="0" sz="3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5414"/>
            <a:ext cx="9144003" cy="51380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orms.gle/BCWt8EskMsBNojKA6" TargetMode="External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amazon.jobs?utm_source=chatgpt.com" TargetMode="External"/><Relationship Id="rId4" Type="http://schemas.openxmlformats.org/officeDocument/2006/relationships/hyperlink" Target="https://www.amazon.jobs?utm_source=chatgpt.com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areers.google.com?utm_source=chatgpt.com" TargetMode="External"/><Relationship Id="rId4" Type="http://schemas.openxmlformats.org/officeDocument/2006/relationships/hyperlink" Target="https://careers.google.com?utm_source=chatgpt.com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areers.microsoft.com?utm_source=chatgpt.com" TargetMode="External"/><Relationship Id="rId4" Type="http://schemas.openxmlformats.org/officeDocument/2006/relationships/hyperlink" Target="https://careers.microsoft.com?utm_source=chatgpt.com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metacareers.com?utm_source=chatgpt.com" TargetMode="External"/><Relationship Id="rId4" Type="http://schemas.openxmlformats.org/officeDocument/2006/relationships/hyperlink" Target="https://www.metacareers.com?utm_source=chatgpt.com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careers.adobe.com?utm_source=chatgpt.com" TargetMode="External"/><Relationship Id="rId4" Type="http://schemas.openxmlformats.org/officeDocument/2006/relationships/hyperlink" Target="https://careers.adobe.com?utm_source=chatgpt.com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ithub.com/doocs/leetcode/blob/main/solution/0000-0099/0021.Merge%20Two%20Sorted%20Lists/README_EN.md?utm_source=chatgpt.com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hyperlink" Target="https://codemithra.com/vit-helpdesk/" TargetMode="External"/><Relationship Id="rId5" Type="http://schemas.openxmlformats.org/officeDocument/2006/relationships/hyperlink" Target="https://learn.codemithra.com/" TargetMode="External"/><Relationship Id="rId6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hyperlink" Target="https://learn.codemithra.com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jp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0" y="524088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0" y="3386138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590550" y="491300"/>
            <a:ext cx="7219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000">
                <a:solidFill>
                  <a:srgbClr val="8181EF"/>
                </a:solidFill>
              </a:rPr>
              <a:t>		         Test Time On </a:t>
            </a:r>
            <a:r>
              <a:rPr b="1" lang="en" sz="2000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Reverse Linked List </a:t>
            </a:r>
            <a:r>
              <a:rPr b="1" lang="en" sz="2000">
                <a:solidFill>
                  <a:srgbClr val="8181E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2000">
              <a:solidFill>
                <a:srgbClr val="8181EF"/>
              </a:solidFill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1936250" y="4239350"/>
            <a:ext cx="53973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lang="en" sz="2100">
                <a:solidFill>
                  <a:srgbClr val="807FEC"/>
                </a:solidFill>
                <a:latin typeface="Roboto"/>
                <a:ea typeface="Roboto"/>
                <a:cs typeface="Roboto"/>
                <a:sym typeface="Roboto"/>
              </a:rPr>
              <a:t> : </a:t>
            </a:r>
            <a:r>
              <a:rPr lang="en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https://forms.gle/BCWt8EskMsBNojKA6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17" title="qr-cod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9630" y="1048400"/>
            <a:ext cx="3038550" cy="30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-95575" y="2344875"/>
            <a:ext cx="5457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Merge Two Sorted Lists</a:t>
            </a:r>
            <a:endParaRPr b="1" i="0" sz="3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/>
        </p:nvSpPr>
        <p:spPr>
          <a:xfrm>
            <a:off x="152400" y="4572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8181EF"/>
                </a:solidFill>
                <a:latin typeface="Roboto Black"/>
                <a:ea typeface="Roboto Black"/>
                <a:cs typeface="Roboto Black"/>
                <a:sym typeface="Roboto Black"/>
              </a:rPr>
              <a:t>TOPICS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687375" y="923075"/>
            <a:ext cx="3249300" cy="3814200"/>
          </a:xfrm>
          <a:prstGeom prst="bevel">
            <a:avLst>
              <a:gd fmla="val 12500" name="adj"/>
            </a:avLst>
          </a:prstGeom>
          <a:solidFill>
            <a:srgbClr val="8181EF">
              <a:alpha val="31010"/>
            </a:srgbClr>
          </a:solidFill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Introduction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⮚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Algorithm Pseudocode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⮚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and space complexity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⮚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Advantages and disadvantages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>
            <p:ph type="ctrTitle"/>
          </p:nvPr>
        </p:nvSpPr>
        <p:spPr>
          <a:xfrm>
            <a:off x="328851" y="287125"/>
            <a:ext cx="72843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5200"/>
              <a:buNone/>
            </a:pPr>
            <a:r>
              <a:rPr b="1" lang="en" sz="1700">
                <a:solidFill>
                  <a:srgbClr val="8181EF"/>
                </a:solidFill>
              </a:rPr>
              <a:t>Merge Two Sorted Lists </a:t>
            </a:r>
            <a:endParaRPr b="1" sz="29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680"/>
              <a:buFont typeface="Arial"/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328850" y="851650"/>
            <a:ext cx="7140600" cy="4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7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Definition: Sorting of Two Lists</a:t>
            </a:r>
            <a:endParaRPr b="1" i="0" sz="17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"Sorting of two lists" refers to the process of arranging the elements of each list in a           specific order,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usually ascending or descending, either individually or as part of a combined operation such as merging.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Lists Are Already Sorted: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</a:t>
            </a:r>
            <a:r>
              <a:rPr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directly merge them using an efficient algorithm like two-pointer technique.</a:t>
            </a:r>
            <a:endParaRPr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Lists Are Unsorted: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need to </a:t>
            </a: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sort each list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first using algorithms like: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Merge Sort (best for linked lists)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Quick Sort (for arrays or arraylists)</a:t>
            </a:r>
            <a:b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 proceed with merging if needed.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0325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/>
          <p:nvPr>
            <p:ph type="ctrTitle"/>
          </p:nvPr>
        </p:nvSpPr>
        <p:spPr>
          <a:xfrm>
            <a:off x="117976" y="400075"/>
            <a:ext cx="72843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5200"/>
              <a:buNone/>
            </a:pPr>
            <a:r>
              <a:rPr b="1" lang="en" sz="1700">
                <a:solidFill>
                  <a:srgbClr val="8181EF"/>
                </a:solidFill>
              </a:rPr>
              <a:t>Merge Two Sorted Lists </a:t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680"/>
              <a:buFont typeface="Arial"/>
              <a:buNone/>
            </a:pPr>
            <a:r>
              <a:rPr b="1" lang="en" sz="1700">
                <a:solidFill>
                  <a:srgbClr val="8181EF"/>
                </a:solidFill>
              </a:rPr>
              <a:t> </a:t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189825" y="940525"/>
            <a:ext cx="7140600" cy="7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Merging two sorted linked lists means combining them into a single sorted linked list. The input lists must already be sorted in ascending order.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1813500" y="1591875"/>
            <a:ext cx="5517000" cy="30582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8181EF">
              <a:alpha val="31010"/>
            </a:srgbClr>
          </a:solidFill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is it useful?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Common subroutine in merge sort.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Frequently asked in coding interviews.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Helps practice linked list traversal and pointer manipulation.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" name="Google Shape;146;p21"/>
          <p:cNvCxnSpPr/>
          <p:nvPr/>
        </p:nvCxnSpPr>
        <p:spPr>
          <a:xfrm>
            <a:off x="2703050" y="2571750"/>
            <a:ext cx="365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1"/>
          <p:cNvCxnSpPr/>
          <p:nvPr/>
        </p:nvCxnSpPr>
        <p:spPr>
          <a:xfrm flipH="1" rot="10800000">
            <a:off x="2703050" y="3485850"/>
            <a:ext cx="338700" cy="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21"/>
          <p:cNvCxnSpPr/>
          <p:nvPr/>
        </p:nvCxnSpPr>
        <p:spPr>
          <a:xfrm>
            <a:off x="2703050" y="2887175"/>
            <a:ext cx="338700" cy="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/>
        </p:nvSpPr>
        <p:spPr>
          <a:xfrm>
            <a:off x="204550" y="517300"/>
            <a:ext cx="42795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Algorithm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 for Merge Two Sorted Lists</a:t>
            </a:r>
            <a:endParaRPr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869825" y="721075"/>
            <a:ext cx="6681300" cy="4163700"/>
          </a:xfrm>
          <a:prstGeom prst="diamond">
            <a:avLst/>
          </a:prstGeom>
          <a:solidFill>
            <a:srgbClr val="8181EF">
              <a:alpha val="31010"/>
            </a:srgbClr>
          </a:solidFill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two pointers, each for one list.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Compare current nodes: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Append the smaller node to the result list.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that list’s pointer forward.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If one list ends, append the      remaining part of the other list.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/>
        </p:nvSpPr>
        <p:spPr>
          <a:xfrm>
            <a:off x="152400" y="456500"/>
            <a:ext cx="5583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Pseudo code for 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Merge Two Sorted Lists</a:t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1903700" y="967325"/>
            <a:ext cx="4787400" cy="4005300"/>
          </a:xfrm>
          <a:prstGeom prst="rect">
            <a:avLst/>
          </a:prstGeom>
          <a:solidFill>
            <a:srgbClr val="8181EF">
              <a:alpha val="31010"/>
            </a:srgbClr>
          </a:solidFill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Function mergeSortedLists(list1, list2):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Create a dummy node to act as the start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Set current = dummy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While list1 != null and list2 != null: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If list1.data &lt;= list2.data: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current.next = list1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list1 = list1.next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Else: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current.next = list2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list2 = list2.next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current = current.next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If list1 is not null: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current.next = list1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Else: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current.next = list2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Return dummy.next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/>
        </p:nvSpPr>
        <p:spPr>
          <a:xfrm>
            <a:off x="246675" y="426900"/>
            <a:ext cx="65313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Input and Output format for 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Merge Two Sorted Lists</a:t>
            </a:r>
            <a:endParaRPr b="1" i="0" sz="17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6" name="Google Shape;166;p24"/>
          <p:cNvGraphicFramePr/>
          <p:nvPr/>
        </p:nvGraphicFramePr>
        <p:xfrm>
          <a:off x="446000" y="139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{4C2052EE-9782-4227-BC2C-CD82E1386F0D}</a:tableStyleId>
              </a:tblPr>
              <a:tblGrid>
                <a:gridCol w="3009900"/>
              </a:tblGrid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List1: 1 → 3 → 5  </a:t>
                      </a:r>
                      <a:endParaRPr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List2: 2 → 4 → 6</a:t>
                      </a:r>
                      <a:endParaRPr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181EF">
                        <a:alpha val="3101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24"/>
          <p:cNvSpPr txBox="1"/>
          <p:nvPr/>
        </p:nvSpPr>
        <p:spPr>
          <a:xfrm>
            <a:off x="381000" y="685800"/>
            <a:ext cx="3000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Input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8" name="Google Shape;168;p24"/>
          <p:cNvGraphicFramePr/>
          <p:nvPr/>
        </p:nvGraphicFramePr>
        <p:xfrm>
          <a:off x="446000" y="313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{4C2052EE-9782-4227-BC2C-CD82E1386F0D}</a:tableStyleId>
              </a:tblPr>
              <a:tblGrid>
                <a:gridCol w="3162300"/>
              </a:tblGrid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Merged List: 1 → 2 → 3 → 4 → 5 → 6</a:t>
                      </a:r>
                      <a:endParaRPr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lnL cap="flat" cmpd="sng" w="762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" name="Google Shape;169;p24"/>
          <p:cNvSpPr txBox="1"/>
          <p:nvPr/>
        </p:nvSpPr>
        <p:spPr>
          <a:xfrm>
            <a:off x="374750" y="2528700"/>
            <a:ext cx="3000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/>
        </p:nvSpPr>
        <p:spPr>
          <a:xfrm>
            <a:off x="533400" y="444500"/>
            <a:ext cx="4479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381000" y="381000"/>
            <a:ext cx="5069700" cy="47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7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Example 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for 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Merge Two Sorted Lists</a:t>
            </a:r>
            <a:endParaRPr b="1" i="0" sz="17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 Lists: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 1: 1 → 3 → 5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 2: 2 → 4 → 6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Step-by-Step Merging Process: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 comparing the first nodes of both lists: 1 (List1) and 2 (List2).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Since 1 &lt; 2, add 1 to the merged list. Move the pointer of List1 to 3.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Compare 3 (List1) and 2 (List2).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Since 2 &lt; 3, add 2 to the merged list. Move the pointer of List2 to 4.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Compare 3 (List1) and 4 (List2).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Since 3 &lt; 4, add 3 to the merged list. Move List1 to 5.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Compare 5 (List1) and 4 (List2).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5803050" y="1761675"/>
            <a:ext cx="3000000" cy="26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8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Since 4 &lt; 5, add 4 to the merged list. Move List2 to 6.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8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Compare 5 (List1) and 6 (List2).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8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Since 5 &lt; 6, add 5 to the merged list. Move List1 to null.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8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Now List1 is exhausted (null), so append the remaining nodes of List2 to the merged list — which is just 6.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5803050" y="4069400"/>
            <a:ext cx="3000000" cy="542700"/>
          </a:xfrm>
          <a:prstGeom prst="rect">
            <a:avLst/>
          </a:prstGeom>
          <a:noFill/>
          <a:ln cap="flat" cmpd="sng" w="762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Final Merged List: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→ 2 → 3 → 4 → 5 → 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/>
        </p:nvSpPr>
        <p:spPr>
          <a:xfrm>
            <a:off x="483825" y="653025"/>
            <a:ext cx="5061300" cy="42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java.util.Scanner;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 Node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 data;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next;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Node(int data)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this.data = data;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this.next = null;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class MergeSortedLists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// Insert node at end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static Node insert(Node head, int data)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newNode = new Node(data);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(head == null)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return newNode;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temp = head;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4136625" y="446400"/>
            <a:ext cx="40227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while (temp.next != null)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 = temp.next;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temp.next = newNode;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return head;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// Print linked list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static void printList(Node head)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temp = head;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while (temp != null)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System.out.print(temp.data + " ");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 = temp.next;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System.out.println();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// Merge two sorted linked lists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static Node merge(Node l1, Node l2)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dummy = new Node(0);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current = dummy;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0" y="330150"/>
            <a:ext cx="7768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Program for 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Merge Two Sorted Lists </a:t>
            </a:r>
            <a:endParaRPr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/>
        </p:nvSpPr>
        <p:spPr>
          <a:xfrm>
            <a:off x="381000" y="444500"/>
            <a:ext cx="44712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while (l1 != null &amp;&amp; l2 != null)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(l1.data &lt;= l2.data)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current.next = l1;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l1 = l1.next;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 else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current.next = l2;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l2 = l2.next;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current = current.next;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// Attach remaining nodes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(l1 != null)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current.next = l1;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 else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current.next = l2;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return dummy.next;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3940750" y="433500"/>
            <a:ext cx="53505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static void main(String[] args)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Scanner sc = new Scanner(System.in);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head1 = null;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head2 = null;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// Input for List 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System.out.print("Enter number of elements in List 1: ");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 n1 = sc.nextInt();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System.out.println("Enter sorted elements for List 1:");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(int i = 0; i &lt; n1; i++)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 val = sc.nextInt();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head1 = insert(head1, val);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 Input for List 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System.out.print("Enter number of elements in List 2: ");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 n2 = sc.nextInt();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System.out.println("Enter sorted elements for List 2:");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(int i = 0; i &lt; n2; i++) {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 val = sc.nextInt();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head2 = insert(head2, val);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/>
        </p:nvSpPr>
        <p:spPr>
          <a:xfrm>
            <a:off x="434400" y="660300"/>
            <a:ext cx="3867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// Print lists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System.out.print("List 1: ");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printList(head1);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System.out.print("List 2: ");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printList(head2);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// Merge lists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mergedHead = merge(head1, head2);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// Print merged list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System.out.print("Merged List: ");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printList(mergedHead);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sc.close();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/>
        </p:nvSpPr>
        <p:spPr>
          <a:xfrm>
            <a:off x="228600" y="521300"/>
            <a:ext cx="81180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Sample Input and Output for 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Merge Two Sorted Lists</a:t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01" name="Google Shape;201;p29"/>
          <p:cNvGraphicFramePr/>
          <p:nvPr/>
        </p:nvGraphicFramePr>
        <p:xfrm>
          <a:off x="304800" y="138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{4C2052EE-9782-4227-BC2C-CD82E1386F0D}</a:tableStyleId>
              </a:tblPr>
              <a:tblGrid>
                <a:gridCol w="5731200"/>
              </a:tblGrid>
              <a:tr h="137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Enter number of elements in List 1: 3</a:t>
                      </a:r>
                      <a:endParaRPr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Enter sorted elements for List 1:</a:t>
                      </a:r>
                      <a:endParaRPr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1 3 5</a:t>
                      </a:r>
                      <a:endParaRPr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Enter number of elements in List 2: 3</a:t>
                      </a:r>
                      <a:endParaRPr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Enter sorted elements for List 2:</a:t>
                      </a:r>
                      <a:endParaRPr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2 4 6</a:t>
                      </a:r>
                      <a:endParaRPr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181EF">
                        <a:alpha val="3101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202;p29"/>
          <p:cNvSpPr txBox="1"/>
          <p:nvPr/>
        </p:nvSpPr>
        <p:spPr>
          <a:xfrm>
            <a:off x="304800" y="990425"/>
            <a:ext cx="3000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Sample Input: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03" name="Google Shape;203;p29"/>
          <p:cNvGraphicFramePr/>
          <p:nvPr/>
        </p:nvGraphicFramePr>
        <p:xfrm>
          <a:off x="375275" y="363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{4C2052EE-9782-4227-BC2C-CD82E1386F0D}</a:tableStyleId>
              </a:tblPr>
              <a:tblGrid>
                <a:gridCol w="5660725"/>
              </a:tblGrid>
              <a:tr h="86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List 1: 1 3 5 </a:t>
                      </a:r>
                      <a:endParaRPr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List 2: 2 4 6 </a:t>
                      </a:r>
                      <a:endParaRPr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Merged List: 1 2 3 4 5 6</a:t>
                      </a:r>
                      <a:endParaRPr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lnL cap="flat" cmpd="sng" w="762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181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29"/>
          <p:cNvSpPr txBox="1"/>
          <p:nvPr/>
        </p:nvSpPr>
        <p:spPr>
          <a:xfrm>
            <a:off x="304800" y="3208863"/>
            <a:ext cx="30000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r>
              <a:rPr b="1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/>
        </p:nvSpPr>
        <p:spPr>
          <a:xfrm>
            <a:off x="381000" y="321475"/>
            <a:ext cx="8118000" cy="4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7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Code Explanation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for Merge Two Sorted Lists</a:t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Node Class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Defines a structure for a node in the linked list.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Contains: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 data: to store the value.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next: to store reference to the next node.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Constructor initializes data and sets next to null.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Insert(Node head, int data) Method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Adds a node at the end of the list.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list is empty (head == null), it returns a new node.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Otherwise, traverses to the end and links the new node.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Returns the updated head of the list.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/>
        </p:nvSpPr>
        <p:spPr>
          <a:xfrm>
            <a:off x="380975" y="216750"/>
            <a:ext cx="78651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3. printList(Node head) Method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Traverses the list starting from head.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Prints the data of each node followed by a space.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Ends with a newline.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merge(Node l1, Node l2) Method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Merges two sorted linked lists into one sorted list.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a dummy node to simplify the logic.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a current pointer to build the merged list.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Compares nodes of both lists and links the smaller one.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one list ends, appends the remaining part of the other list.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Returns dummy.next, which is the head of the merged list.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/>
        </p:nvSpPr>
        <p:spPr>
          <a:xfrm>
            <a:off x="304800" y="397675"/>
            <a:ext cx="81180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5. Main Method Steps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Scanner to read user input.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Takes size and elements of List 1, builds using insert().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Takes size and elements of List 2, builds using insert().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Prints both lists using printList().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Calls merge() to merge the two lists.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Prints the merged list.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3"/>
          <p:cNvSpPr txBox="1"/>
          <p:nvPr/>
        </p:nvSpPr>
        <p:spPr>
          <a:xfrm>
            <a:off x="328850" y="394450"/>
            <a:ext cx="7140600" cy="4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Time 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complexity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for Merge Two Sorted Lists</a:t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Time Complexity: O(n + m)</a:t>
            </a:r>
            <a:endParaRPr b="1" i="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 n be the length of the first linked list.</a:t>
            </a:r>
            <a:b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 m be the length of the second linked list.</a:t>
            </a:r>
            <a:b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algorithm iterates through </a:t>
            </a: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node exactly once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from both lists.</a:t>
            </a:r>
            <a:b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381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381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Merging Process: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381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comparison takes constant time, and we perform (n + m) comparisons in the worst case.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381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381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381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33"/>
          <p:cNvSpPr txBox="1"/>
          <p:nvPr/>
        </p:nvSpPr>
        <p:spPr>
          <a:xfrm>
            <a:off x="452725" y="3972475"/>
            <a:ext cx="2980200" cy="460500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Time Complexity: O(n + m)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/>
        </p:nvSpPr>
        <p:spPr>
          <a:xfrm>
            <a:off x="321450" y="1294575"/>
            <a:ext cx="67083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Space Complexity: </a:t>
            </a:r>
            <a:r>
              <a:rPr b="1" lang="en">
                <a:solidFill>
                  <a:srgbClr val="807FEC"/>
                </a:solidFill>
                <a:latin typeface="Roboto"/>
                <a:ea typeface="Roboto"/>
                <a:cs typeface="Roboto"/>
                <a:sym typeface="Roboto"/>
              </a:rPr>
              <a:t>O(1)</a:t>
            </a:r>
            <a:endParaRPr b="1">
              <a:solidFill>
                <a:srgbClr val="807FE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Iterative Solution (as in our Java code):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only a few pointers (dummy, current, l1, l2) regardless of input size.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extra space is used for storing nodes or creating new ones (in-place merge).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34"/>
          <p:cNvSpPr txBox="1"/>
          <p:nvPr/>
        </p:nvSpPr>
        <p:spPr>
          <a:xfrm>
            <a:off x="260650" y="616875"/>
            <a:ext cx="5570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Space Complexity 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for Merge Two Sorted Lists</a:t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551375" y="4096900"/>
            <a:ext cx="3000000" cy="378600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Space Complexity: O(1)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/>
        </p:nvSpPr>
        <p:spPr>
          <a:xfrm>
            <a:off x="381000" y="550075"/>
            <a:ext cx="81180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7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Advantages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 of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 Merge Two Sorted Lists</a:t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Efficient Time Complexity – O(n + m)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</a:t>
            </a: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ging is done in a single pass through both lists.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Ideal for large sorted lists.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b="1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In-Place Merge (O(1) Space)</a:t>
            </a:r>
            <a:br>
              <a:rPr b="1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additional memory is needed (except for a few pointers).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Nodes are reused, which saves space.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b="1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Foundational Interview Concept</a:t>
            </a:r>
            <a:br>
              <a:rPr b="1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problem is commonly asked in coding interviews.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Helps assess understanding of linked lists and pointer manipulation.</a:t>
            </a:r>
            <a:endParaRPr b="1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5"/>
          <p:cNvSpPr/>
          <p:nvPr/>
        </p:nvSpPr>
        <p:spPr>
          <a:xfrm>
            <a:off x="6048050" y="540600"/>
            <a:ext cx="1425000" cy="9036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8181EF">
              <a:alpha val="443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/>
        </p:nvSpPr>
        <p:spPr>
          <a:xfrm>
            <a:off x="381000" y="550075"/>
            <a:ext cx="8118000" cy="4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7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Disadvantages 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of Merge Two Sorted Lists</a:t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b="1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Only Works if Lists Are Pre-Sorted</a:t>
            </a:r>
            <a:br>
              <a:rPr b="1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solution assumes both lists are sorted.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not, the merged output will not be sorted.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b="1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Singly Linked List Limitation</a:t>
            </a:r>
            <a:br>
              <a:rPr b="1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Only applies to singly linked lists.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Additional logic is needed for doubly or circular lists.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b="1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Cannot Handle Null/Invalid Inputs Gracefully</a:t>
            </a:r>
            <a:br>
              <a:rPr b="1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validation for invalid inputs (e.g., non-integer values or null heads).</a:t>
            </a:r>
            <a:b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b="0" i="0" lang="en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Could throw exceptions if not handled properly.</a:t>
            </a:r>
            <a:endParaRPr b="1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6"/>
          <p:cNvSpPr/>
          <p:nvPr/>
        </p:nvSpPr>
        <p:spPr>
          <a:xfrm>
            <a:off x="6134925" y="550075"/>
            <a:ext cx="1451100" cy="8775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8181EF">
              <a:alpha val="443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/>
        </p:nvSpPr>
        <p:spPr>
          <a:xfrm>
            <a:off x="5317225" y="1346700"/>
            <a:ext cx="722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7"/>
          <p:cNvSpPr txBox="1"/>
          <p:nvPr/>
        </p:nvSpPr>
        <p:spPr>
          <a:xfrm>
            <a:off x="338825" y="543375"/>
            <a:ext cx="65433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Real-World Applications for</a:t>
            </a: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 Merge Two Sorted Lists</a:t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7"/>
          <p:cNvSpPr/>
          <p:nvPr/>
        </p:nvSpPr>
        <p:spPr>
          <a:xfrm>
            <a:off x="1886350" y="989775"/>
            <a:ext cx="5795125" cy="3675175"/>
          </a:xfrm>
          <a:prstGeom prst="flowChartInternalStorage">
            <a:avLst/>
          </a:prstGeom>
          <a:solidFill>
            <a:srgbClr val="8181EF">
              <a:alpha val="31010"/>
            </a:srgbClr>
          </a:solidFill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Merging customer records from two databases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Combining sorted transaction logs in banking systems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Merging search results in search engines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Combining student rank lists from different departments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Merging hospital patient records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synchronization in distributed systems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Merging railway reservation waiting lists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Combining sorted product inventories in e-commerce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External merge sort in big data processing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Combining chat/message histories in applications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8"/>
          <p:cNvSpPr txBox="1"/>
          <p:nvPr/>
        </p:nvSpPr>
        <p:spPr>
          <a:xfrm>
            <a:off x="347525" y="768150"/>
            <a:ext cx="6856200" cy="3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 b="1" sz="1700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r>
              <a:rPr b="1" lang="en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b="1" u="sng">
              <a:solidFill>
                <a:schemeClr val="hlink"/>
              </a:solidFill>
              <a:highlight>
                <a:srgbClr val="00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Question:</a:t>
            </a:r>
            <a:b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What is the time complexity of merging two sorted linked lists?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A) O(1)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B) O(log n)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C) O(n + m)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D) O(n × m)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38"/>
          <p:cNvSpPr/>
          <p:nvPr/>
        </p:nvSpPr>
        <p:spPr>
          <a:xfrm>
            <a:off x="6334775" y="592750"/>
            <a:ext cx="1225200" cy="8514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38"/>
          <p:cNvSpPr txBox="1"/>
          <p:nvPr/>
        </p:nvSpPr>
        <p:spPr>
          <a:xfrm>
            <a:off x="347525" y="4147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C) O(n + m)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38"/>
          <p:cNvSpPr txBox="1"/>
          <p:nvPr/>
        </p:nvSpPr>
        <p:spPr>
          <a:xfrm>
            <a:off x="629575" y="1444150"/>
            <a:ext cx="1876800" cy="4512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Amazon Jobs</a:t>
            </a:r>
            <a:r>
              <a:rPr b="1"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- 2025 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8181EF"/>
                </a:solidFill>
              </a:rPr>
              <a:t>Interview Questions</a:t>
            </a:r>
            <a:endParaRPr/>
          </a:p>
        </p:txBody>
      </p:sp>
      <p:sp>
        <p:nvSpPr>
          <p:cNvPr id="266" name="Google Shape;266;p39"/>
          <p:cNvSpPr txBox="1"/>
          <p:nvPr>
            <p:ph idx="1" type="body"/>
          </p:nvPr>
        </p:nvSpPr>
        <p:spPr>
          <a:xfrm>
            <a:off x="628650" y="1369223"/>
            <a:ext cx="7886700" cy="213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2.</a:t>
            </a:r>
            <a:r>
              <a:rPr b="1" lang="en" sz="1400">
                <a:uFill>
                  <a:noFill/>
                </a:uFill>
                <a:hlinkClick r:id="rId3"/>
              </a:rPr>
              <a:t> </a:t>
            </a:r>
            <a:endParaRPr b="1" sz="1400" u="sng">
              <a:solidFill>
                <a:schemeClr val="hlink"/>
              </a:solidFill>
              <a:highlight>
                <a:srgbClr val="00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Question:</a:t>
            </a:r>
            <a:br>
              <a:rPr b="1" lang="en" sz="1400"/>
            </a:br>
            <a:r>
              <a:rPr lang="en" sz="1400"/>
              <a:t> Why is a dummy node used while merging two sorted lists?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A) To increase speed</a:t>
            </a:r>
            <a:br>
              <a:rPr lang="en" sz="1400"/>
            </a:br>
            <a:r>
              <a:rPr lang="en" sz="1400"/>
              <a:t> B) To avoid null values</a:t>
            </a:r>
            <a:br>
              <a:rPr lang="en" sz="1400"/>
            </a:br>
            <a:r>
              <a:rPr lang="en" sz="1400"/>
              <a:t> C) To simplify insertion logic</a:t>
            </a:r>
            <a:br>
              <a:rPr lang="en" sz="1400"/>
            </a:br>
            <a:r>
              <a:rPr lang="en" sz="1400"/>
              <a:t> D) To sort the list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67" name="Google Shape;267;p39"/>
          <p:cNvSpPr/>
          <p:nvPr/>
        </p:nvSpPr>
        <p:spPr>
          <a:xfrm>
            <a:off x="6334775" y="592750"/>
            <a:ext cx="1225200" cy="8514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39"/>
          <p:cNvSpPr txBox="1"/>
          <p:nvPr/>
        </p:nvSpPr>
        <p:spPr>
          <a:xfrm>
            <a:off x="628650" y="3789850"/>
            <a:ext cx="559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C) To simplify insertion logic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39"/>
          <p:cNvSpPr txBox="1"/>
          <p:nvPr/>
        </p:nvSpPr>
        <p:spPr>
          <a:xfrm>
            <a:off x="918875" y="1268050"/>
            <a:ext cx="2007000" cy="451200"/>
          </a:xfrm>
          <a:prstGeom prst="rect">
            <a:avLst/>
          </a:prstGeom>
          <a:noFill/>
          <a:ln cap="flat" cmpd="sng" w="38100">
            <a:solidFill>
              <a:srgbClr val="807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Careers</a:t>
            </a:r>
            <a:r>
              <a:rPr b="1"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- 2025 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>
            <p:ph type="title"/>
          </p:nvPr>
        </p:nvSpPr>
        <p:spPr>
          <a:xfrm>
            <a:off x="558200" y="3346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8181EF"/>
                </a:solidFill>
              </a:rPr>
              <a:t>Interview Questions</a:t>
            </a:r>
            <a:endParaRPr b="1" sz="1700">
              <a:solidFill>
                <a:srgbClr val="8181EF"/>
              </a:solidFill>
            </a:endParaRPr>
          </a:p>
        </p:txBody>
      </p:sp>
      <p:sp>
        <p:nvSpPr>
          <p:cNvPr id="275" name="Google Shape;275;p40"/>
          <p:cNvSpPr txBox="1"/>
          <p:nvPr>
            <p:ph idx="1" type="body"/>
          </p:nvPr>
        </p:nvSpPr>
        <p:spPr>
          <a:xfrm>
            <a:off x="628650" y="1369223"/>
            <a:ext cx="7886700" cy="222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3.</a:t>
            </a:r>
            <a:r>
              <a:rPr b="1" lang="en" sz="1400">
                <a:uFill>
                  <a:noFill/>
                </a:uFill>
                <a:hlinkClick r:id="rId3"/>
              </a:rPr>
              <a:t> 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Question:</a:t>
            </a:r>
            <a:br>
              <a:rPr b="1" lang="en" sz="1400"/>
            </a:br>
            <a:r>
              <a:rPr lang="en" sz="1400"/>
              <a:t> What happens if one list becomes null during merging?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A) Stop execution</a:t>
            </a:r>
            <a:br>
              <a:rPr lang="en" sz="1400"/>
            </a:br>
            <a:r>
              <a:rPr lang="en" sz="1400"/>
              <a:t> B) Return null</a:t>
            </a:r>
            <a:br>
              <a:rPr lang="en" sz="1400"/>
            </a:br>
            <a:r>
              <a:rPr lang="en" sz="1400"/>
              <a:t> C) Append remaining nodes of the other list</a:t>
            </a:r>
            <a:br>
              <a:rPr lang="en" sz="1400"/>
            </a:br>
            <a:r>
              <a:rPr lang="en" sz="1400"/>
              <a:t> D) Restart merging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6" name="Google Shape;276;p40"/>
          <p:cNvSpPr/>
          <p:nvPr/>
        </p:nvSpPr>
        <p:spPr>
          <a:xfrm>
            <a:off x="6334775" y="592750"/>
            <a:ext cx="1225200" cy="8514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40"/>
          <p:cNvSpPr txBox="1"/>
          <p:nvPr/>
        </p:nvSpPr>
        <p:spPr>
          <a:xfrm>
            <a:off x="747950" y="3634100"/>
            <a:ext cx="639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C) Append remaining nodes of the other list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40"/>
          <p:cNvSpPr txBox="1"/>
          <p:nvPr/>
        </p:nvSpPr>
        <p:spPr>
          <a:xfrm>
            <a:off x="956675" y="1270425"/>
            <a:ext cx="2858400" cy="4956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Microsoft Careers</a:t>
            </a:r>
            <a:r>
              <a:rPr b="1"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(2024–2025) </a:t>
            </a:r>
            <a:endParaRPr b="1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8181EF"/>
                </a:solidFill>
              </a:rPr>
              <a:t>Interview Questions</a:t>
            </a:r>
            <a:endParaRPr/>
          </a:p>
        </p:txBody>
      </p:sp>
      <p:sp>
        <p:nvSpPr>
          <p:cNvPr id="284" name="Google Shape;284;p41"/>
          <p:cNvSpPr txBox="1"/>
          <p:nvPr>
            <p:ph idx="1" type="body"/>
          </p:nvPr>
        </p:nvSpPr>
        <p:spPr>
          <a:xfrm>
            <a:off x="628650" y="1369223"/>
            <a:ext cx="7886700" cy="228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4.</a:t>
            </a:r>
            <a:r>
              <a:rPr b="1" lang="en" sz="1400">
                <a:uFill>
                  <a:noFill/>
                </a:uFill>
                <a:hlinkClick r:id="rId3"/>
              </a:rPr>
              <a:t> </a:t>
            </a:r>
            <a:endParaRPr b="1" sz="1400" u="sng">
              <a:solidFill>
                <a:schemeClr val="hlink"/>
              </a:solidFill>
              <a:highlight>
                <a:srgbClr val="00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Question:</a:t>
            </a:r>
            <a:br>
              <a:rPr b="1" lang="en" sz="1400"/>
            </a:br>
            <a:r>
              <a:rPr lang="en" sz="1400"/>
              <a:t> Can two unsorted linked lists be merged directly using this approach?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A) Yes</a:t>
            </a:r>
            <a:br>
              <a:rPr lang="en" sz="1400"/>
            </a:br>
            <a:r>
              <a:rPr lang="en" sz="1400"/>
              <a:t> B) No</a:t>
            </a:r>
            <a:br>
              <a:rPr lang="en" sz="1400"/>
            </a:br>
            <a:r>
              <a:rPr lang="en" sz="1400"/>
              <a:t> C) Only for integers</a:t>
            </a:r>
            <a:br>
              <a:rPr lang="en" sz="1400"/>
            </a:br>
            <a:r>
              <a:rPr lang="en" sz="1400"/>
              <a:t> D) Only recursively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85" name="Google Shape;285;p41"/>
          <p:cNvSpPr/>
          <p:nvPr/>
        </p:nvSpPr>
        <p:spPr>
          <a:xfrm>
            <a:off x="6334775" y="592750"/>
            <a:ext cx="1225200" cy="8514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41"/>
          <p:cNvSpPr txBox="1"/>
          <p:nvPr/>
        </p:nvSpPr>
        <p:spPr>
          <a:xfrm>
            <a:off x="766275" y="3808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B) No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41"/>
          <p:cNvSpPr txBox="1"/>
          <p:nvPr/>
        </p:nvSpPr>
        <p:spPr>
          <a:xfrm>
            <a:off x="889125" y="1305200"/>
            <a:ext cx="2578500" cy="4002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Meta Careers</a:t>
            </a:r>
            <a:r>
              <a:rPr b="1"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(2024–2025) 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8181EF"/>
                </a:solidFill>
              </a:rPr>
              <a:t>Interview Questions</a:t>
            </a:r>
            <a:endParaRPr/>
          </a:p>
        </p:txBody>
      </p:sp>
      <p:sp>
        <p:nvSpPr>
          <p:cNvPr id="293" name="Google Shape;293;p42"/>
          <p:cNvSpPr txBox="1"/>
          <p:nvPr>
            <p:ph idx="1" type="body"/>
          </p:nvPr>
        </p:nvSpPr>
        <p:spPr>
          <a:xfrm>
            <a:off x="628650" y="1369223"/>
            <a:ext cx="7886700" cy="2270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5.</a:t>
            </a:r>
            <a:r>
              <a:rPr b="1" lang="en" sz="1400">
                <a:uFill>
                  <a:noFill/>
                </a:uFill>
                <a:hlinkClick r:id="rId3"/>
              </a:rPr>
              <a:t> </a:t>
            </a:r>
            <a:endParaRPr b="1" sz="1400" u="sng">
              <a:solidFill>
                <a:schemeClr val="hlink"/>
              </a:solidFill>
              <a:highlight>
                <a:srgbClr val="00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Question:</a:t>
            </a:r>
            <a:br>
              <a:rPr b="1" lang="en" sz="1400"/>
            </a:br>
            <a:r>
              <a:rPr lang="en" sz="1400"/>
              <a:t> Which technique is mainly used in merging two sorted lists?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A) Binary Search</a:t>
            </a:r>
            <a:br>
              <a:rPr lang="en" sz="1400"/>
            </a:br>
            <a:r>
              <a:rPr lang="en" sz="1400"/>
              <a:t> B) Hashing</a:t>
            </a:r>
            <a:br>
              <a:rPr lang="en" sz="1400"/>
            </a:br>
            <a:r>
              <a:rPr lang="en" sz="1400"/>
              <a:t> C) Two Pointer Technique</a:t>
            </a:r>
            <a:br>
              <a:rPr lang="en" sz="1400"/>
            </a:br>
            <a:r>
              <a:rPr lang="en" sz="1400"/>
              <a:t> D) Dynamic Programming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</p:txBody>
      </p:sp>
      <p:sp>
        <p:nvSpPr>
          <p:cNvPr id="294" name="Google Shape;294;p42"/>
          <p:cNvSpPr/>
          <p:nvPr/>
        </p:nvSpPr>
        <p:spPr>
          <a:xfrm>
            <a:off x="6334775" y="592750"/>
            <a:ext cx="1225200" cy="8514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2"/>
          <p:cNvSpPr txBox="1"/>
          <p:nvPr/>
        </p:nvSpPr>
        <p:spPr>
          <a:xfrm>
            <a:off x="628650" y="3881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C) Two Pointer Technique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42"/>
          <p:cNvSpPr txBox="1"/>
          <p:nvPr/>
        </p:nvSpPr>
        <p:spPr>
          <a:xfrm>
            <a:off x="995800" y="1322250"/>
            <a:ext cx="2038500" cy="4002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Adobe Careers</a:t>
            </a:r>
            <a:r>
              <a:rPr b="1"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- 2025 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3"/>
          <p:cNvSpPr txBox="1"/>
          <p:nvPr>
            <p:ph type="title"/>
          </p:nvPr>
        </p:nvSpPr>
        <p:spPr>
          <a:xfrm>
            <a:off x="315850" y="3346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8181EF"/>
                </a:solidFill>
              </a:rPr>
              <a:t>Example Problem Statement for Practice</a:t>
            </a:r>
            <a:endParaRPr b="1" sz="1700">
              <a:solidFill>
                <a:srgbClr val="8181EF"/>
              </a:solidFill>
            </a:endParaRPr>
          </a:p>
        </p:txBody>
      </p:sp>
      <p:sp>
        <p:nvSpPr>
          <p:cNvPr id="302" name="Google Shape;302;p43"/>
          <p:cNvSpPr txBox="1"/>
          <p:nvPr>
            <p:ph idx="1" type="body"/>
          </p:nvPr>
        </p:nvSpPr>
        <p:spPr>
          <a:xfrm>
            <a:off x="437525" y="1152000"/>
            <a:ext cx="83301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Problem Statement – Hospital Patient Record Merge System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  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 hospital maintains patient records in two separate departments.</a:t>
            </a:r>
            <a:br>
              <a:rPr lang="en" sz="1400"/>
            </a:br>
            <a:r>
              <a:rPr lang="en" sz="1400"/>
              <a:t> Each department stores patient IDs in ascending order using singly linked lists.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To generate a centralized patient report, the hospital management wants to merge both sorted patient lists into a single sorted linked list without creating new nodes.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Your task is to merge the two sorted linked lists and display the final merged patient record list in ascending order.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03" name="Google Shape;303;p43"/>
          <p:cNvSpPr/>
          <p:nvPr/>
        </p:nvSpPr>
        <p:spPr>
          <a:xfrm>
            <a:off x="6638850" y="566675"/>
            <a:ext cx="1225200" cy="8514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43"/>
          <p:cNvSpPr txBox="1"/>
          <p:nvPr/>
        </p:nvSpPr>
        <p:spPr>
          <a:xfrm>
            <a:off x="515700" y="1668825"/>
            <a:ext cx="5977500" cy="4692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Asked in Amazon,Microsoft and Infosys Specialist Programmer  – 2025 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4"/>
          <p:cNvSpPr txBox="1"/>
          <p:nvPr>
            <p:ph type="title"/>
          </p:nvPr>
        </p:nvSpPr>
        <p:spPr>
          <a:xfrm>
            <a:off x="194225" y="37501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8181EF"/>
                </a:solidFill>
              </a:rPr>
              <a:t>Input and Output </a:t>
            </a:r>
            <a:r>
              <a:rPr b="1" lang="en" sz="1700">
                <a:solidFill>
                  <a:srgbClr val="8181EF"/>
                </a:solidFill>
              </a:rPr>
              <a:t>Format</a:t>
            </a:r>
            <a:endParaRPr b="1" sz="1700">
              <a:solidFill>
                <a:srgbClr val="8181EF"/>
              </a:solidFill>
            </a:endParaRPr>
          </a:p>
        </p:txBody>
      </p:sp>
      <p:sp>
        <p:nvSpPr>
          <p:cNvPr id="310" name="Google Shape;310;p44"/>
          <p:cNvSpPr txBox="1"/>
          <p:nvPr>
            <p:ph idx="1" type="body"/>
          </p:nvPr>
        </p:nvSpPr>
        <p:spPr>
          <a:xfrm>
            <a:off x="628650" y="1369223"/>
            <a:ext cx="7886700" cy="2270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Input Format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First line contains integer N representing number of patients in Department 1.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Second line contains N sorted patient IDs.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Third line contains integer M representing number of patients in Department 2.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Fourth line contains M sorted patient IDs.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Output Format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Print the merged sorted linked list.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11" name="Google Shape;311;p44"/>
          <p:cNvSpPr/>
          <p:nvPr/>
        </p:nvSpPr>
        <p:spPr>
          <a:xfrm>
            <a:off x="6334775" y="592750"/>
            <a:ext cx="1225200" cy="8514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44"/>
          <p:cNvSpPr txBox="1"/>
          <p:nvPr/>
        </p:nvSpPr>
        <p:spPr>
          <a:xfrm>
            <a:off x="628650" y="3725700"/>
            <a:ext cx="7704600" cy="8019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Solution 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LeetCode Merge Two Sorted Lists Solution</a:t>
            </a:r>
            <a:endParaRPr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5"/>
          <p:cNvSpPr txBox="1"/>
          <p:nvPr/>
        </p:nvSpPr>
        <p:spPr>
          <a:xfrm>
            <a:off x="-324555" y="1223435"/>
            <a:ext cx="755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 concerns related to attendance/marks/ faculty ; you can reach out to ETHNUS helpdesk through the displayed QR code</a:t>
            </a:r>
            <a:endParaRPr/>
          </a:p>
        </p:txBody>
      </p:sp>
      <p:pic>
        <p:nvPicPr>
          <p:cNvPr id="318" name="Google Shape;31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1225" y="1795900"/>
            <a:ext cx="2885274" cy="26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5"/>
          <p:cNvSpPr txBox="1"/>
          <p:nvPr/>
        </p:nvSpPr>
        <p:spPr>
          <a:xfrm>
            <a:off x="-1117600" y="621902"/>
            <a:ext cx="457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3200" u="none" cap="none" strike="noStrike">
                <a:solidFill>
                  <a:srgbClr val="807FEC"/>
                </a:solidFill>
                <a:latin typeface="Oxygen"/>
                <a:ea typeface="Oxygen"/>
                <a:cs typeface="Oxygen"/>
                <a:sym typeface="Oxygen"/>
              </a:rPr>
              <a:t>Help Desk</a:t>
            </a:r>
            <a:endParaRPr b="1" i="0" sz="3200" u="none" cap="none" strike="noStrike">
              <a:solidFill>
                <a:srgbClr val="807FEC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0" name="Google Shape;320;p45"/>
          <p:cNvSpPr txBox="1"/>
          <p:nvPr/>
        </p:nvSpPr>
        <p:spPr>
          <a:xfrm>
            <a:off x="422411" y="2962139"/>
            <a:ext cx="5136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https://codemithra.com/vit-helpdesk/</a:t>
            </a:r>
            <a:endParaRPr b="0" i="0" sz="2400" u="sng" cap="none" strike="noStrike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78169" y="558058"/>
            <a:ext cx="712464" cy="712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/>
          <p:nvPr/>
        </p:nvSpPr>
        <p:spPr>
          <a:xfrm>
            <a:off x="555120" y="91584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7" name="Google Shape;32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6"/>
          <p:cNvSpPr/>
          <p:nvPr/>
        </p:nvSpPr>
        <p:spPr>
          <a:xfrm>
            <a:off x="1634725" y="3801680"/>
            <a:ext cx="51840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7"/>
          <p:cNvSpPr txBox="1"/>
          <p:nvPr/>
        </p:nvSpPr>
        <p:spPr>
          <a:xfrm>
            <a:off x="3141000" y="2194650"/>
            <a:ext cx="2862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5" name="Google Shape;33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61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61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7"/>
          <p:cNvSpPr txBox="1"/>
          <p:nvPr/>
        </p:nvSpPr>
        <p:spPr>
          <a:xfrm>
            <a:off x="1980750" y="4590801"/>
            <a:ext cx="11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8" name="Google Shape;338;p47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47"/>
          <p:cNvSpPr txBox="1"/>
          <p:nvPr/>
        </p:nvSpPr>
        <p:spPr>
          <a:xfrm>
            <a:off x="3519050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0" name="Google Shape;340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61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7"/>
          <p:cNvSpPr txBox="1"/>
          <p:nvPr/>
        </p:nvSpPr>
        <p:spPr>
          <a:xfrm>
            <a:off x="5457275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2" name="Google Shape;342;p47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