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Roboto Black"/>
      <p:bold r:id="rId31"/>
      <p:boldItalic r:id="rId32"/>
    </p:embeddedFont>
    <p:embeddedFont>
      <p:font typeface="Robo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7" roundtripDataSignature="AMtx7mgoMMsZzM/9gHyS5exPeEbehfjU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676FB8-D63B-4D33-85F9-EB177673D1E9}">
  <a:tblStyle styleId="{C4676FB8-D63B-4D33-85F9-EB177673D1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Black-bold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-regular.fntdata"/><Relationship Id="rId10" Type="http://schemas.openxmlformats.org/officeDocument/2006/relationships/slide" Target="slides/slide4.xml"/><Relationship Id="rId32" Type="http://schemas.openxmlformats.org/officeDocument/2006/relationships/font" Target="fonts/RobotoBlack-boldItalic.fntdata"/><Relationship Id="rId13" Type="http://schemas.openxmlformats.org/officeDocument/2006/relationships/slide" Target="slides/slide7.xml"/><Relationship Id="rId35" Type="http://schemas.openxmlformats.org/officeDocument/2006/relationships/font" Target="fonts/Roboto-italic.fntdata"/><Relationship Id="rId12" Type="http://schemas.openxmlformats.org/officeDocument/2006/relationships/slide" Target="slides/slide6.xml"/><Relationship Id="rId34" Type="http://schemas.openxmlformats.org/officeDocument/2006/relationships/font" Target="fonts/Roboto-bold.fntdata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fd1615692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efd1615692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3d0138414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73d013841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929ff6d6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e929ff6d6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3d2e2cf7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73d2e2cf7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Function isPalindrome(head):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If head is null or has only one node: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true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Use slow and fast pointer to find middle: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fast != null and fast.next != null: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slow = slow.next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fast = fast.next.next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Reverse second half starting from slow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Compare first half and reversed second half: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second != null: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if first.data != second.data: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return false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first = first.next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second = second.next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return true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3c1788ac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73c1788ac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3c1dcbc4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73c1dcbc4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import java.util.Scanner;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class Node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int data;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Node 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Node(int data)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this.data = data;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this.next = null;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class PalindromeLinkedList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Insert at end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Node insert(Node head, int data)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newNode = new Node(data);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if (head == null) return newNode;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temp =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(temp.next != null)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temp = temp.next;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temp.next = newNode;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Reverse linked list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Node reverse(Node head)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prev = null;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current =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(current != null)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next = current.next;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current.next = prev;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prev = current;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current = 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prev;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Check if list is palindrome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boolean isPalindrome(Node head)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if (head == null || head.next == null)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return true;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// Find middle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slow = head, fast =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(fast != null &amp;&amp; fast.next != null)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slow = slow.next;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fast = fast.next.next;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// Reverse second half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secondHalfStart = reverse(slow);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// Compare both halves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firstHalf =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secondHalf = secondHalfStart;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(secondHalf != null)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if (firstHalf.data != secondHalf.data)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return false;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firstHalf = firstHalf.next;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secondHalf = secondHalf.next;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true;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Print list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void printList(Node head)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temp =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(temp != null)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System.out.print(temp.data + "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temp = temp.next;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public static void main(String[] args)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Scanner sc = new Scanner(System.in);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head = null;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System.out.print("Enter number of nodes: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int n = sc.nextInt();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System.out.println("Enter node values:");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for (int i = 0; i &lt; n; i++)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int val = sc.nextInt();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head = insert(head, val);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System.out.print("Linked List: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printList(head);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boolean result = isPalindrome(head);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System.out.println("Is Palindrome? " + result);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sc.close();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3c1dcbc4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73c1dcbc4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3c1788ac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73c1788ac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3c1788ac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73c1788ac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3d013841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73d013841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3c1dcbc4c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73c1dcbc4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73d013841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73d013841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73c1788ac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73c1788ac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73d013841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73d013841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3d013841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73d013841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3c1788ac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73c1788ac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fd16156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efd16156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fd1615692_0_53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g3efd1615692_0_53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23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23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2" name="Google Shape;62;p25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3" name="Google Shape;63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6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26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6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8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">
  <p:cSld name="10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9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29"/>
          <p:cNvSpPr/>
          <p:nvPr/>
        </p:nvSpPr>
        <p:spPr>
          <a:xfrm>
            <a:off x="902326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29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29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29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29"/>
          <p:cNvSpPr/>
          <p:nvPr/>
        </p:nvSpPr>
        <p:spPr>
          <a:xfrm>
            <a:off x="894683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29"/>
          <p:cNvSpPr/>
          <p:nvPr/>
        </p:nvSpPr>
        <p:spPr>
          <a:xfrm>
            <a:off x="902326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29"/>
          <p:cNvSpPr/>
          <p:nvPr/>
        </p:nvSpPr>
        <p:spPr>
          <a:xfrm>
            <a:off x="887040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29"/>
          <p:cNvSpPr/>
          <p:nvPr/>
        </p:nvSpPr>
        <p:spPr>
          <a:xfrm>
            <a:off x="879397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29"/>
          <p:cNvSpPr/>
          <p:nvPr/>
        </p:nvSpPr>
        <p:spPr>
          <a:xfrm>
            <a:off x="871754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fd1615692_0_10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g3efd1615692_0_10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9" name="Google Shape;99;g3efd1615692_0_10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g3efd1615692_0_10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oboto"/>
              <a:buNone/>
              <a:defRPr b="0" i="0" sz="3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5414"/>
            <a:ext cx="9144003" cy="513808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forms.gle/mi92BbkAakYNYEGPA" TargetMode="External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hyperlink" Target="https://codemithra.com/vit-helpdesk/" TargetMode="External"/><Relationship Id="rId5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Relationship Id="rId4" Type="http://schemas.openxmlformats.org/officeDocument/2006/relationships/hyperlink" Target="https://learn.codemithra.com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jp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7" name="Google Shape;10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0" y="524088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0" y="3386138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fd1615692_0_110"/>
          <p:cNvSpPr txBox="1"/>
          <p:nvPr>
            <p:ph type="title"/>
          </p:nvPr>
        </p:nvSpPr>
        <p:spPr>
          <a:xfrm>
            <a:off x="590550" y="491300"/>
            <a:ext cx="72192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en" sz="2000">
                <a:solidFill>
                  <a:srgbClr val="807FEC"/>
                </a:solidFill>
              </a:rPr>
              <a:t>	       Test Time On </a:t>
            </a:r>
            <a:r>
              <a:rPr b="1" lang="en" sz="2000">
                <a:solidFill>
                  <a:srgbClr val="807FEC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Merge Two Sorted Linked Lists </a:t>
            </a:r>
            <a:r>
              <a:rPr b="1" lang="en" sz="2000">
                <a:solidFill>
                  <a:srgbClr val="807FE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2000">
              <a:solidFill>
                <a:srgbClr val="807FEC"/>
              </a:solidFill>
            </a:endParaRPr>
          </a:p>
        </p:txBody>
      </p:sp>
      <p:sp>
        <p:nvSpPr>
          <p:cNvPr id="115" name="Google Shape;115;g3efd1615692_0_110"/>
          <p:cNvSpPr txBox="1"/>
          <p:nvPr/>
        </p:nvSpPr>
        <p:spPr>
          <a:xfrm>
            <a:off x="1936250" y="4239350"/>
            <a:ext cx="53973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lang="en" sz="2100">
                <a:solidFill>
                  <a:srgbClr val="807FEC"/>
                </a:solidFill>
                <a:latin typeface="Roboto"/>
                <a:ea typeface="Roboto"/>
                <a:cs typeface="Roboto"/>
                <a:sym typeface="Roboto"/>
              </a:rPr>
              <a:t> : </a:t>
            </a:r>
            <a:r>
              <a:rPr lang="en" sz="1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https://forms.gle/mi92BbkAakYNYEGPA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g3efd1615692_0_110" title="qr-co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6487" y="1048400"/>
            <a:ext cx="3038550" cy="30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"/>
          <p:cNvSpPr txBox="1"/>
          <p:nvPr/>
        </p:nvSpPr>
        <p:spPr>
          <a:xfrm>
            <a:off x="193194" y="2006024"/>
            <a:ext cx="469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Palindrome Linked List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"/>
          <p:cNvSpPr txBox="1"/>
          <p:nvPr/>
        </p:nvSpPr>
        <p:spPr>
          <a:xfrm>
            <a:off x="152400" y="4572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8181EF"/>
                </a:solidFill>
                <a:latin typeface="Roboto Black"/>
                <a:ea typeface="Roboto Black"/>
                <a:cs typeface="Roboto Black"/>
                <a:sym typeface="Roboto Black"/>
              </a:rPr>
              <a:t>TOPICS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962721" y="1628019"/>
            <a:ext cx="32040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Introduction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Algorithm Pseudocode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Code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Time and space complexity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Advantages and disadvantages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Interview Questions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373d0138414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73d0138414_0_18"/>
          <p:cNvSpPr txBox="1"/>
          <p:nvPr>
            <p:ph type="ctrTitle"/>
          </p:nvPr>
        </p:nvSpPr>
        <p:spPr>
          <a:xfrm>
            <a:off x="333201" y="345950"/>
            <a:ext cx="72843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" sz="1800"/>
              <a:t>Palindrome Linked List</a:t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4680"/>
              <a:buFont typeface="Arial"/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g373d0138414_0_18"/>
          <p:cNvSpPr txBox="1"/>
          <p:nvPr/>
        </p:nvSpPr>
        <p:spPr>
          <a:xfrm>
            <a:off x="481250" y="851650"/>
            <a:ext cx="71406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g373d0138414_0_18"/>
          <p:cNvSpPr txBox="1"/>
          <p:nvPr/>
        </p:nvSpPr>
        <p:spPr>
          <a:xfrm>
            <a:off x="587050" y="1146100"/>
            <a:ext cx="6700500" cy="3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Objective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Goal: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Determine if a linked list reads the same forward and backward.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Constraint: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impress at FAANG interviews, this must be done in </a:t>
            </a: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O(n) time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O(1) space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Examples: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Palindrome: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[1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-&gt; 2 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2 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1] (True)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 a Palindrome: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[1 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2 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3 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1] (False)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Interview Context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Recency: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Consistently asked in technical rounds through </a:t>
            </a: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2024–2026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200">
                <a:solidFill>
                  <a:schemeClr val="dk1"/>
                </a:solidFill>
              </a:rPr>
              <a:t>LeetCode 234 , </a:t>
            </a:r>
            <a:endParaRPr sz="12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300">
                <a:solidFill>
                  <a:schemeClr val="dk1"/>
                </a:solidFill>
              </a:rPr>
              <a:t>Amazon</a:t>
            </a:r>
            <a:r>
              <a:rPr lang="en" sz="1300">
                <a:solidFill>
                  <a:schemeClr val="dk1"/>
                </a:solidFill>
              </a:rPr>
              <a:t> (SDE-1 Online Assessment) August 14, 2024 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 txBox="1"/>
          <p:nvPr/>
        </p:nvSpPr>
        <p:spPr>
          <a:xfrm>
            <a:off x="457200" y="609600"/>
            <a:ext cx="7557300" cy="39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Algorithm :</a:t>
            </a:r>
            <a:endParaRPr b="1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"Three-Step" Strategy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Since we can't easily "read backwards" in a Singly Linked List, we use this 3-step master plan: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 the Middle: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Use the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Slow and Fast pointer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technique to locate the center.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Reverse the Second Half: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Flip the pointers of the second half of the list so they point backwards.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Comparison: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Compare the first half and the reversed second half node by node.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929ff6d6d_0_4"/>
          <p:cNvSpPr txBox="1"/>
          <p:nvPr/>
        </p:nvSpPr>
        <p:spPr>
          <a:xfrm>
            <a:off x="457200" y="609600"/>
            <a:ext cx="7557300" cy="4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Algorithm Steps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1: Locate the Center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Initialize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slow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fast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at the head.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Move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fast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by two steps and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slow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by one. When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fast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reaches the end,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slow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at the middle.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2: Flip the Second Half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Starting from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slow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reverse the nodes.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i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[3 -&gt; 2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1]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i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[1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2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3]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3: The Parallel Check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Place one pointer (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p1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at the original </a:t>
            </a: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Head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Place another pointer (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p2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at the new </a:t>
            </a: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Tail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(start of the reversed half).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Compare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p1.val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p2.val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If any pair doesn't match, return </a:t>
            </a: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False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you reach the end of the second half with all matches, return </a:t>
            </a: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True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3d2e2cf77_0_2"/>
          <p:cNvSpPr txBox="1"/>
          <p:nvPr/>
        </p:nvSpPr>
        <p:spPr>
          <a:xfrm>
            <a:off x="2209800" y="520700"/>
            <a:ext cx="4422900" cy="4279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Pseudo code 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Function isPalindrome(head):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If head is null or has only one node: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true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Use slow and fast pointer to find middle: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fast != null and fast.next != null: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slow = slow.next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fast = fast.next.next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Reverse second half starting from slow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Compare first half and reversed second half: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second != null: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if first.data != second.data: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return false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first = first.next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second = second.next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return true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3c1788ac8_0_4"/>
          <p:cNvSpPr txBox="1"/>
          <p:nvPr/>
        </p:nvSpPr>
        <p:spPr>
          <a:xfrm>
            <a:off x="533400" y="444500"/>
            <a:ext cx="44790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g373c1788ac8_0_4"/>
          <p:cNvSpPr txBox="1"/>
          <p:nvPr/>
        </p:nvSpPr>
        <p:spPr>
          <a:xfrm>
            <a:off x="533400" y="457200"/>
            <a:ext cx="7733700" cy="42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 : 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List: 1 → 2 → 3 → 2 → 1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Steps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 the middle of the list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slow and fast pointers.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Middle node = </a:t>
            </a:r>
            <a:r>
              <a:rPr b="0" i="0" lang="en" sz="12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Reverse the second half of the list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2 → 1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becomes </a:t>
            </a:r>
            <a:r>
              <a:rPr b="0" i="0" lang="en" sz="12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1 → 2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Compare the first half and reversed second half: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Compare </a:t>
            </a:r>
            <a:r>
              <a:rPr b="0" i="0" lang="en" sz="12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1 == 1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→ ✅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Compare </a:t>
            </a:r>
            <a:r>
              <a:rPr b="0" i="0" lang="en" sz="12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2 == 2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→ ✅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(Middle </a:t>
            </a:r>
            <a:r>
              <a:rPr b="0" i="0" lang="en" sz="12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skipped or ignored in odd-length lists)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matching? Yes → So the list is a palindrome.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Output: 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3c1dcbc4c_0_22"/>
          <p:cNvSpPr txBox="1"/>
          <p:nvPr/>
        </p:nvSpPr>
        <p:spPr>
          <a:xfrm>
            <a:off x="533400" y="444500"/>
            <a:ext cx="44229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import java.util.Scanner;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class Node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int data;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Node 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Node(int data)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this.data = data;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this.next = null;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class PalindromeLinkedList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Node insert(Node head, int data)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newNode = new Node(data);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if (head == null) return newNode;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temp =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(temp.next != null)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temp = temp.next;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temp.next = newNode;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g373c1dcbc4c_0_22"/>
          <p:cNvSpPr txBox="1"/>
          <p:nvPr/>
        </p:nvSpPr>
        <p:spPr>
          <a:xfrm>
            <a:off x="4335025" y="270425"/>
            <a:ext cx="44229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Node reverse(Node head)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prev = null;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current =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(current != null)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next = current.next;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current.next = prev;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prev = current;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current = 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prev;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boolean isPalindrome(Node head)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if (head == null || head.next == null)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return true;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// Find middle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slow = head, fast =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(fast != null &amp;&amp; fast.next != null)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slow = slow.next;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fast = fast.next.next;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3c1dcbc4c_0_27"/>
          <p:cNvSpPr txBox="1"/>
          <p:nvPr/>
        </p:nvSpPr>
        <p:spPr>
          <a:xfrm>
            <a:off x="533400" y="444500"/>
            <a:ext cx="42321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Node secondHalfStart = reverse(slow);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firstHalf =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secondHalf = secondHalfStart;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(secondHalf != null)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if (firstHalf.data != secondHalf.data)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return false;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firstHalf = firstHalf.next;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secondHalf = secondHalf.next;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true;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void printList(Node head)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temp =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(temp != null)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System.out.print(temp.data + " 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temp = temp.next;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g373c1dcbc4c_0_27"/>
          <p:cNvSpPr txBox="1"/>
          <p:nvPr/>
        </p:nvSpPr>
        <p:spPr>
          <a:xfrm>
            <a:off x="4495800" y="444500"/>
            <a:ext cx="44229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public static void main(String[] args)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Scanner sc = new Scanner(System.in);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head = null;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System.out.print("Enter number of nodes: 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int n = sc.nextInt();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System.out.println("Enter node values:");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for (int i = 0; i &lt; n; i++)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int val = sc.nextInt();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head = insert(head, val);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System.out.print("Linked List: 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printList(head);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boolean result = isPalindrome(head);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System.out.println("Is Palindrome? " + result);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sc.close();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3c1788ac8_0_15"/>
          <p:cNvSpPr txBox="1"/>
          <p:nvPr/>
        </p:nvSpPr>
        <p:spPr>
          <a:xfrm>
            <a:off x="228600" y="321475"/>
            <a:ext cx="81180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7" name="Google Shape;177;g373c1788ac8_0_15"/>
          <p:cNvGraphicFramePr/>
          <p:nvPr/>
        </p:nvGraphicFramePr>
        <p:xfrm>
          <a:off x="554975" y="1173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{C4676FB8-D63B-4D33-85F9-EB177673D1E9}</a:tableStyleId>
              </a:tblPr>
              <a:tblGrid>
                <a:gridCol w="3333750"/>
              </a:tblGrid>
              <a:tr h="1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Enter number of nodes: 5  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Enter node values:  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1 2 3 2 1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sp>
        <p:nvSpPr>
          <p:cNvPr id="178" name="Google Shape;178;g373c1788ac8_0_15"/>
          <p:cNvSpPr txBox="1"/>
          <p:nvPr/>
        </p:nvSpPr>
        <p:spPr>
          <a:xfrm>
            <a:off x="457200" y="685800"/>
            <a:ext cx="30000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Input: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g373c1788ac8_0_15"/>
          <p:cNvSpPr txBox="1"/>
          <p:nvPr/>
        </p:nvSpPr>
        <p:spPr>
          <a:xfrm>
            <a:off x="457200" y="2362200"/>
            <a:ext cx="30000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Output: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g373c1788ac8_0_15"/>
          <p:cNvSpPr txBox="1"/>
          <p:nvPr/>
        </p:nvSpPr>
        <p:spPr>
          <a:xfrm>
            <a:off x="554975" y="2862550"/>
            <a:ext cx="3000000" cy="554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Linked List: 1 2 3 2 1 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Palindrome? 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73c1788ac8_0_33"/>
          <p:cNvSpPr txBox="1"/>
          <p:nvPr/>
        </p:nvSpPr>
        <p:spPr>
          <a:xfrm>
            <a:off x="457200" y="321475"/>
            <a:ext cx="81180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Code Explanation 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Class and Node Structure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class: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Represents a single node of the linked list.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Contains int data and Node next.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Insert Function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 startAt="2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insert(Node head, int data):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Inserts a new node at the end of the linked list.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the list is empty, the new node becomes the head.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Reverse Function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 startAt="3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reverse(Node head):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Reverses a linked list iteratively.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prev, current, and next pointers to change direction of the links.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73d0138414_0_10"/>
          <p:cNvSpPr txBox="1"/>
          <p:nvPr/>
        </p:nvSpPr>
        <p:spPr>
          <a:xfrm>
            <a:off x="304800" y="397675"/>
            <a:ext cx="40578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Palindrome Check Function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 startAt="4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isPalindrome(Node head):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Returns true if the linked list is a palindrome, else false.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Steps: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Finds the middle of the list using slow and fast pointers.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Reverses the second half of the list.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Compares both halves node by node.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all elements match, returns true.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printList Function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 startAt="5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printList(Node head):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Prints the data in each node of the list from start to end.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g373d0138414_0_10"/>
          <p:cNvSpPr txBox="1"/>
          <p:nvPr/>
        </p:nvSpPr>
        <p:spPr>
          <a:xfrm>
            <a:off x="4967750" y="386975"/>
            <a:ext cx="34455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Main Function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 startAt="6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main(String[] args):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Takes user input using Scanner.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Builds the linked list from input values.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Displays the original list.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Calls isPalindrome() to check if it is a palindrome.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Prints the result.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g373c1dcbc4c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73c1dcbc4c_0_16"/>
          <p:cNvSpPr txBox="1"/>
          <p:nvPr/>
        </p:nvSpPr>
        <p:spPr>
          <a:xfrm>
            <a:off x="481250" y="470650"/>
            <a:ext cx="7140600" cy="41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 Complexity: O(n)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Finding the middle → O(n/2)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Reversing second half → O(n/2)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Comparing halves → O(n/2)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steps are linear, so total is O(n) time.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Space Complexity: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Iterative Approach: O(1)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extra data structures used, only pointers.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Recursive Approach (if used): O(n)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Due to recursion call stack.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3d0138414_0_6"/>
          <p:cNvSpPr txBox="1"/>
          <p:nvPr/>
        </p:nvSpPr>
        <p:spPr>
          <a:xfrm>
            <a:off x="457200" y="550075"/>
            <a:ext cx="8118000" cy="3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Advantages: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Efficient Time and Space (Iterative Approach)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 be solved in O(n) time and O(1) space using in-place reversal of the second half.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 startAt="2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Extra Data Structures Required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Unlike array or stack-based methods, the optimized approach doesn't need extra storage.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 startAt="3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Works for All Linked List Sizes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Handles even and odd-length linked lists correctly.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 startAt="4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Good Use of Linked List Properties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slow/fast pointers and reversal efficiently, showcasing pointer manipulation skills.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 startAt="5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 Restore Original List (Optional)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checking, the list can be restored to its original state if needed.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3c1788ac8_0_37"/>
          <p:cNvSpPr txBox="1"/>
          <p:nvPr/>
        </p:nvSpPr>
        <p:spPr>
          <a:xfrm>
            <a:off x="457200" y="550075"/>
            <a:ext cx="81180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Disadvantages: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Modifies the List Temporarily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optimized method reverses part of the list, which may not be acceptable if the list must remain unchanged.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Tricky to Implement for Beginners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Handling edge cases (e.g., odd/even length, single node) and reversing part of the list can be error-prone.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Recursive Version Uses Extra Space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recursive approach uses O(n) stack space, which may lead to stack overflow for very long lists.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Restoration Adds Extra Overhead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restoring the original list is required after checking, it adds an extra reversal step.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 txBox="1"/>
          <p:nvPr>
            <p:ph idx="1" type="subTitle"/>
          </p:nvPr>
        </p:nvSpPr>
        <p:spPr>
          <a:xfrm>
            <a:off x="502550" y="1320225"/>
            <a:ext cx="8520600" cy="3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300"/>
              <a:t>How can you check if a singly linked list is a palindrome?</a:t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Follow these steps: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/>
              <a:t>Find the middle of the list using slow and fast pointers.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/>
              <a:t>Reverse the second half of the list.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/>
              <a:t>Compare both halves node by node.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/>
              <a:t>If all values match, it’s a palindrome.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2694500" y="521450"/>
            <a:ext cx="3000000" cy="400200"/>
          </a:xfrm>
          <a:prstGeom prst="rect">
            <a:avLst/>
          </a:prstGeom>
          <a:solidFill>
            <a:srgbClr val="4026C7">
              <a:alpha val="70588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  1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3d0138414_0_28"/>
          <p:cNvSpPr txBox="1"/>
          <p:nvPr/>
        </p:nvSpPr>
        <p:spPr>
          <a:xfrm>
            <a:off x="2694500" y="521450"/>
            <a:ext cx="3000000" cy="400200"/>
          </a:xfrm>
          <a:prstGeom prst="rect">
            <a:avLst/>
          </a:prstGeom>
          <a:solidFill>
            <a:srgbClr val="4026C7">
              <a:alpha val="70588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  2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g373d0138414_0_28"/>
          <p:cNvSpPr txBox="1"/>
          <p:nvPr>
            <p:ph idx="1" type="subTitle"/>
          </p:nvPr>
        </p:nvSpPr>
        <p:spPr>
          <a:xfrm>
            <a:off x="502550" y="1320225"/>
            <a:ext cx="8520600" cy="3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300"/>
              <a:t>What edge cases should be considered?</a:t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 sz="1200"/>
              <a:t>Empty list: Should return true (nothing to compare).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 sz="1200"/>
              <a:t>Single node: Always a palindrome.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 sz="1200"/>
              <a:t>Even/Odd length lists: Both should be handled correctly.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 sz="1200"/>
              <a:t>Duplicates or same values: Like 1 → 1 → 1, still valid palindrome.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3d0138414_0_42"/>
          <p:cNvSpPr txBox="1"/>
          <p:nvPr>
            <p:ph idx="1" type="subTitle"/>
          </p:nvPr>
        </p:nvSpPr>
        <p:spPr>
          <a:xfrm>
            <a:off x="502550" y="1320225"/>
            <a:ext cx="85206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300"/>
              <a:t>Can this be solved recursively? What’s the drawback?</a:t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Yes, you can use recursion to traverse to the end and compare values while unwinding.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/>
              <a:t>Drawback:</a:t>
            </a:r>
            <a:r>
              <a:rPr lang="en" sz="1300"/>
              <a:t> It uses O(n) memory on the call stack, which may cause stack overflow for large lists.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300"/>
          </a:p>
        </p:txBody>
      </p:sp>
      <p:sp>
        <p:nvSpPr>
          <p:cNvPr id="225" name="Google Shape;225;g373d0138414_0_42"/>
          <p:cNvSpPr txBox="1"/>
          <p:nvPr/>
        </p:nvSpPr>
        <p:spPr>
          <a:xfrm>
            <a:off x="2694500" y="521450"/>
            <a:ext cx="3000000" cy="400200"/>
          </a:xfrm>
          <a:prstGeom prst="rect">
            <a:avLst/>
          </a:prstGeom>
          <a:solidFill>
            <a:srgbClr val="4026C7">
              <a:alpha val="70588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  3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73c1788ac8_0_49"/>
          <p:cNvSpPr txBox="1"/>
          <p:nvPr/>
        </p:nvSpPr>
        <p:spPr>
          <a:xfrm>
            <a:off x="2694500" y="521450"/>
            <a:ext cx="3000000" cy="400200"/>
          </a:xfrm>
          <a:prstGeom prst="rect">
            <a:avLst/>
          </a:prstGeom>
          <a:solidFill>
            <a:srgbClr val="4026C7">
              <a:alpha val="70588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  4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g373c1788ac8_0_49"/>
          <p:cNvSpPr txBox="1"/>
          <p:nvPr>
            <p:ph idx="1" type="subTitle"/>
          </p:nvPr>
        </p:nvSpPr>
        <p:spPr>
          <a:xfrm>
            <a:off x="502550" y="1320225"/>
            <a:ext cx="8520600" cy="3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/>
              <a:t>How do you restore the list after checking for palindromes?</a:t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After comparison: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/>
              <a:t>Reverse the second half again to restore the original structure.</a:t>
            </a:r>
            <a:br>
              <a:rPr lang="en" sz="1300"/>
            </a:b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/>
              <a:t>Reattach it to the first half.</a:t>
            </a:r>
            <a:br>
              <a:rPr lang="en" sz="1300"/>
            </a:br>
            <a:r>
              <a:rPr lang="en" sz="1300"/>
              <a:t> This is useful when the input list must not be changed.</a:t>
            </a:r>
            <a:br>
              <a:rPr lang="en" sz="1300"/>
            </a:b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fd1615692_0_0"/>
          <p:cNvSpPr txBox="1"/>
          <p:nvPr>
            <p:ph type="title"/>
          </p:nvPr>
        </p:nvSpPr>
        <p:spPr>
          <a:xfrm>
            <a:off x="1757250" y="725150"/>
            <a:ext cx="41280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807FEC"/>
                </a:solidFill>
              </a:rPr>
              <a:t>Help Desk </a:t>
            </a:r>
            <a:endParaRPr b="1" sz="2000">
              <a:solidFill>
                <a:srgbClr val="807FE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g3efd161569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30525"/>
            <a:ext cx="1295400" cy="116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efd1615692_0_0"/>
          <p:cNvSpPr txBox="1"/>
          <p:nvPr/>
        </p:nvSpPr>
        <p:spPr>
          <a:xfrm>
            <a:off x="659100" y="1842250"/>
            <a:ext cx="5316000" cy="22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Any concerns related to attendance/marks/ faculty ; you can reach out to ETHNUS helpdesk through the displayed QR code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22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https://codemithra.com/vit-helpdesk/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9" name="Google Shape;239;g3efd1615692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6625" y="1842250"/>
            <a:ext cx="2165724" cy="196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fd1615692_0_53"/>
          <p:cNvSpPr/>
          <p:nvPr/>
        </p:nvSpPr>
        <p:spPr>
          <a:xfrm>
            <a:off x="555120" y="915840"/>
            <a:ext cx="754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5" name="Google Shape;245;g3efd1615692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9160" y="913210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g3efd1615692_0_53"/>
          <p:cNvSpPr/>
          <p:nvPr/>
        </p:nvSpPr>
        <p:spPr>
          <a:xfrm>
            <a:off x="1634725" y="3801680"/>
            <a:ext cx="51840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5"/>
          <p:cNvSpPr txBox="1"/>
          <p:nvPr/>
        </p:nvSpPr>
        <p:spPr>
          <a:xfrm>
            <a:off x="3141000" y="2194650"/>
            <a:ext cx="2862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3" name="Google Shape;25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61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61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5"/>
          <p:cNvSpPr txBox="1"/>
          <p:nvPr/>
        </p:nvSpPr>
        <p:spPr>
          <a:xfrm>
            <a:off x="1980750" y="4590801"/>
            <a:ext cx="118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6" name="Google Shape;256;p1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15"/>
          <p:cNvSpPr txBox="1"/>
          <p:nvPr/>
        </p:nvSpPr>
        <p:spPr>
          <a:xfrm>
            <a:off x="3519050" y="4590801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61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5"/>
          <p:cNvSpPr txBox="1"/>
          <p:nvPr/>
        </p:nvSpPr>
        <p:spPr>
          <a:xfrm>
            <a:off x="5457275" y="4590801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0" name="Google Shape;260;p1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