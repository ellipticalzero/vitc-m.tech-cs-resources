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82" r:id="rId5"/>
    <p:sldId id="259" r:id="rId6"/>
    <p:sldId id="272" r:id="rId7"/>
    <p:sldId id="273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70" r:id="rId16"/>
    <p:sldId id="271" r:id="rId17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268" autoAdjust="0"/>
  </p:normalViewPr>
  <p:slideViewPr>
    <p:cSldViewPr snapToGrid="0">
      <p:cViewPr varScale="1">
        <p:scale>
          <a:sx n="91" d="100"/>
          <a:sy n="91" d="100"/>
        </p:scale>
        <p:origin x="1210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75f0724389_0_3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g375f0724389_0_3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5f0724389_0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g375f0724389_0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5f072438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6" name="Google Shape;76;g375f072438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6F428895-BFC4-AD67-85E9-2AB97BF8B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5f0724389_0_0:notes">
            <a:extLst>
              <a:ext uri="{FF2B5EF4-FFF2-40B4-BE49-F238E27FC236}">
                <a16:creationId xmlns:a16="http://schemas.microsoft.com/office/drawing/2014/main" id="{0B7E0D18-7B0E-8A7B-C225-04C8B5B2E8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Objective</a:t>
            </a:r>
          </a:p>
          <a:p>
            <a:r>
              <a:rPr lang="en-US" dirty="0"/>
              <a:t>Design an efficient algorithm to:</a:t>
            </a:r>
          </a:p>
          <a:p>
            <a:r>
              <a:rPr lang="en-US" dirty="0"/>
              <a:t>Detect duplicate values </a:t>
            </a:r>
          </a:p>
          <a:p>
            <a:r>
              <a:rPr lang="en-US" dirty="0"/>
              <a:t>Remove all duplicate nodes </a:t>
            </a:r>
          </a:p>
          <a:p>
            <a:r>
              <a:rPr lang="en-US" dirty="0"/>
              <a:t>Return the updated linked list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6" name="Google Shape;76;g375f0724389_0_0:notes">
            <a:extLst>
              <a:ext uri="{FF2B5EF4-FFF2-40B4-BE49-F238E27FC236}">
                <a16:creationId xmlns:a16="http://schemas.microsoft.com/office/drawing/2014/main" id="{9C2BEA75-BBE6-F8D3-E97C-07283982F6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47182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5f072438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Interviewers mainly check:</a:t>
            </a:r>
          </a:p>
          <a:p>
            <a:r>
              <a:rPr lang="en-US" dirty="0"/>
              <a:t>Proper pointer movement </a:t>
            </a:r>
          </a:p>
          <a:p>
            <a:r>
              <a:rPr lang="en-US" dirty="0"/>
              <a:t>Ability to handle consecutive duplicates </a:t>
            </a:r>
          </a:p>
          <a:p>
            <a:r>
              <a:rPr lang="en-US" dirty="0"/>
              <a:t>Clean linked list reconstruction </a:t>
            </a:r>
          </a:p>
          <a:p>
            <a:r>
              <a:rPr lang="en-US" dirty="0"/>
              <a:t>Time and space optimization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g375f072438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B53DB19E-AA87-64F1-4D65-0888B9C13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5f0724389_0_0:notes">
            <a:extLst>
              <a:ext uri="{FF2B5EF4-FFF2-40B4-BE49-F238E27FC236}">
                <a16:creationId xmlns:a16="http://schemas.microsoft.com/office/drawing/2014/main" id="{3F141620-F73A-FB58-7537-5768D519D7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/>
          </a:p>
        </p:txBody>
      </p:sp>
      <p:sp>
        <p:nvSpPr>
          <p:cNvPr id="76" name="Google Shape;76;g375f0724389_0_0:notes">
            <a:extLst>
              <a:ext uri="{FF2B5EF4-FFF2-40B4-BE49-F238E27FC236}">
                <a16:creationId xmlns:a16="http://schemas.microsoft.com/office/drawing/2014/main" id="{43182F60-0F14-3D5D-7838-7C691CB837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395294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3504ACA0-FC17-6BCA-CD1E-ECCCD73A2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5f0724389_0_0:notes">
            <a:extLst>
              <a:ext uri="{FF2B5EF4-FFF2-40B4-BE49-F238E27FC236}">
                <a16:creationId xmlns:a16="http://schemas.microsoft.com/office/drawing/2014/main" id="{12E69F67-A2F9-5DD1-BDEC-1AC5323218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Main Idea</a:t>
            </a:r>
          </a:p>
          <a:p>
            <a:r>
              <a:rPr lang="en-US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curr</a:t>
            </a:r>
            <a:r>
              <a:rPr lang="en-US" dirty="0"/>
              <a:t> → detects duplicate values </a:t>
            </a:r>
          </a:p>
          <a:p>
            <a:r>
              <a:rPr lang="en-US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prev</a:t>
            </a:r>
            <a:r>
              <a:rPr lang="en-US" dirty="0"/>
              <a:t> → stores last unique node </a:t>
            </a:r>
          </a:p>
          <a:p>
            <a:r>
              <a:rPr lang="en-US" dirty="0"/>
              <a:t>Duplicate groups are skipped completely</a:t>
            </a:r>
          </a:p>
        </p:txBody>
      </p:sp>
      <p:sp>
        <p:nvSpPr>
          <p:cNvPr id="76" name="Google Shape;76;g375f0724389_0_0:notes">
            <a:extLst>
              <a:ext uri="{FF2B5EF4-FFF2-40B4-BE49-F238E27FC236}">
                <a16:creationId xmlns:a16="http://schemas.microsoft.com/office/drawing/2014/main" id="{AD72CEB6-8315-38A9-43FA-BE53567C8C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528519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D909D343-C339-F07E-34DF-2C7A0731D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5f0724389_0_0:notes">
            <a:extLst>
              <a:ext uri="{FF2B5EF4-FFF2-40B4-BE49-F238E27FC236}">
                <a16:creationId xmlns:a16="http://schemas.microsoft.com/office/drawing/2014/main" id="{758FFAEA-B411-A59D-1F8E-B08C30CCE9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228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problem tests your understanding of linked list traversal and pointer manipulation.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lang="en-US" sz="11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lvl="0" indent="-228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is commonly solved using the Two-Pointer Technique.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6" name="Google Shape;76;g375f0724389_0_0:notes">
            <a:extLst>
              <a:ext uri="{FF2B5EF4-FFF2-40B4-BE49-F238E27FC236}">
                <a16:creationId xmlns:a16="http://schemas.microsoft.com/office/drawing/2014/main" id="{81D8AC52-4A8E-7D65-361E-7AB26824AA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230257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2DF4843B-8B5A-671E-5389-AFDCFACCC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5f0724389_0_0:notes">
            <a:extLst>
              <a:ext uri="{FF2B5EF4-FFF2-40B4-BE49-F238E27FC236}">
                <a16:creationId xmlns:a16="http://schemas.microsoft.com/office/drawing/2014/main" id="{92126F81-E56C-0A65-1A77-CFA9EB0CC8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228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problem tests your understanding of linked list traversal and pointer manipulation.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lang="en-US" sz="11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lvl="0" indent="-228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is commonly solved using the Two-Pointer Technique.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6" name="Google Shape;76;g375f0724389_0_0:notes">
            <a:extLst>
              <a:ext uri="{FF2B5EF4-FFF2-40B4-BE49-F238E27FC236}">
                <a16:creationId xmlns:a16="http://schemas.microsoft.com/office/drawing/2014/main" id="{4A1277AC-C221-04C0-AB17-5DAFE135D6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934793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A670D974-D065-447A-814D-95B3DB4C4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5f0724389_0_0:notes">
            <a:extLst>
              <a:ext uri="{FF2B5EF4-FFF2-40B4-BE49-F238E27FC236}">
                <a16:creationId xmlns:a16="http://schemas.microsoft.com/office/drawing/2014/main" id="{C20F99E0-A633-7E30-E0EE-949DE00348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228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problem tests your understanding of linked list traversal and pointer manipulation.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lang="en-US" sz="11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lvl="0" indent="-228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is commonly solved using the Two-Pointer Technique.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6" name="Google Shape;76;g375f0724389_0_0:notes">
            <a:extLst>
              <a:ext uri="{FF2B5EF4-FFF2-40B4-BE49-F238E27FC236}">
                <a16:creationId xmlns:a16="http://schemas.microsoft.com/office/drawing/2014/main" id="{A15F3A70-741A-88AF-6EA2-23747FBD5A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198618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A57E2ACD-D1F9-0552-6BE9-B7B43CDDA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5f0724389_0_0:notes">
            <a:extLst>
              <a:ext uri="{FF2B5EF4-FFF2-40B4-BE49-F238E27FC236}">
                <a16:creationId xmlns:a16="http://schemas.microsoft.com/office/drawing/2014/main" id="{5F4645C3-A076-9898-FC58-E1DD1F3FC6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228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problem tests your understanding of linked list traversal and pointer manipulation.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lang="en-US" sz="11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lvl="0" indent="-228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is commonly solved using the Two-Pointer Technique.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6" name="Google Shape;76;g375f0724389_0_0:notes">
            <a:extLst>
              <a:ext uri="{FF2B5EF4-FFF2-40B4-BE49-F238E27FC236}">
                <a16:creationId xmlns:a16="http://schemas.microsoft.com/office/drawing/2014/main" id="{32939CC2-ABBE-F957-992A-9AB3CAC858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067640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699C1DA2-C8D5-B21B-8452-04F3CF848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5f0724389_0_0:notes">
            <a:extLst>
              <a:ext uri="{FF2B5EF4-FFF2-40B4-BE49-F238E27FC236}">
                <a16:creationId xmlns:a16="http://schemas.microsoft.com/office/drawing/2014/main" id="{B47E498F-1424-B63A-2113-6244FB90D9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228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problem tests your understanding of linked list traversal and pointer manipulation.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lang="en-US" sz="11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lvl="0" indent="-228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is commonly solved using the Two-Pointer Technique.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6" name="Google Shape;76;g375f0724389_0_0:notes">
            <a:extLst>
              <a:ext uri="{FF2B5EF4-FFF2-40B4-BE49-F238E27FC236}">
                <a16:creationId xmlns:a16="http://schemas.microsoft.com/office/drawing/2014/main" id="{5A974C4B-74D0-8F19-0251-91C2158BF8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385827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E509926D-6F8E-BE52-EF96-432C901FB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5f0724389_0_0:notes">
            <a:extLst>
              <a:ext uri="{FF2B5EF4-FFF2-40B4-BE49-F238E27FC236}">
                <a16:creationId xmlns:a16="http://schemas.microsoft.com/office/drawing/2014/main" id="{FC5A4C96-F570-1DBF-DEE1-686373707D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228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problem tests your understanding of linked list traversal and pointer manipulation.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lang="en-US" sz="11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lvl="0" indent="-228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is commonly solved using the Two-Pointer Technique.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6" name="Google Shape;76;g375f0724389_0_0:notes">
            <a:extLst>
              <a:ext uri="{FF2B5EF4-FFF2-40B4-BE49-F238E27FC236}">
                <a16:creationId xmlns:a16="http://schemas.microsoft.com/office/drawing/2014/main" id="{6ABA9FE5-8A36-919B-0518-2A4BFAFBAF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896927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42DC253D-0470-1C43-2802-613292442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5f0724389_0_0:notes">
            <a:extLst>
              <a:ext uri="{FF2B5EF4-FFF2-40B4-BE49-F238E27FC236}">
                <a16:creationId xmlns:a16="http://schemas.microsoft.com/office/drawing/2014/main" id="{C6D4AEC5-AC95-5B4E-5CF3-F24378DEB7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228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problem tests your understanding of linked list traversal and pointer manipulation.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lang="en-US" sz="11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lvl="0" indent="-228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is commonly solved using the Two-Pointer Technique.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6" name="Google Shape;76;g375f0724389_0_0:notes">
            <a:extLst>
              <a:ext uri="{FF2B5EF4-FFF2-40B4-BE49-F238E27FC236}">
                <a16:creationId xmlns:a16="http://schemas.microsoft.com/office/drawing/2014/main" id="{EC3FB9A4-D28B-E570-F59A-6B04830C22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092756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75f0724389_0_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4813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g375f0724389_0_391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1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5f0724389_0_3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g375f0724389_0_3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">
  <p:cSld name="4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10" descr="A close up of a logo&#10;&#10;Description generated with high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76800" y="183600"/>
            <a:ext cx="1022401" cy="766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10" descr="A picture containing colorful, colored&#10;&#10;Description generated with very high confidence"/>
          <p:cNvPicPr preferRelativeResize="0"/>
          <p:nvPr/>
        </p:nvPicPr>
        <p:blipFill rotWithShape="1">
          <a:blip r:embed="rId3">
            <a:alphaModFix/>
          </a:blip>
          <a:srcRect t="55602" b="37530"/>
          <a:stretch/>
        </p:blipFill>
        <p:spPr>
          <a:xfrm>
            <a:off x="0" y="4849200"/>
            <a:ext cx="9144000" cy="2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0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" name="Google Shape;46;p10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" name="Google Shape;47;p10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" name="Google Shape;48;p10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>
              <a:spcBef>
                <a:spcPts val="36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2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-1" y="7219"/>
            <a:ext cx="9144003" cy="513628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learn.codemithra.com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63" name="Google Shape;63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4604" y="600291"/>
            <a:ext cx="4134799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00054" y="3386141"/>
            <a:ext cx="4743901" cy="1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4"/>
          <p:cNvSpPr txBox="1"/>
          <p:nvPr/>
        </p:nvSpPr>
        <p:spPr>
          <a:xfrm>
            <a:off x="-112472" y="2272837"/>
            <a:ext cx="5116644" cy="1175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28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Remove Duplicates from Sorted List II</a:t>
            </a:r>
            <a:endParaRPr sz="2800" b="1" i="0" u="none" strike="noStrike" cap="none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1464E5-1D80-6E21-D5BD-ED372D619CE7}"/>
              </a:ext>
            </a:extLst>
          </p:cNvPr>
          <p:cNvSpPr txBox="1"/>
          <p:nvPr/>
        </p:nvSpPr>
        <p:spPr>
          <a:xfrm>
            <a:off x="289397" y="773151"/>
            <a:ext cx="52341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8182EF"/>
                </a:solidFill>
                <a:latin typeface="Roboto" charset="0"/>
                <a:ea typeface="Roboto" charset="0"/>
                <a:cs typeface="Roboto"/>
                <a:sym typeface="Roboto"/>
              </a:rPr>
              <a:t>Introduction </a:t>
            </a:r>
            <a:br>
              <a:rPr lang="en-US" sz="4000" b="1" dirty="0">
                <a:latin typeface="Roboto"/>
                <a:ea typeface="Roboto"/>
                <a:cs typeface="Roboto"/>
                <a:sym typeface="Roboto"/>
              </a:rPr>
            </a:br>
            <a:endParaRPr lang="en-IN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907BE5-F8E1-B413-9785-108412A0E2CB}"/>
              </a:ext>
            </a:extLst>
          </p:cNvPr>
          <p:cNvSpPr txBox="1"/>
          <p:nvPr/>
        </p:nvSpPr>
        <p:spPr>
          <a:xfrm>
            <a:off x="564461" y="1410860"/>
            <a:ext cx="7836124" cy="1668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A </a:t>
            </a:r>
            <a:r>
              <a:rPr lang="en-US" b="1" dirty="0"/>
              <a:t>sorted linked list</a:t>
            </a:r>
            <a:r>
              <a:rPr lang="en-US" dirty="0"/>
              <a:t> stores elements in increasing order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Duplicate values may appear consecutively in the list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 In some applications, only </a:t>
            </a:r>
            <a:r>
              <a:rPr lang="en-US" b="1" dirty="0"/>
              <a:t>unique elements</a:t>
            </a:r>
            <a:r>
              <a:rPr lang="en-US" dirty="0"/>
              <a:t> are required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This problem focuses on removing </a:t>
            </a:r>
            <a:r>
              <a:rPr lang="en-US" b="1" dirty="0"/>
              <a:t>all duplicate nodes completely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The final linked list should contain only </a:t>
            </a:r>
            <a:r>
              <a:rPr lang="en-US" b="1" dirty="0"/>
              <a:t>distinct values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22BEC586-3154-2317-76F2-037D4496B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A98A92-F6C8-ACF5-DE71-2CDAEA2BA7B4}"/>
              </a:ext>
            </a:extLst>
          </p:cNvPr>
          <p:cNvSpPr txBox="1"/>
          <p:nvPr/>
        </p:nvSpPr>
        <p:spPr>
          <a:xfrm>
            <a:off x="289397" y="773151"/>
            <a:ext cx="52341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8182EF"/>
                </a:solidFill>
                <a:latin typeface="Roboto" charset="0"/>
                <a:ea typeface="Roboto" charset="0"/>
                <a:cs typeface="Roboto"/>
                <a:sym typeface="Roboto"/>
              </a:rPr>
              <a:t>Problem Statement </a:t>
            </a:r>
            <a:endParaRPr lang="en-IN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7D9279-5A74-2DA4-EF3C-A64C95BA2D42}"/>
              </a:ext>
            </a:extLst>
          </p:cNvPr>
          <p:cNvSpPr txBox="1"/>
          <p:nvPr/>
        </p:nvSpPr>
        <p:spPr>
          <a:xfrm>
            <a:off x="564461" y="1410860"/>
            <a:ext cx="7836124" cy="1021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Given the head of a sorted linked list, remove all nodes that contain duplicate values . Only nodes with distinct (unique) values should remain in the final linked list . The updated linked list must also remain sorted.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BC5230-A1E5-8889-32C0-A25B7B1D089F}"/>
              </a:ext>
            </a:extLst>
          </p:cNvPr>
          <p:cNvSpPr txBox="1"/>
          <p:nvPr/>
        </p:nvSpPr>
        <p:spPr>
          <a:xfrm>
            <a:off x="564460" y="2608787"/>
            <a:ext cx="7228911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If a number appears more than once:</a:t>
            </a:r>
          </a:p>
          <a:p>
            <a:r>
              <a:rPr lang="en-US" dirty="0"/>
              <a:t>	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Do not keep a single occurrence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Remove all occurrences of that number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0426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1CB7C80-4AC0-4C92-4701-F9B8D6196BD7}"/>
              </a:ext>
            </a:extLst>
          </p:cNvPr>
          <p:cNvSpPr txBox="1"/>
          <p:nvPr/>
        </p:nvSpPr>
        <p:spPr>
          <a:xfrm>
            <a:off x="159833" y="615619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8182EF"/>
                </a:solidFill>
                <a:latin typeface="Roboto" charset="0"/>
                <a:ea typeface="Roboto" charset="0"/>
                <a:cs typeface="Roboto"/>
                <a:sym typeface="Roboto"/>
              </a:rPr>
              <a:t>Interview Problem Statements</a:t>
            </a:r>
            <a:endParaRPr lang="en-IN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DE6A36-D4AE-E9B1-63C8-A10BD0391F37}"/>
              </a:ext>
            </a:extLst>
          </p:cNvPr>
          <p:cNvSpPr txBox="1"/>
          <p:nvPr/>
        </p:nvSpPr>
        <p:spPr>
          <a:xfrm>
            <a:off x="446050" y="1214288"/>
            <a:ext cx="805118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Meta — 2023</a:t>
            </a:r>
          </a:p>
          <a:p>
            <a:pPr>
              <a:buNone/>
            </a:pPr>
            <a:r>
              <a:rPr lang="en-US" b="1" dirty="0"/>
              <a:t>Problem Statement:</a:t>
            </a:r>
            <a:br>
              <a:rPr lang="en-US" dirty="0"/>
            </a:br>
            <a:r>
              <a:rPr lang="en-US" dirty="0"/>
              <a:t>Given the head of a sorted linked list, remove all nodes that contain duplicate numbers, leaving only distinct numbers in the list.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Google — 2022</a:t>
            </a:r>
          </a:p>
          <a:p>
            <a:pPr>
              <a:buNone/>
            </a:pPr>
            <a:r>
              <a:rPr lang="en-US" b="1" dirty="0"/>
              <a:t>Problem Statement:</a:t>
            </a:r>
            <a:br>
              <a:rPr lang="en-US" dirty="0"/>
            </a:br>
            <a:r>
              <a:rPr lang="en-US" dirty="0"/>
              <a:t>Delete all duplicate elements from a sorted linked list such that only unique elements remain in the final linked list.</a:t>
            </a:r>
          </a:p>
          <a:p>
            <a:endParaRPr lang="en-US" dirty="0"/>
          </a:p>
          <a:p>
            <a:r>
              <a:rPr lang="en-US" b="1" dirty="0"/>
              <a:t>Amazon — 2021</a:t>
            </a:r>
          </a:p>
          <a:p>
            <a:r>
              <a:rPr lang="en-US" b="1" dirty="0"/>
              <a:t>Problem Statement:</a:t>
            </a:r>
            <a:br>
              <a:rPr lang="en-US" dirty="0"/>
            </a:br>
            <a:r>
              <a:rPr lang="en-US" dirty="0"/>
              <a:t>Given a sorted linked list, remove every node that has duplicate values and return the updated linked list in sorted order.</a:t>
            </a:r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E2967262-9010-F59F-F23B-17EC6A269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E47122-D799-A96A-A01B-B21B0A3AA8F3}"/>
              </a:ext>
            </a:extLst>
          </p:cNvPr>
          <p:cNvSpPr txBox="1"/>
          <p:nvPr/>
        </p:nvSpPr>
        <p:spPr>
          <a:xfrm>
            <a:off x="289397" y="773151"/>
            <a:ext cx="52341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8182EF"/>
                </a:solidFill>
                <a:latin typeface="Roboto" charset="0"/>
                <a:ea typeface="Roboto" charset="0"/>
                <a:cs typeface="Roboto"/>
                <a:sym typeface="Roboto"/>
              </a:rPr>
              <a:t>Approaches</a:t>
            </a:r>
            <a:endParaRPr lang="en-I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B9A9A6-E786-89C6-4886-207FA6047464}"/>
              </a:ext>
            </a:extLst>
          </p:cNvPr>
          <p:cNvSpPr txBox="1"/>
          <p:nvPr/>
        </p:nvSpPr>
        <p:spPr>
          <a:xfrm>
            <a:off x="401216" y="1360657"/>
            <a:ext cx="5822302" cy="1668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1.Brute Force Approach (Using Extra List)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Traverse the linked list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Count frequency of each element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Create a new list containing only </a:t>
            </a:r>
          </a:p>
          <a:p>
            <a:pPr>
              <a:lnSpc>
                <a:spcPct val="150000"/>
              </a:lnSpc>
            </a:pPr>
            <a:r>
              <a:rPr lang="en-US" dirty="0"/>
              <a:t>   unique elements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CA2E91-3B14-6EF9-BEF2-E58685569631}"/>
              </a:ext>
            </a:extLst>
          </p:cNvPr>
          <p:cNvSpPr txBox="1"/>
          <p:nvPr/>
        </p:nvSpPr>
        <p:spPr>
          <a:xfrm>
            <a:off x="4646646" y="1360657"/>
            <a:ext cx="4572000" cy="1021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3. Recursive Approach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Use recursion to process nodes from front to back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Skip duplicate groups recursively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7C9F7E-0712-F36D-AAE2-3BFBF8931180}"/>
              </a:ext>
            </a:extLst>
          </p:cNvPr>
          <p:cNvSpPr txBox="1"/>
          <p:nvPr/>
        </p:nvSpPr>
        <p:spPr>
          <a:xfrm>
            <a:off x="401216" y="3140126"/>
            <a:ext cx="4609322" cy="1345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2. HashMap Approach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Store frequency of nodes using a HashMap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Traverse again and keep only nodes with</a:t>
            </a:r>
          </a:p>
          <a:p>
            <a:pPr>
              <a:lnSpc>
                <a:spcPct val="150000"/>
              </a:lnSpc>
            </a:pPr>
            <a:r>
              <a:rPr lang="en-US" dirty="0"/>
              <a:t>  frequency =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6DBA19-5E1E-162F-A027-E6DB7CE46F95}"/>
              </a:ext>
            </a:extLst>
          </p:cNvPr>
          <p:cNvSpPr txBox="1"/>
          <p:nvPr/>
        </p:nvSpPr>
        <p:spPr>
          <a:xfrm>
            <a:off x="4572000" y="2911419"/>
            <a:ext cx="4609322" cy="1345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4. Optimal Approach (Two Pointer Technique)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Use a dummy node and two pointers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Detect consecutive duplicates directly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Remove duplicate groups in-place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99E4148-4B4D-9742-3979-546EEAD6909C}"/>
              </a:ext>
            </a:extLst>
          </p:cNvPr>
          <p:cNvCxnSpPr/>
          <p:nvPr/>
        </p:nvCxnSpPr>
        <p:spPr>
          <a:xfrm>
            <a:off x="4303039" y="1369046"/>
            <a:ext cx="0" cy="31174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2988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42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charRg st="42" end="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69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charRg st="69" end="10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03" end="1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charRg st="103" end="1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39" end="1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charRg st="139" end="1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3BE7E7DD-0D40-623F-7AFB-3EF3E5FED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7923E6-B366-26DD-3111-04FC95D0AE85}"/>
              </a:ext>
            </a:extLst>
          </p:cNvPr>
          <p:cNvSpPr txBox="1"/>
          <p:nvPr/>
        </p:nvSpPr>
        <p:spPr>
          <a:xfrm>
            <a:off x="289397" y="773151"/>
            <a:ext cx="52341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8182EF"/>
                </a:solidFill>
                <a:latin typeface="Roboto" charset="0"/>
                <a:ea typeface="Roboto" charset="0"/>
                <a:cs typeface="Roboto"/>
                <a:sym typeface="Roboto"/>
              </a:rPr>
              <a:t>Pseudocode</a:t>
            </a:r>
            <a:endParaRPr lang="en-IN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66392F-06D7-C83D-E579-2BE26F35D0DE}"/>
              </a:ext>
            </a:extLst>
          </p:cNvPr>
          <p:cNvSpPr txBox="1"/>
          <p:nvPr/>
        </p:nvSpPr>
        <p:spPr>
          <a:xfrm>
            <a:off x="5523570" y="1478728"/>
            <a:ext cx="457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/// Remove duplicates</a:t>
            </a:r>
            <a:br>
              <a:rPr lang="en-IN" dirty="0"/>
            </a:br>
            <a:r>
              <a:rPr lang="en-IN" dirty="0" err="1"/>
              <a:t>prev.next</a:t>
            </a:r>
            <a:r>
              <a:rPr lang="en-IN" dirty="0"/>
              <a:t> = </a:t>
            </a:r>
            <a:r>
              <a:rPr lang="en-IN" dirty="0" err="1"/>
              <a:t>curr.next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r>
              <a:rPr lang="en-IN" dirty="0"/>
              <a:t>else{</a:t>
            </a:r>
            <a:br>
              <a:rPr lang="en-IN" dirty="0"/>
            </a:br>
            <a:r>
              <a:rPr lang="en-IN" dirty="0" err="1"/>
              <a:t>prev</a:t>
            </a:r>
            <a:r>
              <a:rPr lang="en-IN" dirty="0"/>
              <a:t> = </a:t>
            </a:r>
            <a:r>
              <a:rPr lang="en-IN" dirty="0" err="1"/>
              <a:t>prev.next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r>
              <a:rPr lang="en-IN" dirty="0" err="1"/>
              <a:t>curr</a:t>
            </a:r>
            <a:r>
              <a:rPr lang="en-IN" dirty="0"/>
              <a:t> = </a:t>
            </a:r>
            <a:r>
              <a:rPr lang="en-IN" dirty="0" err="1"/>
              <a:t>curr.next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r>
              <a:rPr lang="en-IN" dirty="0"/>
              <a:t>return </a:t>
            </a:r>
            <a:r>
              <a:rPr lang="en-IN" dirty="0" err="1"/>
              <a:t>dummy.next</a:t>
            </a:r>
            <a:endParaRPr lang="en-IN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530F9D4-335A-E0F6-FBF0-BD184348FCCA}"/>
              </a:ext>
            </a:extLst>
          </p:cNvPr>
          <p:cNvCxnSpPr>
            <a:cxnSpLocks/>
          </p:cNvCxnSpPr>
          <p:nvPr/>
        </p:nvCxnSpPr>
        <p:spPr>
          <a:xfrm>
            <a:off x="4756558" y="1173261"/>
            <a:ext cx="0" cy="348982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D3C4581-8394-97DB-0DC0-F1B504558E61}"/>
              </a:ext>
            </a:extLst>
          </p:cNvPr>
          <p:cNvSpPr txBox="1"/>
          <p:nvPr/>
        </p:nvSpPr>
        <p:spPr>
          <a:xfrm>
            <a:off x="289397" y="1345839"/>
            <a:ext cx="469364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deleteDuplicates</a:t>
            </a:r>
            <a:r>
              <a:rPr lang="en-IN" dirty="0"/>
              <a:t>(head)</a:t>
            </a:r>
          </a:p>
          <a:p>
            <a:r>
              <a:rPr lang="en-IN" dirty="0"/>
              <a:t>    create dummy node</a:t>
            </a:r>
          </a:p>
          <a:p>
            <a:r>
              <a:rPr lang="en-IN" dirty="0"/>
              <a:t>    </a:t>
            </a:r>
            <a:r>
              <a:rPr lang="en-IN" dirty="0" err="1"/>
              <a:t>dummy.next</a:t>
            </a:r>
            <a:r>
              <a:rPr lang="en-IN" dirty="0"/>
              <a:t> = head</a:t>
            </a:r>
          </a:p>
          <a:p>
            <a:r>
              <a:rPr lang="en-IN" dirty="0"/>
              <a:t>    </a:t>
            </a:r>
            <a:r>
              <a:rPr lang="en-IN" dirty="0" err="1"/>
              <a:t>ListNode</a:t>
            </a:r>
            <a:r>
              <a:rPr lang="en-IN" dirty="0"/>
              <a:t> </a:t>
            </a:r>
            <a:r>
              <a:rPr lang="en-IN" dirty="0" err="1"/>
              <a:t>prev</a:t>
            </a:r>
            <a:r>
              <a:rPr lang="en-IN" dirty="0"/>
              <a:t> = dummy</a:t>
            </a:r>
          </a:p>
          <a:p>
            <a:r>
              <a:rPr lang="en-IN" dirty="0"/>
              <a:t>    </a:t>
            </a:r>
            <a:r>
              <a:rPr lang="en-IN" dirty="0" err="1"/>
              <a:t>ListNode</a:t>
            </a:r>
            <a:r>
              <a:rPr lang="en-IN" dirty="0"/>
              <a:t> </a:t>
            </a:r>
            <a:r>
              <a:rPr lang="en-IN" dirty="0" err="1"/>
              <a:t>curr</a:t>
            </a:r>
            <a:r>
              <a:rPr lang="en-IN" dirty="0"/>
              <a:t> = head</a:t>
            </a:r>
          </a:p>
          <a:p>
            <a:r>
              <a:rPr lang="en-IN" dirty="0"/>
              <a:t>    while(</a:t>
            </a:r>
            <a:r>
              <a:rPr lang="en-IN" dirty="0" err="1"/>
              <a:t>curr</a:t>
            </a:r>
            <a:r>
              <a:rPr lang="en-IN" dirty="0"/>
              <a:t> != null)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// Check duplicates</a:t>
            </a:r>
            <a:br>
              <a:rPr lang="en-IN" dirty="0"/>
            </a:br>
            <a:r>
              <a:rPr lang="en-IN" dirty="0"/>
              <a:t>if(</a:t>
            </a:r>
            <a:r>
              <a:rPr lang="en-IN" dirty="0" err="1"/>
              <a:t>curr.next</a:t>
            </a:r>
            <a:r>
              <a:rPr lang="en-IN" dirty="0"/>
              <a:t> != null &amp;&amp; </a:t>
            </a:r>
            <a:r>
              <a:rPr lang="en-IN" dirty="0" err="1"/>
              <a:t>curr.val</a:t>
            </a:r>
            <a:r>
              <a:rPr lang="en-IN" dirty="0"/>
              <a:t> == </a:t>
            </a:r>
            <a:r>
              <a:rPr lang="en-IN" dirty="0" err="1"/>
              <a:t>curr.next.val</a:t>
            </a:r>
            <a:r>
              <a:rPr lang="en-IN" dirty="0"/>
              <a:t>){</a:t>
            </a:r>
            <a:br>
              <a:rPr lang="en-IN" dirty="0"/>
            </a:br>
            <a:r>
              <a:rPr lang="en-IN" dirty="0"/>
              <a:t>// Skip duplicate nodes</a:t>
            </a:r>
            <a:br>
              <a:rPr lang="en-IN" dirty="0"/>
            </a:br>
            <a:r>
              <a:rPr lang="en-IN" dirty="0"/>
              <a:t>while(</a:t>
            </a:r>
            <a:r>
              <a:rPr lang="en-IN" dirty="0" err="1"/>
              <a:t>curr.next</a:t>
            </a:r>
            <a:r>
              <a:rPr lang="en-IN" dirty="0"/>
              <a:t> != null &amp;&amp; </a:t>
            </a:r>
            <a:r>
              <a:rPr lang="en-IN" dirty="0" err="1"/>
              <a:t>curr.val</a:t>
            </a:r>
            <a:r>
              <a:rPr lang="en-IN" dirty="0"/>
              <a:t> == </a:t>
            </a:r>
            <a:r>
              <a:rPr lang="en-IN" dirty="0" err="1"/>
              <a:t>curr.next.val</a:t>
            </a:r>
            <a:r>
              <a:rPr lang="en-IN" dirty="0"/>
              <a:t>){</a:t>
            </a:r>
            <a:br>
              <a:rPr lang="en-IN" dirty="0"/>
            </a:br>
            <a:r>
              <a:rPr lang="en-IN" dirty="0" err="1"/>
              <a:t>curr</a:t>
            </a:r>
            <a:r>
              <a:rPr lang="en-IN" dirty="0"/>
              <a:t> = </a:t>
            </a:r>
            <a:r>
              <a:rPr lang="en-IN" dirty="0" err="1"/>
              <a:t>curr.next</a:t>
            </a:r>
            <a:br>
              <a:rPr lang="en-IN" dirty="0"/>
            </a:b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15702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A04B3263-5902-1B08-C0DA-BAB9222F3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B6E4ED-A646-C9A9-F97A-16A92386DC7A}"/>
              </a:ext>
            </a:extLst>
          </p:cNvPr>
          <p:cNvSpPr txBox="1"/>
          <p:nvPr/>
        </p:nvSpPr>
        <p:spPr>
          <a:xfrm>
            <a:off x="155174" y="605371"/>
            <a:ext cx="52341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8182EF"/>
                </a:solidFill>
                <a:latin typeface="Roboto" charset="0"/>
                <a:ea typeface="Roboto" charset="0"/>
                <a:cs typeface="Roboto"/>
                <a:sym typeface="Roboto"/>
              </a:rPr>
              <a:t>Sample Test Case </a:t>
            </a:r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D1503A-0ABF-F104-ADAD-1B592A18A1CD}"/>
              </a:ext>
            </a:extLst>
          </p:cNvPr>
          <p:cNvSpPr txBox="1"/>
          <p:nvPr/>
        </p:nvSpPr>
        <p:spPr>
          <a:xfrm>
            <a:off x="486260" y="1453824"/>
            <a:ext cx="4572000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Test Case 1</a:t>
            </a:r>
          </a:p>
          <a:p>
            <a:endParaRPr lang="en-US" b="1" dirty="0"/>
          </a:p>
          <a:p>
            <a:r>
              <a:rPr lang="en-US" b="1" dirty="0"/>
              <a:t>Input:</a:t>
            </a:r>
            <a:br>
              <a:rPr lang="en-US" dirty="0"/>
            </a:br>
            <a:r>
              <a:rPr lang="en-US" dirty="0"/>
              <a:t>1 → 2 → 3 → 3 → 4 → 4 → 5</a:t>
            </a:r>
          </a:p>
          <a:p>
            <a:r>
              <a:rPr lang="en-US" b="1" dirty="0"/>
              <a:t>Output:</a:t>
            </a:r>
            <a:br>
              <a:rPr lang="en-US" dirty="0"/>
            </a:br>
            <a:r>
              <a:rPr lang="en-US" dirty="0"/>
              <a:t>1 → 2 → 5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629150-D676-0BA2-6E7B-74FF7548B3AE}"/>
              </a:ext>
            </a:extLst>
          </p:cNvPr>
          <p:cNvSpPr txBox="1"/>
          <p:nvPr/>
        </p:nvSpPr>
        <p:spPr>
          <a:xfrm>
            <a:off x="3672281" y="1453824"/>
            <a:ext cx="246846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Test Case 2</a:t>
            </a:r>
          </a:p>
          <a:p>
            <a:endParaRPr lang="en-US" b="1" dirty="0"/>
          </a:p>
          <a:p>
            <a:r>
              <a:rPr lang="en-US" b="1" dirty="0"/>
              <a:t>Input:</a:t>
            </a:r>
            <a:br>
              <a:rPr lang="en-US" dirty="0"/>
            </a:br>
            <a:r>
              <a:rPr lang="en-US" dirty="0"/>
              <a:t>1 → 1 → 1 → 2 → 3</a:t>
            </a:r>
          </a:p>
          <a:p>
            <a:r>
              <a:rPr lang="en-US" b="1" dirty="0"/>
              <a:t>Output:</a:t>
            </a:r>
            <a:br>
              <a:rPr lang="en-US" dirty="0"/>
            </a:br>
            <a:r>
              <a:rPr lang="en-US" dirty="0"/>
              <a:t>2 → 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65C817-7E1D-A1ED-C97B-C4C38FD925DB}"/>
              </a:ext>
            </a:extLst>
          </p:cNvPr>
          <p:cNvSpPr txBox="1"/>
          <p:nvPr/>
        </p:nvSpPr>
        <p:spPr>
          <a:xfrm>
            <a:off x="6478398" y="1456353"/>
            <a:ext cx="255654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Test Case 3</a:t>
            </a:r>
          </a:p>
          <a:p>
            <a:r>
              <a:rPr lang="en-US" b="1" dirty="0"/>
              <a:t>Input:</a:t>
            </a:r>
            <a:br>
              <a:rPr lang="en-US" dirty="0"/>
            </a:br>
            <a:r>
              <a:rPr lang="en-US" dirty="0"/>
              <a:t>1 → 1 → 2 → 2 → 3 → 3</a:t>
            </a:r>
          </a:p>
          <a:p>
            <a:r>
              <a:rPr lang="en-US" b="1" dirty="0"/>
              <a:t>Output:</a:t>
            </a:r>
            <a:br>
              <a:rPr lang="en-US" dirty="0"/>
            </a:br>
            <a:r>
              <a:rPr lang="en-US" dirty="0"/>
              <a:t>Empty List</a:t>
            </a:r>
          </a:p>
        </p:txBody>
      </p:sp>
    </p:spTree>
    <p:extLst>
      <p:ext uri="{BB962C8B-B14F-4D97-AF65-F5344CB8AC3E}">
        <p14:creationId xmlns:p14="http://schemas.microsoft.com/office/powerpoint/2010/main" val="3795683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4" grpId="0" build="allAtOnce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32EF25C1-E35F-D57A-0D92-19FB3864A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897D49-F6B2-73F4-FFA8-BFAE599E7199}"/>
              </a:ext>
            </a:extLst>
          </p:cNvPr>
          <p:cNvSpPr txBox="1"/>
          <p:nvPr/>
        </p:nvSpPr>
        <p:spPr>
          <a:xfrm>
            <a:off x="146784" y="567235"/>
            <a:ext cx="52341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8182EF"/>
                </a:solidFill>
                <a:latin typeface="Roboto" charset="0"/>
                <a:ea typeface="Roboto" charset="0"/>
                <a:cs typeface="Roboto"/>
                <a:sym typeface="Roboto"/>
              </a:rPr>
              <a:t>Code </a:t>
            </a:r>
            <a:endParaRPr lang="en-IN" sz="20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A8F75C4-735C-76CE-88A4-B4833BAC1F35}"/>
              </a:ext>
            </a:extLst>
          </p:cNvPr>
          <p:cNvCxnSpPr>
            <a:cxnSpLocks/>
          </p:cNvCxnSpPr>
          <p:nvPr/>
        </p:nvCxnSpPr>
        <p:spPr>
          <a:xfrm>
            <a:off x="4530054" y="662730"/>
            <a:ext cx="0" cy="43218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E3B80D6-1366-FDD1-054C-CD9B1535430B}"/>
              </a:ext>
            </a:extLst>
          </p:cNvPr>
          <p:cNvSpPr txBox="1"/>
          <p:nvPr/>
        </p:nvSpPr>
        <p:spPr>
          <a:xfrm>
            <a:off x="255865" y="1014279"/>
            <a:ext cx="465169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import </a:t>
            </a:r>
            <a:r>
              <a:rPr lang="en-IN" dirty="0" err="1"/>
              <a:t>java.util</a:t>
            </a:r>
            <a:r>
              <a:rPr lang="en-IN" dirty="0"/>
              <a:t>.*;</a:t>
            </a:r>
          </a:p>
          <a:p>
            <a:r>
              <a:rPr lang="en-IN" dirty="0"/>
              <a:t>class </a:t>
            </a:r>
            <a:r>
              <a:rPr lang="en-IN" dirty="0" err="1"/>
              <a:t>ListNode</a:t>
            </a:r>
            <a:r>
              <a:rPr lang="en-IN" dirty="0"/>
              <a:t> {</a:t>
            </a:r>
          </a:p>
          <a:p>
            <a:r>
              <a:rPr lang="en-IN" dirty="0"/>
              <a:t>    int </a:t>
            </a:r>
            <a:r>
              <a:rPr lang="en-IN" dirty="0" err="1"/>
              <a:t>val</a:t>
            </a:r>
            <a:r>
              <a:rPr lang="en-IN" dirty="0"/>
              <a:t>;</a:t>
            </a:r>
          </a:p>
          <a:p>
            <a:r>
              <a:rPr lang="en-IN" dirty="0"/>
              <a:t>    </a:t>
            </a:r>
            <a:r>
              <a:rPr lang="en-IN" dirty="0" err="1"/>
              <a:t>ListNode</a:t>
            </a:r>
            <a:r>
              <a:rPr lang="en-IN" dirty="0"/>
              <a:t> next;</a:t>
            </a:r>
          </a:p>
          <a:p>
            <a:endParaRPr lang="en-IN" dirty="0"/>
          </a:p>
          <a:p>
            <a:r>
              <a:rPr lang="en-IN" dirty="0"/>
              <a:t>    </a:t>
            </a:r>
            <a:r>
              <a:rPr lang="en-IN" dirty="0" err="1"/>
              <a:t>ListNode</a:t>
            </a:r>
            <a:r>
              <a:rPr lang="en-IN" dirty="0"/>
              <a:t>(int v) {</a:t>
            </a:r>
          </a:p>
          <a:p>
            <a:r>
              <a:rPr lang="en-IN" dirty="0"/>
              <a:t>        </a:t>
            </a:r>
            <a:r>
              <a:rPr lang="en-IN" dirty="0" err="1"/>
              <a:t>val</a:t>
            </a:r>
            <a:r>
              <a:rPr lang="en-IN" dirty="0"/>
              <a:t> = v;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public class Main {</a:t>
            </a:r>
          </a:p>
          <a:p>
            <a:r>
              <a:rPr lang="en-IN" dirty="0"/>
              <a:t>  static </a:t>
            </a:r>
            <a:r>
              <a:rPr lang="en-IN" dirty="0" err="1"/>
              <a:t>ListNode</a:t>
            </a:r>
            <a:r>
              <a:rPr lang="en-IN" dirty="0"/>
              <a:t> </a:t>
            </a:r>
            <a:r>
              <a:rPr lang="en-IN" dirty="0" err="1"/>
              <a:t>deleteDuplicates</a:t>
            </a:r>
            <a:r>
              <a:rPr lang="en-IN" dirty="0"/>
              <a:t>(</a:t>
            </a:r>
            <a:r>
              <a:rPr lang="en-IN" dirty="0" err="1"/>
              <a:t>ListNode</a:t>
            </a:r>
            <a:r>
              <a:rPr lang="en-IN" dirty="0"/>
              <a:t> head)</a:t>
            </a:r>
          </a:p>
          <a:p>
            <a:r>
              <a:rPr lang="en-IN" dirty="0"/>
              <a:t> {</a:t>
            </a:r>
          </a:p>
          <a:p>
            <a:r>
              <a:rPr lang="en-IN" dirty="0"/>
              <a:t>        </a:t>
            </a:r>
            <a:r>
              <a:rPr lang="en-IN" dirty="0" err="1"/>
              <a:t>ListNode</a:t>
            </a:r>
            <a:r>
              <a:rPr lang="en-IN" dirty="0"/>
              <a:t> dummy = new </a:t>
            </a:r>
            <a:r>
              <a:rPr lang="en-IN" dirty="0" err="1"/>
              <a:t>ListNode</a:t>
            </a:r>
            <a:r>
              <a:rPr lang="en-IN" dirty="0"/>
              <a:t>(0);</a:t>
            </a:r>
          </a:p>
          <a:p>
            <a:r>
              <a:rPr lang="en-IN" dirty="0"/>
              <a:t>        </a:t>
            </a:r>
            <a:r>
              <a:rPr lang="en-IN" dirty="0" err="1"/>
              <a:t>dummy.next</a:t>
            </a:r>
            <a:r>
              <a:rPr lang="en-IN" dirty="0"/>
              <a:t> = head;</a:t>
            </a:r>
          </a:p>
          <a:p>
            <a:r>
              <a:rPr lang="en-IN" dirty="0"/>
              <a:t>        </a:t>
            </a:r>
            <a:r>
              <a:rPr lang="en-IN" dirty="0" err="1"/>
              <a:t>ListNode</a:t>
            </a:r>
            <a:r>
              <a:rPr lang="en-IN" dirty="0"/>
              <a:t> </a:t>
            </a:r>
            <a:r>
              <a:rPr lang="en-IN" dirty="0" err="1"/>
              <a:t>prev</a:t>
            </a:r>
            <a:r>
              <a:rPr lang="en-IN" dirty="0"/>
              <a:t> = dummy;</a:t>
            </a:r>
          </a:p>
          <a:p>
            <a:r>
              <a:rPr lang="en-IN" dirty="0"/>
              <a:t>        </a:t>
            </a:r>
            <a:r>
              <a:rPr lang="en-IN" dirty="0" err="1"/>
              <a:t>ListNode</a:t>
            </a:r>
            <a:r>
              <a:rPr lang="en-IN" dirty="0"/>
              <a:t> </a:t>
            </a:r>
            <a:r>
              <a:rPr lang="en-IN" dirty="0" err="1"/>
              <a:t>curr</a:t>
            </a:r>
            <a:r>
              <a:rPr lang="en-IN" dirty="0"/>
              <a:t> = head;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754845-F261-492C-75B1-40675D11F8BC}"/>
              </a:ext>
            </a:extLst>
          </p:cNvPr>
          <p:cNvSpPr txBox="1"/>
          <p:nvPr/>
        </p:nvSpPr>
        <p:spPr>
          <a:xfrm>
            <a:off x="4718829" y="767290"/>
            <a:ext cx="45720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while (</a:t>
            </a:r>
            <a:r>
              <a:rPr lang="en-IN" dirty="0" err="1"/>
              <a:t>curr</a:t>
            </a:r>
            <a:r>
              <a:rPr lang="en-IN" dirty="0"/>
              <a:t> != null) {</a:t>
            </a:r>
          </a:p>
          <a:p>
            <a:r>
              <a:rPr lang="en-IN" dirty="0"/>
              <a:t>            // Duplicate found</a:t>
            </a:r>
          </a:p>
          <a:p>
            <a:r>
              <a:rPr lang="en-IN" dirty="0"/>
              <a:t>           if (</a:t>
            </a:r>
            <a:r>
              <a:rPr lang="en-IN" dirty="0" err="1"/>
              <a:t>curr.next</a:t>
            </a:r>
            <a:r>
              <a:rPr lang="en-IN" dirty="0"/>
              <a:t> != null &amp;&amp; </a:t>
            </a:r>
            <a:r>
              <a:rPr lang="en-IN" dirty="0" err="1"/>
              <a:t>curr.val</a:t>
            </a:r>
            <a:r>
              <a:rPr lang="en-IN" dirty="0"/>
              <a:t> == </a:t>
            </a:r>
            <a:r>
              <a:rPr lang="en-IN" dirty="0" err="1"/>
              <a:t>curr.next.val</a:t>
            </a:r>
            <a:r>
              <a:rPr lang="en-IN" dirty="0"/>
              <a:t>) </a:t>
            </a:r>
          </a:p>
          <a:p>
            <a:r>
              <a:rPr lang="en-IN" dirty="0"/>
              <a:t>       {</a:t>
            </a:r>
          </a:p>
          <a:p>
            <a:r>
              <a:rPr lang="en-IN" dirty="0"/>
              <a:t>                // Skip all duplicates</a:t>
            </a:r>
          </a:p>
          <a:p>
            <a:r>
              <a:rPr lang="en-IN" dirty="0"/>
              <a:t>                while (</a:t>
            </a:r>
            <a:r>
              <a:rPr lang="en-IN" dirty="0" err="1"/>
              <a:t>curr.next</a:t>
            </a:r>
            <a:r>
              <a:rPr lang="en-IN" dirty="0"/>
              <a:t> != null &amp;&amp; </a:t>
            </a:r>
            <a:r>
              <a:rPr lang="en-IN" dirty="0" err="1"/>
              <a:t>curr.val</a:t>
            </a:r>
            <a:r>
              <a:rPr lang="en-IN" dirty="0"/>
              <a:t> == </a:t>
            </a:r>
            <a:r>
              <a:rPr lang="en-IN" dirty="0" err="1"/>
              <a:t>curr.next.val</a:t>
            </a:r>
            <a:r>
              <a:rPr lang="en-IN" dirty="0"/>
              <a:t>) {</a:t>
            </a:r>
          </a:p>
          <a:p>
            <a:r>
              <a:rPr lang="en-IN" dirty="0"/>
              <a:t>                    </a:t>
            </a:r>
            <a:r>
              <a:rPr lang="en-IN" dirty="0" err="1"/>
              <a:t>curr</a:t>
            </a:r>
            <a:r>
              <a:rPr lang="en-IN" dirty="0"/>
              <a:t> = </a:t>
            </a:r>
            <a:r>
              <a:rPr lang="en-IN" dirty="0" err="1"/>
              <a:t>curr.next</a:t>
            </a:r>
            <a:r>
              <a:rPr lang="en-IN" dirty="0"/>
              <a:t>;</a:t>
            </a:r>
          </a:p>
          <a:p>
            <a:r>
              <a:rPr lang="en-IN" dirty="0"/>
              <a:t>                }</a:t>
            </a:r>
          </a:p>
          <a:p>
            <a:r>
              <a:rPr lang="en-IN" dirty="0"/>
              <a:t>                // Remove duplicate group</a:t>
            </a:r>
          </a:p>
          <a:p>
            <a:r>
              <a:rPr lang="en-IN" dirty="0"/>
              <a:t>                </a:t>
            </a:r>
            <a:r>
              <a:rPr lang="en-IN" dirty="0" err="1"/>
              <a:t>prev.next</a:t>
            </a:r>
            <a:r>
              <a:rPr lang="en-IN" dirty="0"/>
              <a:t> = </a:t>
            </a:r>
            <a:r>
              <a:rPr lang="en-IN" dirty="0" err="1"/>
              <a:t>curr.next</a:t>
            </a:r>
            <a:r>
              <a:rPr lang="en-IN" dirty="0"/>
              <a:t>;</a:t>
            </a:r>
          </a:p>
          <a:p>
            <a:r>
              <a:rPr lang="en-IN" dirty="0"/>
              <a:t>            }</a:t>
            </a:r>
          </a:p>
          <a:p>
            <a:r>
              <a:rPr lang="en-IN" dirty="0"/>
              <a:t>            else {</a:t>
            </a:r>
          </a:p>
          <a:p>
            <a:r>
              <a:rPr lang="en-IN" dirty="0"/>
              <a:t>                </a:t>
            </a:r>
            <a:r>
              <a:rPr lang="en-IN" dirty="0" err="1"/>
              <a:t>prev</a:t>
            </a:r>
            <a:r>
              <a:rPr lang="en-IN" dirty="0"/>
              <a:t> = </a:t>
            </a:r>
            <a:r>
              <a:rPr lang="en-IN" dirty="0" err="1"/>
              <a:t>prev.next</a:t>
            </a:r>
            <a:r>
              <a:rPr lang="en-IN" dirty="0"/>
              <a:t>;</a:t>
            </a:r>
          </a:p>
          <a:p>
            <a:r>
              <a:rPr lang="en-IN" dirty="0"/>
              <a:t>            }</a:t>
            </a:r>
          </a:p>
          <a:p>
            <a:r>
              <a:rPr lang="en-IN" dirty="0"/>
              <a:t>            </a:t>
            </a:r>
            <a:r>
              <a:rPr lang="en-IN" dirty="0" err="1"/>
              <a:t>curr</a:t>
            </a:r>
            <a:r>
              <a:rPr lang="en-IN" dirty="0"/>
              <a:t> = </a:t>
            </a:r>
            <a:r>
              <a:rPr lang="en-IN" dirty="0" err="1"/>
              <a:t>curr.next</a:t>
            </a:r>
            <a:r>
              <a:rPr lang="en-IN" dirty="0"/>
              <a:t>;</a:t>
            </a:r>
          </a:p>
          <a:p>
            <a:r>
              <a:rPr lang="en-IN" dirty="0"/>
              <a:t>        }</a:t>
            </a:r>
          </a:p>
          <a:p>
            <a:r>
              <a:rPr lang="en-IN" dirty="0"/>
              <a:t>        return </a:t>
            </a:r>
            <a:r>
              <a:rPr lang="en-IN" dirty="0" err="1"/>
              <a:t>dummy.next</a:t>
            </a:r>
            <a:r>
              <a:rPr lang="en-IN" dirty="0"/>
              <a:t>;</a:t>
            </a:r>
          </a:p>
          <a:p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6274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D56CDA35-E95D-5A3F-F340-6366AA36D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42313D-0BD2-3049-4C19-4565AF1C1915}"/>
              </a:ext>
            </a:extLst>
          </p:cNvPr>
          <p:cNvSpPr txBox="1"/>
          <p:nvPr/>
        </p:nvSpPr>
        <p:spPr>
          <a:xfrm>
            <a:off x="138395" y="425803"/>
            <a:ext cx="52341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8182EF"/>
                </a:solidFill>
                <a:latin typeface="Roboto" charset="0"/>
                <a:ea typeface="Roboto" charset="0"/>
                <a:cs typeface="Roboto"/>
                <a:sym typeface="Roboto"/>
              </a:rPr>
              <a:t>Code </a:t>
            </a:r>
            <a:endParaRPr lang="en-IN" sz="20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AF796C1-5A4C-A113-7D98-F6153B60AA4E}"/>
              </a:ext>
            </a:extLst>
          </p:cNvPr>
          <p:cNvCxnSpPr>
            <a:cxnSpLocks/>
          </p:cNvCxnSpPr>
          <p:nvPr/>
        </p:nvCxnSpPr>
        <p:spPr>
          <a:xfrm>
            <a:off x="4555221" y="687897"/>
            <a:ext cx="0" cy="413098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3E6B936-8A6D-6238-42EF-7F5214CDD79D}"/>
              </a:ext>
            </a:extLst>
          </p:cNvPr>
          <p:cNvSpPr txBox="1"/>
          <p:nvPr/>
        </p:nvSpPr>
        <p:spPr>
          <a:xfrm>
            <a:off x="4978866" y="1017478"/>
            <a:ext cx="45720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head = </a:t>
            </a:r>
            <a:r>
              <a:rPr lang="en-US" dirty="0" err="1"/>
              <a:t>deleteDuplicates</a:t>
            </a:r>
            <a:r>
              <a:rPr lang="en-US" dirty="0"/>
              <a:t>(head);</a:t>
            </a:r>
          </a:p>
          <a:p>
            <a:endParaRPr lang="en-US" dirty="0"/>
          </a:p>
          <a:p>
            <a:r>
              <a:rPr lang="en-US" dirty="0"/>
              <a:t>        // Print updated list</a:t>
            </a:r>
          </a:p>
          <a:p>
            <a:r>
              <a:rPr lang="en-US" dirty="0"/>
              <a:t>        while (head != null) {</a:t>
            </a:r>
          </a:p>
          <a:p>
            <a:r>
              <a:rPr lang="en-US" dirty="0"/>
              <a:t>            </a:t>
            </a:r>
            <a:r>
              <a:rPr lang="en-US" dirty="0" err="1"/>
              <a:t>System.out.print</a:t>
            </a:r>
            <a:r>
              <a:rPr lang="en-US" dirty="0"/>
              <a:t>(</a:t>
            </a:r>
            <a:r>
              <a:rPr lang="en-US" dirty="0" err="1"/>
              <a:t>head.val</a:t>
            </a:r>
            <a:r>
              <a:rPr lang="en-US" dirty="0"/>
              <a:t> + " ");</a:t>
            </a:r>
          </a:p>
          <a:p>
            <a:r>
              <a:rPr lang="en-US" dirty="0"/>
              <a:t>            head = </a:t>
            </a:r>
            <a:r>
              <a:rPr lang="en-US" dirty="0" err="1"/>
              <a:t>head.next</a:t>
            </a:r>
            <a:r>
              <a:rPr lang="en-US" dirty="0"/>
              <a:t>;</a:t>
            </a:r>
          </a:p>
          <a:p>
            <a:r>
              <a:rPr lang="en-US" dirty="0"/>
              <a:t>        }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sc.close</a:t>
            </a:r>
            <a:r>
              <a:rPr lang="en-US" dirty="0"/>
              <a:t>();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54806D-D403-3BAB-C656-69B224B74866}"/>
              </a:ext>
            </a:extLst>
          </p:cNvPr>
          <p:cNvSpPr txBox="1"/>
          <p:nvPr/>
        </p:nvSpPr>
        <p:spPr>
          <a:xfrm>
            <a:off x="228600" y="1088007"/>
            <a:ext cx="485303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r>
              <a:rPr lang="en-IN" dirty="0"/>
              <a:t>        Scanner </a:t>
            </a:r>
            <a:r>
              <a:rPr lang="en-IN" dirty="0" err="1"/>
              <a:t>sc</a:t>
            </a:r>
            <a:r>
              <a:rPr lang="en-IN" dirty="0"/>
              <a:t> = new Scanner(System.in);</a:t>
            </a:r>
          </a:p>
          <a:p>
            <a:r>
              <a:rPr lang="en-IN" dirty="0"/>
              <a:t>        int n = </a:t>
            </a:r>
            <a:r>
              <a:rPr lang="en-IN" dirty="0" err="1"/>
              <a:t>sc.nextInt</a:t>
            </a:r>
            <a:r>
              <a:rPr lang="en-IN" dirty="0"/>
              <a:t>();</a:t>
            </a:r>
          </a:p>
          <a:p>
            <a:r>
              <a:rPr lang="en-IN" dirty="0"/>
              <a:t>        </a:t>
            </a:r>
            <a:r>
              <a:rPr lang="en-IN" dirty="0" err="1"/>
              <a:t>ListNode</a:t>
            </a:r>
            <a:r>
              <a:rPr lang="en-IN" dirty="0"/>
              <a:t> head = null, temp = null;</a:t>
            </a:r>
          </a:p>
          <a:p>
            <a:r>
              <a:rPr lang="en-IN" dirty="0"/>
              <a:t> // Create linked list</a:t>
            </a:r>
          </a:p>
          <a:p>
            <a:r>
              <a:rPr lang="en-IN" dirty="0"/>
              <a:t>        for (int </a:t>
            </a:r>
            <a:r>
              <a:rPr lang="en-IN" dirty="0" err="1"/>
              <a:t>i</a:t>
            </a:r>
            <a:r>
              <a:rPr lang="en-IN" dirty="0"/>
              <a:t> = 0; </a:t>
            </a:r>
            <a:r>
              <a:rPr lang="en-IN" dirty="0" err="1"/>
              <a:t>i</a:t>
            </a:r>
            <a:r>
              <a:rPr lang="en-IN" dirty="0"/>
              <a:t> &lt; n; </a:t>
            </a:r>
            <a:r>
              <a:rPr lang="en-IN" dirty="0" err="1"/>
              <a:t>i</a:t>
            </a:r>
            <a:r>
              <a:rPr lang="en-IN" dirty="0"/>
              <a:t>++) {</a:t>
            </a:r>
          </a:p>
          <a:p>
            <a:r>
              <a:rPr lang="en-IN" dirty="0"/>
              <a:t>            </a:t>
            </a:r>
            <a:r>
              <a:rPr lang="en-IN" dirty="0" err="1"/>
              <a:t>ListNode</a:t>
            </a:r>
            <a:r>
              <a:rPr lang="en-IN" dirty="0"/>
              <a:t> node = new </a:t>
            </a:r>
            <a:r>
              <a:rPr lang="en-IN" dirty="0" err="1"/>
              <a:t>ListNode</a:t>
            </a:r>
            <a:r>
              <a:rPr lang="en-IN" dirty="0"/>
              <a:t>(</a:t>
            </a:r>
            <a:r>
              <a:rPr lang="en-IN" dirty="0" err="1"/>
              <a:t>sc.nextInt</a:t>
            </a:r>
            <a:r>
              <a:rPr lang="en-IN" dirty="0"/>
              <a:t>());</a:t>
            </a:r>
          </a:p>
          <a:p>
            <a:r>
              <a:rPr lang="en-IN" dirty="0"/>
              <a:t>            if (head == null) {</a:t>
            </a:r>
          </a:p>
          <a:p>
            <a:r>
              <a:rPr lang="en-IN" dirty="0"/>
              <a:t>                head = temp = node;</a:t>
            </a:r>
          </a:p>
          <a:p>
            <a:r>
              <a:rPr lang="en-IN" dirty="0"/>
              <a:t>            }</a:t>
            </a:r>
          </a:p>
          <a:p>
            <a:r>
              <a:rPr lang="en-IN" dirty="0"/>
              <a:t>            else {</a:t>
            </a:r>
          </a:p>
          <a:p>
            <a:r>
              <a:rPr lang="en-IN" dirty="0"/>
              <a:t>                </a:t>
            </a:r>
            <a:r>
              <a:rPr lang="en-IN" dirty="0" err="1"/>
              <a:t>temp.next</a:t>
            </a:r>
            <a:r>
              <a:rPr lang="en-IN" dirty="0"/>
              <a:t> = node;</a:t>
            </a:r>
          </a:p>
          <a:p>
            <a:r>
              <a:rPr lang="en-IN" dirty="0"/>
              <a:t>                temp = node;</a:t>
            </a:r>
          </a:p>
          <a:p>
            <a:r>
              <a:rPr lang="en-IN" dirty="0"/>
              <a:t>          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3765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allAtOnce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90C8C245-1960-CBB9-7E94-5F5AAB13A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957A22-E374-597E-17CC-C3130BE647A5}"/>
              </a:ext>
            </a:extLst>
          </p:cNvPr>
          <p:cNvSpPr txBox="1"/>
          <p:nvPr/>
        </p:nvSpPr>
        <p:spPr>
          <a:xfrm>
            <a:off x="289397" y="773151"/>
            <a:ext cx="52341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8182EF"/>
                </a:solidFill>
                <a:latin typeface="Roboto" charset="0"/>
                <a:ea typeface="Roboto" charset="0"/>
                <a:cs typeface="Roboto"/>
                <a:sym typeface="Roboto"/>
              </a:rPr>
              <a:t>Time &amp; Space Complexity </a:t>
            </a:r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29EFC8-3A49-9ADE-E596-0C044F920D1F}"/>
              </a:ext>
            </a:extLst>
          </p:cNvPr>
          <p:cNvSpPr txBox="1"/>
          <p:nvPr/>
        </p:nvSpPr>
        <p:spPr>
          <a:xfrm>
            <a:off x="564460" y="1410860"/>
            <a:ext cx="8579539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/>
              <a:t>Time Complexity: </a:t>
            </a:r>
            <a:r>
              <a:rPr lang="en-IN" b="1" dirty="0"/>
              <a:t>O(N)</a:t>
            </a:r>
          </a:p>
          <a:p>
            <a:r>
              <a:rPr lang="en-US" dirty="0"/>
              <a:t>	The linked list is traversed only once </a:t>
            </a:r>
          </a:p>
          <a:p>
            <a:r>
              <a:rPr lang="en-US" dirty="0"/>
              <a:t>	Curr(pointer name as per the code) pointer moves through each node exactly one time </a:t>
            </a:r>
          </a:p>
          <a:p>
            <a:r>
              <a:rPr lang="en-US" dirty="0"/>
              <a:t>	Even while skipping duplicates, nodes are not revisited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E68449-74FE-5689-6940-ADC5E10355CD}"/>
              </a:ext>
            </a:extLst>
          </p:cNvPr>
          <p:cNvSpPr txBox="1"/>
          <p:nvPr/>
        </p:nvSpPr>
        <p:spPr>
          <a:xfrm>
            <a:off x="620482" y="2925732"/>
            <a:ext cx="691283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Space Complexity: </a:t>
            </a:r>
            <a:r>
              <a:rPr lang="en-US" b="1" dirty="0"/>
              <a:t>O(1)</a:t>
            </a:r>
          </a:p>
          <a:p>
            <a:r>
              <a:rPr lang="en-US" dirty="0"/>
              <a:t>	No extra arrays, stacks, or </a:t>
            </a:r>
            <a:r>
              <a:rPr lang="en-US" dirty="0" err="1"/>
              <a:t>hashmaps</a:t>
            </a:r>
            <a:r>
              <a:rPr lang="en-US" dirty="0"/>
              <a:t> are used </a:t>
            </a:r>
          </a:p>
          <a:p>
            <a:r>
              <a:rPr lang="en-US" dirty="0"/>
              <a:t>	Only a few pointers are created:  </a:t>
            </a:r>
          </a:p>
          <a:p>
            <a:r>
              <a:rPr lang="en-US" dirty="0"/>
              <a:t>	Memory usage remains constant regardless of list size</a:t>
            </a:r>
          </a:p>
        </p:txBody>
      </p:sp>
    </p:spTree>
    <p:extLst>
      <p:ext uri="{BB962C8B-B14F-4D97-AF65-F5344CB8AC3E}">
        <p14:creationId xmlns:p14="http://schemas.microsoft.com/office/powerpoint/2010/main" val="150815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build="allAtOnce"/>
      <p:bldP spid="4" grpId="0" build="allAtOnce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D4E3365E-FB87-3E9F-7C65-F1EAD3BCC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CEFB07-D068-71F9-CEA6-191335458853}"/>
              </a:ext>
            </a:extLst>
          </p:cNvPr>
          <p:cNvSpPr txBox="1"/>
          <p:nvPr/>
        </p:nvSpPr>
        <p:spPr>
          <a:xfrm>
            <a:off x="1865436" y="2279401"/>
            <a:ext cx="52341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8182EF"/>
                </a:solidFill>
                <a:latin typeface="Roboto" charset="0"/>
                <a:ea typeface="Roboto" charset="0"/>
                <a:cs typeface="Roboto"/>
                <a:sym typeface="Roboto"/>
              </a:rPr>
              <a:t>INTERVIEW QUESTIONS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4071293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A60FF9D3-EDC2-D867-F6B8-75A9FB7D9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EBCF706-1B07-2357-C6BE-5584104C8640}"/>
              </a:ext>
            </a:extLst>
          </p:cNvPr>
          <p:cNvSpPr txBox="1"/>
          <p:nvPr/>
        </p:nvSpPr>
        <p:spPr>
          <a:xfrm>
            <a:off x="356532" y="610476"/>
            <a:ext cx="9139806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 Why is a dummy node used in this problem?</a:t>
            </a:r>
          </a:p>
          <a:p>
            <a:r>
              <a:rPr lang="en-US" b="1" dirty="0"/>
              <a:t>Answer:</a:t>
            </a:r>
            <a:br>
              <a:rPr lang="en-US" dirty="0"/>
            </a:br>
            <a:r>
              <a:rPr lang="en-US" dirty="0"/>
              <a:t>A dummy node helps handle edge cases easily, especially when duplicate nodes appear at the beginning </a:t>
            </a:r>
          </a:p>
          <a:p>
            <a:r>
              <a:rPr lang="en-US" dirty="0"/>
              <a:t>of the list.</a:t>
            </a:r>
          </a:p>
          <a:p>
            <a:endParaRPr lang="en-US" dirty="0"/>
          </a:p>
          <a:p>
            <a:r>
              <a:rPr lang="en-US" b="1" dirty="0"/>
              <a:t>2. Why is the sorted property important here?</a:t>
            </a:r>
          </a:p>
          <a:p>
            <a:r>
              <a:rPr lang="en-US" b="1" dirty="0"/>
              <a:t>Answer:</a:t>
            </a:r>
            <a:br>
              <a:rPr lang="en-US" dirty="0"/>
            </a:br>
            <a:r>
              <a:rPr lang="en-US" dirty="0"/>
              <a:t>Because duplicate values appear consecutively, making them easier to detect and remove efficiently.</a:t>
            </a:r>
          </a:p>
          <a:p>
            <a:br>
              <a:rPr lang="en-US" dirty="0"/>
            </a:br>
            <a:r>
              <a:rPr lang="en-US" b="1" dirty="0"/>
              <a:t>3. What happens if all nodes contain duplicates?</a:t>
            </a:r>
          </a:p>
          <a:p>
            <a:r>
              <a:rPr lang="en-US" b="1" dirty="0"/>
              <a:t>Answer:</a:t>
            </a:r>
            <a:br>
              <a:rPr lang="en-US" dirty="0"/>
            </a:br>
            <a:r>
              <a:rPr lang="en-US" dirty="0"/>
              <a:t>All nodes are removed, and the final linked list becomes empty (null).</a:t>
            </a:r>
          </a:p>
          <a:p>
            <a:endParaRPr lang="en-US" dirty="0"/>
          </a:p>
          <a:p>
            <a:r>
              <a:rPr lang="en-US" b="1" dirty="0"/>
              <a:t>4. Why do we use two pointers (</a:t>
            </a:r>
            <a:r>
              <a:rPr lang="en-US" b="1" dirty="0" err="1"/>
              <a:t>prev</a:t>
            </a:r>
            <a:r>
              <a:rPr lang="en-US" b="1" dirty="0"/>
              <a:t> and </a:t>
            </a:r>
            <a:r>
              <a:rPr lang="en-US" b="1" dirty="0" err="1"/>
              <a:t>curr</a:t>
            </a:r>
            <a:r>
              <a:rPr lang="en-US" b="1" dirty="0"/>
              <a:t>)?</a:t>
            </a:r>
          </a:p>
          <a:p>
            <a:r>
              <a:rPr lang="en-US" b="1" dirty="0"/>
              <a:t>Answer:</a:t>
            </a:r>
            <a:endParaRPr lang="en-US" dirty="0"/>
          </a:p>
          <a:p>
            <a:r>
              <a:rPr lang="en-US" dirty="0" err="1"/>
              <a:t>curr</a:t>
            </a:r>
            <a:r>
              <a:rPr lang="en-US" dirty="0"/>
              <a:t> is used to detect duplicates </a:t>
            </a:r>
          </a:p>
          <a:p>
            <a:r>
              <a:rPr lang="en-US" dirty="0" err="1"/>
              <a:t>prev</a:t>
            </a:r>
            <a:r>
              <a:rPr lang="en-US" dirty="0"/>
              <a:t> is used to connect only unique nodes</a:t>
            </a:r>
          </a:p>
        </p:txBody>
      </p:sp>
    </p:spTree>
    <p:extLst>
      <p:ext uri="{BB962C8B-B14F-4D97-AF65-F5344CB8AC3E}">
        <p14:creationId xmlns:p14="http://schemas.microsoft.com/office/powerpoint/2010/main" val="4026496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FA0B212F-1150-EC14-D9FC-54BD36323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116F499-8145-7699-91AE-1196D074FA78}"/>
              </a:ext>
            </a:extLst>
          </p:cNvPr>
          <p:cNvSpPr txBox="1"/>
          <p:nvPr/>
        </p:nvSpPr>
        <p:spPr>
          <a:xfrm>
            <a:off x="306199" y="802035"/>
            <a:ext cx="913980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5. What is the time complexity of the optimized solution?</a:t>
            </a:r>
          </a:p>
          <a:p>
            <a:pPr>
              <a:buNone/>
            </a:pPr>
            <a:r>
              <a:rPr lang="en-US" b="1" dirty="0"/>
              <a:t>Answer:</a:t>
            </a:r>
            <a:br>
              <a:rPr lang="en-US" dirty="0"/>
            </a:br>
            <a:r>
              <a:rPr lang="en-US" dirty="0"/>
              <a:t>O(N), because each node is visited only once.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6. What is the space complexity of the solution?</a:t>
            </a:r>
          </a:p>
          <a:p>
            <a:pPr>
              <a:buNone/>
            </a:pPr>
            <a:r>
              <a:rPr lang="en-US" b="1" dirty="0"/>
              <a:t>Answer:</a:t>
            </a:r>
            <a:br>
              <a:rPr lang="en-US" dirty="0"/>
            </a:br>
            <a:r>
              <a:rPr lang="en-US" dirty="0"/>
              <a:t>O(1), because no extra data structures are used.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7. What is the difference between this problem and “Remove Duplicates from Sorted List I”?</a:t>
            </a:r>
          </a:p>
          <a:p>
            <a:pPr>
              <a:buNone/>
            </a:pPr>
            <a:r>
              <a:rPr lang="en-US" b="1" dirty="0"/>
              <a:t>Answer: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 Problem I → keep one duplicate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 Problem II → remove all duplicate values completely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8. Why do we skip all duplicate nodes instead of deleting one node at a time?</a:t>
            </a:r>
          </a:p>
          <a:p>
            <a:pPr>
              <a:buNone/>
            </a:pPr>
            <a:r>
              <a:rPr lang="en-US" b="1" dirty="0"/>
              <a:t>Answer:</a:t>
            </a:r>
            <a:br>
              <a:rPr lang="en-US" dirty="0"/>
            </a:br>
            <a:r>
              <a:rPr lang="en-US" dirty="0"/>
              <a:t>Because the problem requires removing the entire duplicate group completely.</a:t>
            </a:r>
          </a:p>
        </p:txBody>
      </p:sp>
    </p:spTree>
    <p:extLst>
      <p:ext uri="{BB962C8B-B14F-4D97-AF65-F5344CB8AC3E}">
        <p14:creationId xmlns:p14="http://schemas.microsoft.com/office/powerpoint/2010/main" val="2284338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/>
          <p:nvPr/>
        </p:nvSpPr>
        <p:spPr>
          <a:xfrm>
            <a:off x="555120" y="915840"/>
            <a:ext cx="75450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3" name="Google Shape;153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84385" y="915840"/>
            <a:ext cx="2855119" cy="2888456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7"/>
          <p:cNvSpPr/>
          <p:nvPr/>
        </p:nvSpPr>
        <p:spPr>
          <a:xfrm>
            <a:off x="1980000" y="4085310"/>
            <a:ext cx="51840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82925" rIns="81625" bIns="82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sng" strike="noStrike" cap="none" dirty="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https://learn.codemithra.com</a:t>
            </a:r>
            <a:endParaRPr sz="1200" b="0" i="0" u="none" strike="noStrike" cap="none" dirty="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endParaRPr/>
          </a:p>
        </p:txBody>
      </p:sp>
      <p:sp>
        <p:nvSpPr>
          <p:cNvPr id="160" name="Google Shape;160;p2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61" name="Google Shape;161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8"/>
          <p:cNvSpPr txBox="1"/>
          <p:nvPr/>
        </p:nvSpPr>
        <p:spPr>
          <a:xfrm>
            <a:off x="3141000" y="2194650"/>
            <a:ext cx="28620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n" sz="37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sz="37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3" name="Google Shape;163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52016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72650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8"/>
          <p:cNvSpPr txBox="1"/>
          <p:nvPr/>
        </p:nvSpPr>
        <p:spPr>
          <a:xfrm>
            <a:off x="1980750" y="4590801"/>
            <a:ext cx="1187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+91 78150 95095</a:t>
            </a:r>
            <a:endParaRPr sz="10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6" name="Google Shape;166;p28"/>
          <p:cNvCxnSpPr/>
          <p:nvPr/>
        </p:nvCxnSpPr>
        <p:spPr>
          <a:xfrm rot="10800000">
            <a:off x="3220250" y="4619675"/>
            <a:ext cx="0" cy="3000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7" name="Google Shape;167;p28"/>
          <p:cNvSpPr txBox="1"/>
          <p:nvPr/>
        </p:nvSpPr>
        <p:spPr>
          <a:xfrm>
            <a:off x="3519050" y="4590801"/>
            <a:ext cx="193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codemithra@ethnus.com</a:t>
            </a:r>
            <a:endParaRPr sz="10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8" name="Google Shape;168;p2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23771" y="4591063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8"/>
          <p:cNvSpPr txBox="1"/>
          <p:nvPr/>
        </p:nvSpPr>
        <p:spPr>
          <a:xfrm>
            <a:off x="5457275" y="4590801"/>
            <a:ext cx="193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www.codemithra.com</a:t>
            </a:r>
            <a:endParaRPr sz="10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0" name="Google Shape;170;p28"/>
          <p:cNvCxnSpPr/>
          <p:nvPr/>
        </p:nvCxnSpPr>
        <p:spPr>
          <a:xfrm rot="10800000">
            <a:off x="5166625" y="4610150"/>
            <a:ext cx="0" cy="3000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1404</Words>
  <Application>Microsoft Office PowerPoint</Application>
  <PresentationFormat>On-screen Show (16:9)</PresentationFormat>
  <Paragraphs>201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Roboto</vt:lpstr>
      <vt:lpstr>Wingdings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Rajesh</dc:creator>
  <cp:lastModifiedBy>Rajesh K</cp:lastModifiedBy>
  <cp:revision>4</cp:revision>
  <dcterms:modified xsi:type="dcterms:W3CDTF">2026-05-19T06:58:42Z</dcterms:modified>
</cp:coreProperties>
</file>