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y="5143500" cx="9144000"/>
  <p:notesSz cx="6858000" cy="9144000"/>
  <p:embeddedFontLst>
    <p:embeddedFont>
      <p:font typeface="Roboto Black"/>
      <p:bold r:id="rId38"/>
      <p:boldItalic r:id="rId39"/>
    </p:embeddedFon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5.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Robot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RobotoBlack-boldItalic.fntdata"/><Relationship Id="rId16" Type="http://schemas.openxmlformats.org/officeDocument/2006/relationships/slide" Target="slides/slide11.xml"/><Relationship Id="rId38" Type="http://schemas.openxmlformats.org/officeDocument/2006/relationships/font" Target="fonts/RobotoBlack-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fd17a83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3efd17a83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Roboto"/>
              <a:buNone/>
            </a:pPr>
            <a:r>
              <a:t/>
            </a:r>
            <a:endParaRPr>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df1c339f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df1c339f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f1c339f5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f1c339f5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f1c339f5d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df1c339f5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Function reverseLinkedList(head):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prev ← null</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curr ← head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while curr ≠ null:</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next ← curr.next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curr.next ← prev</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prev ← curr</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curr ← next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head ← prev</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return head</a:t>
            </a:r>
            <a:endParaRPr sz="1200">
              <a:solidFill>
                <a:schemeClr val="dk1"/>
              </a:solidFill>
              <a:latin typeface="Roboto"/>
              <a:ea typeface="Roboto"/>
              <a:cs typeface="Roboto"/>
              <a:sym typeface="Roboto"/>
            </a:endParaRPr>
          </a:p>
          <a:p>
            <a:pPr indent="0" lvl="0" marL="0" rtl="0" algn="l">
              <a:lnSpc>
                <a:spcPct val="115000"/>
              </a:lnSpc>
              <a:spcBef>
                <a:spcPts val="0"/>
              </a:spcBef>
              <a:spcAft>
                <a:spcPts val="0"/>
              </a:spcAft>
              <a:buSzPts val="1100"/>
              <a:buNone/>
            </a:pPr>
            <a:r>
              <a:t/>
            </a:r>
            <a:endParaRPr sz="1200">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import java.util.Scanner;</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class Node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int data;</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Node next;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Node(int data)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this.data = data;</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this.next = null;</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public class ReverseLinkedList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 Method to print linked list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static void printList(Node head)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Node temp = head;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while (temp != null)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System.out.print(temp.data + "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temp = temp.next;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System.out.println();</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 Method to reverse the linked list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static Node reverse(Node head)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Node prev = null;</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Node current = head;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Node next = null;</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while (current != null)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next = current.next;    // store next node</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current.next = prev;    // reverse pointer</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prev = current;         // move prev forward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current = next;         // move current forward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return prev; // new head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public static void main(String[] args)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Scanner sc = new Scanner(System.in);</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Node head = null, tail = null;</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System.out.print("Enter number of elements in the list: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int n = sc.nextInt();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System.out.println("Enter " + n + " elements:");</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for (int i = 0; i &lt; n; i++)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int data = sc.nextInt();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Node newNode = new Node(data);</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if (head == null)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head = newNode;</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tail = newNode;</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 else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tail.next = newNode;</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tail = newNode;</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System.out.print("Original Linked List: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printList(head);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head = reverse(head);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System.out.print("Reversed Linked List: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printList(head);</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sc.close();</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    }</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Clr>
                <a:schemeClr val="dk1"/>
              </a:buClr>
              <a:buSzPts val="1100"/>
              <a:buFont typeface="Arial"/>
              <a:buNone/>
            </a:pPr>
            <a:r>
              <a:rPr lang="en" sz="1200">
                <a:solidFill>
                  <a:schemeClr val="dk1"/>
                </a:solidFill>
                <a:latin typeface="Roboto"/>
                <a:ea typeface="Roboto"/>
                <a:cs typeface="Roboto"/>
                <a:sym typeface="Roboto"/>
              </a:rPr>
              <a:t>}</a:t>
            </a:r>
            <a:endParaRPr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 name="Google Shape;2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5" name="Google Shape;24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0" name="Google Shape;270;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df1ae9f95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df1ae9f95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df1ae9f95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df1ae9f95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df1c339f5d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df1c339f5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f263e2dd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f263e2dd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df1ae9f95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3df1ae9f95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efd17a83ba_0_100: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6" name="Google Shape;326;g3efd17a83ba_0_100: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Roboto"/>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Roboto"/>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 name="Google Shape;14;p2"/>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5" name="Google Shape;15;p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6" name="Google Shape;16;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7" name="Google Shape;17;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0" name="Google Shape;20;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1" name="Google Shape;21;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2" name="Shape 22"/>
        <p:cNvGrpSpPr/>
        <p:nvPr/>
      </p:nvGrpSpPr>
      <p:grpSpPr>
        <a:xfrm>
          <a:off x="0" y="0"/>
          <a:ext cx="0" cy="0"/>
          <a:chOff x="0" y="0"/>
          <a:chExt cx="0" cy="0"/>
        </a:xfrm>
      </p:grpSpPr>
      <p:sp>
        <p:nvSpPr>
          <p:cNvPr id="23" name="Google Shape;23;p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4" name="Google Shape;24;p4"/>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5" name="Google Shape;25;p4"/>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6" name="Google Shape;26;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7" name="Google Shape;27;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28" name="Google Shape;28;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9" name="Shape 29"/>
        <p:cNvGrpSpPr/>
        <p:nvPr/>
      </p:nvGrpSpPr>
      <p:grpSpPr>
        <a:xfrm>
          <a:off x="0" y="0"/>
          <a:ext cx="0" cy="0"/>
          <a:chOff x="0" y="0"/>
          <a:chExt cx="0" cy="0"/>
        </a:xfrm>
      </p:grpSpPr>
      <p:sp>
        <p:nvSpPr>
          <p:cNvPr id="30" name="Google Shape;30;p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1" name="Google Shape;31;p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Google Shape;32;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3" name="Google Shape;33;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34" name="Google Shape;34;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572700"/>
          </a:xfrm>
          <a:prstGeom prst="rect">
            <a:avLst/>
          </a:prstGeom>
          <a:noFill/>
          <a:ln>
            <a:noFill/>
          </a:ln>
        </p:spPr>
        <p:txBody>
          <a:bodyPr anchorCtr="0" anchor="t" bIns="68575" lIns="68575" spcFirstLastPara="1" rIns="68575" wrap="square" tIns="68575">
            <a:noAutofit/>
          </a:bodyPr>
          <a:lstStyle>
            <a:lvl1pPr lvl="0" algn="l">
              <a:lnSpc>
                <a:spcPct val="100000"/>
              </a:lnSpc>
              <a:spcBef>
                <a:spcPts val="0"/>
              </a:spcBef>
              <a:spcAft>
                <a:spcPts val="0"/>
              </a:spcAft>
              <a:buClr>
                <a:schemeClr val="dk1"/>
              </a:buClr>
              <a:buSzPts val="2100"/>
              <a:buFont typeface="Roboto"/>
              <a:buNone/>
              <a:defRPr/>
            </a:lvl1pPr>
            <a:lvl2pPr lvl="1" algn="l">
              <a:lnSpc>
                <a:spcPct val="100000"/>
              </a:lnSpc>
              <a:spcBef>
                <a:spcPts val="0"/>
              </a:spcBef>
              <a:spcAft>
                <a:spcPts val="0"/>
              </a:spcAft>
              <a:buSzPts val="2100"/>
              <a:buNone/>
              <a:defRPr/>
            </a:lvl2pPr>
            <a:lvl3pPr lvl="2" algn="l">
              <a:lnSpc>
                <a:spcPct val="100000"/>
              </a:lnSpc>
              <a:spcBef>
                <a:spcPts val="0"/>
              </a:spcBef>
              <a:spcAft>
                <a:spcPts val="0"/>
              </a:spcAft>
              <a:buSzPts val="2100"/>
              <a:buNone/>
              <a:defRPr/>
            </a:lvl3pPr>
            <a:lvl4pPr lvl="3" algn="l">
              <a:lnSpc>
                <a:spcPct val="100000"/>
              </a:lnSpc>
              <a:spcBef>
                <a:spcPts val="0"/>
              </a:spcBef>
              <a:spcAft>
                <a:spcPts val="0"/>
              </a:spcAft>
              <a:buSzPts val="2100"/>
              <a:buNone/>
              <a:defRPr/>
            </a:lvl4pPr>
            <a:lvl5pPr lvl="4" algn="l">
              <a:lnSpc>
                <a:spcPct val="100000"/>
              </a:lnSpc>
              <a:spcBef>
                <a:spcPts val="0"/>
              </a:spcBef>
              <a:spcAft>
                <a:spcPts val="0"/>
              </a:spcAft>
              <a:buSzPts val="2100"/>
              <a:buNone/>
              <a:defRPr/>
            </a:lvl5pPr>
            <a:lvl6pPr lvl="5" algn="l">
              <a:lnSpc>
                <a:spcPct val="100000"/>
              </a:lnSpc>
              <a:spcBef>
                <a:spcPts val="0"/>
              </a:spcBef>
              <a:spcAft>
                <a:spcPts val="0"/>
              </a:spcAft>
              <a:buSzPts val="2100"/>
              <a:buNone/>
              <a:defRPr/>
            </a:lvl6pPr>
            <a:lvl7pPr lvl="6" algn="l">
              <a:lnSpc>
                <a:spcPct val="100000"/>
              </a:lnSpc>
              <a:spcBef>
                <a:spcPts val="0"/>
              </a:spcBef>
              <a:spcAft>
                <a:spcPts val="0"/>
              </a:spcAft>
              <a:buSzPts val="2100"/>
              <a:buNone/>
              <a:defRPr/>
            </a:lvl7pPr>
            <a:lvl8pPr lvl="7" algn="l">
              <a:lnSpc>
                <a:spcPct val="100000"/>
              </a:lnSpc>
              <a:spcBef>
                <a:spcPts val="0"/>
              </a:spcBef>
              <a:spcAft>
                <a:spcPts val="0"/>
              </a:spcAft>
              <a:buSzPts val="2100"/>
              <a:buNone/>
              <a:defRPr/>
            </a:lvl8pPr>
            <a:lvl9pPr lvl="8" algn="l">
              <a:lnSpc>
                <a:spcPct val="100000"/>
              </a:lnSpc>
              <a:spcBef>
                <a:spcPts val="0"/>
              </a:spcBef>
              <a:spcAft>
                <a:spcPts val="0"/>
              </a:spcAft>
              <a:buSzPts val="2100"/>
              <a:buNone/>
              <a:defRPr/>
            </a:lvl9pPr>
          </a:lstStyle>
          <a:p/>
        </p:txBody>
      </p:sp>
      <p:sp>
        <p:nvSpPr>
          <p:cNvPr id="37" name="Google Shape;37;p6"/>
          <p:cNvSpPr txBox="1"/>
          <p:nvPr>
            <p:ph idx="1" type="body"/>
          </p:nvPr>
        </p:nvSpPr>
        <p:spPr>
          <a:xfrm>
            <a:off x="311700" y="1152475"/>
            <a:ext cx="8520600" cy="3416400"/>
          </a:xfrm>
          <a:prstGeom prst="rect">
            <a:avLst/>
          </a:prstGeom>
          <a:noFill/>
          <a:ln>
            <a:noFill/>
          </a:ln>
        </p:spPr>
        <p:txBody>
          <a:bodyPr anchorCtr="0" anchor="t" bIns="68575" lIns="68575" spcFirstLastPara="1" rIns="68575" wrap="square" tIns="68575">
            <a:noAutofit/>
          </a:bodyPr>
          <a:lstStyle>
            <a:lvl1pPr indent="-317500" lvl="0" marL="457200" algn="l">
              <a:lnSpc>
                <a:spcPct val="115000"/>
              </a:lnSpc>
              <a:spcBef>
                <a:spcPts val="0"/>
              </a:spcBef>
              <a:spcAft>
                <a:spcPts val="0"/>
              </a:spcAft>
              <a:buClr>
                <a:schemeClr val="dk1"/>
              </a:buClr>
              <a:buSzPts val="1400"/>
              <a:buChar char="●"/>
              <a:defRPr/>
            </a:lvl1pPr>
            <a:lvl2pPr indent="-298450" lvl="1" marL="914400" algn="l">
              <a:lnSpc>
                <a:spcPct val="115000"/>
              </a:lnSpc>
              <a:spcBef>
                <a:spcPts val="1600"/>
              </a:spcBef>
              <a:spcAft>
                <a:spcPts val="0"/>
              </a:spcAft>
              <a:buClr>
                <a:schemeClr val="dk1"/>
              </a:buClr>
              <a:buSzPts val="1100"/>
              <a:buChar char="○"/>
              <a:defRPr/>
            </a:lvl2pPr>
            <a:lvl3pPr indent="-298450" lvl="2" marL="1371600" algn="l">
              <a:lnSpc>
                <a:spcPct val="115000"/>
              </a:lnSpc>
              <a:spcBef>
                <a:spcPts val="1600"/>
              </a:spcBef>
              <a:spcAft>
                <a:spcPts val="0"/>
              </a:spcAft>
              <a:buClr>
                <a:schemeClr val="dk1"/>
              </a:buClr>
              <a:buSzPts val="1100"/>
              <a:buChar char="■"/>
              <a:defRPr/>
            </a:lvl3pPr>
            <a:lvl4pPr indent="-298450" lvl="3" marL="1828800" algn="l">
              <a:lnSpc>
                <a:spcPct val="115000"/>
              </a:lnSpc>
              <a:spcBef>
                <a:spcPts val="1600"/>
              </a:spcBef>
              <a:spcAft>
                <a:spcPts val="0"/>
              </a:spcAft>
              <a:buClr>
                <a:schemeClr val="dk1"/>
              </a:buClr>
              <a:buSzPts val="1100"/>
              <a:buChar char="●"/>
              <a:defRPr/>
            </a:lvl4pPr>
            <a:lvl5pPr indent="-298450" lvl="4" marL="2286000" algn="l">
              <a:lnSpc>
                <a:spcPct val="115000"/>
              </a:lnSpc>
              <a:spcBef>
                <a:spcPts val="1600"/>
              </a:spcBef>
              <a:spcAft>
                <a:spcPts val="0"/>
              </a:spcAft>
              <a:buClr>
                <a:schemeClr val="dk1"/>
              </a:buClr>
              <a:buSzPts val="1100"/>
              <a:buChar char="○"/>
              <a:defRPr/>
            </a:lvl5pPr>
            <a:lvl6pPr indent="-298450" lvl="5" marL="2743200" algn="l">
              <a:lnSpc>
                <a:spcPct val="115000"/>
              </a:lnSpc>
              <a:spcBef>
                <a:spcPts val="1600"/>
              </a:spcBef>
              <a:spcAft>
                <a:spcPts val="0"/>
              </a:spcAft>
              <a:buClr>
                <a:schemeClr val="dk1"/>
              </a:buClr>
              <a:buSzPts val="1100"/>
              <a:buChar char="■"/>
              <a:defRPr/>
            </a:lvl6pPr>
            <a:lvl7pPr indent="-298450" lvl="6" marL="3200400" algn="l">
              <a:lnSpc>
                <a:spcPct val="115000"/>
              </a:lnSpc>
              <a:spcBef>
                <a:spcPts val="1600"/>
              </a:spcBef>
              <a:spcAft>
                <a:spcPts val="0"/>
              </a:spcAft>
              <a:buClr>
                <a:schemeClr val="dk1"/>
              </a:buClr>
              <a:buSzPts val="1100"/>
              <a:buChar char="●"/>
              <a:defRPr/>
            </a:lvl7pPr>
            <a:lvl8pPr indent="-298450" lvl="7" marL="3657600" algn="l">
              <a:lnSpc>
                <a:spcPct val="115000"/>
              </a:lnSpc>
              <a:spcBef>
                <a:spcPts val="1600"/>
              </a:spcBef>
              <a:spcAft>
                <a:spcPts val="0"/>
              </a:spcAft>
              <a:buClr>
                <a:schemeClr val="dk1"/>
              </a:buClr>
              <a:buSzPts val="1100"/>
              <a:buChar char="○"/>
              <a:defRPr/>
            </a:lvl8pPr>
            <a:lvl9pPr indent="-298450" lvl="8" marL="4114800" algn="l">
              <a:lnSpc>
                <a:spcPct val="115000"/>
              </a:lnSpc>
              <a:spcBef>
                <a:spcPts val="1600"/>
              </a:spcBef>
              <a:spcAft>
                <a:spcPts val="1600"/>
              </a:spcAft>
              <a:buClr>
                <a:schemeClr val="dk1"/>
              </a:buClr>
              <a:buSzPts val="1100"/>
              <a:buChar char="■"/>
              <a:defRPr/>
            </a:lvl9pPr>
          </a:lstStyle>
          <a:p/>
        </p:txBody>
      </p:sp>
      <p:sp>
        <p:nvSpPr>
          <p:cNvPr id="38" name="Google Shape;38;p6"/>
          <p:cNvSpPr txBox="1"/>
          <p:nvPr>
            <p:ph idx="12" type="sldNum"/>
          </p:nvPr>
        </p:nvSpPr>
        <p:spPr>
          <a:xfrm>
            <a:off x="8472458" y="4663217"/>
            <a:ext cx="548700" cy="393600"/>
          </a:xfrm>
          <a:prstGeom prst="rect">
            <a:avLst/>
          </a:prstGeom>
          <a:noFill/>
          <a:ln>
            <a:noFill/>
          </a:ln>
        </p:spPr>
        <p:txBody>
          <a:bodyPr anchorCtr="0" anchor="ctr" bIns="68575" lIns="68575" spcFirstLastPara="1" rIns="68575" wrap="square" tIns="68575">
            <a:noAutofit/>
          </a:bodyPr>
          <a:lstStyle>
            <a:lvl1pPr indent="0" lvl="0"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8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7"/>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Roboto"/>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1" name="Google Shape;41;p7"/>
          <p:cNvSpPr txBox="1"/>
          <p:nvPr>
            <p:ph idx="1" type="body"/>
          </p:nvPr>
        </p:nvSpPr>
        <p:spPr>
          <a:xfrm>
            <a:off x="623888" y="3442097"/>
            <a:ext cx="7886700" cy="11250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42" name="Google Shape;42;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3" name="Google Shape;43;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4" name="Google Shape;44;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8"/>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47" name="Google Shape;47;p8"/>
          <p:cNvSpPr txBox="1"/>
          <p:nvPr>
            <p:ph idx="1" type="body"/>
          </p:nvPr>
        </p:nvSpPr>
        <p:spPr>
          <a:xfrm>
            <a:off x="629841" y="1260872"/>
            <a:ext cx="38682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8" name="Google Shape;48;p8"/>
          <p:cNvSpPr txBox="1"/>
          <p:nvPr>
            <p:ph idx="2" type="body"/>
          </p:nvPr>
        </p:nvSpPr>
        <p:spPr>
          <a:xfrm>
            <a:off x="629841" y="1878806"/>
            <a:ext cx="38682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9" name="Google Shape;49;p8"/>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50" name="Google Shape;50;p8"/>
          <p:cNvSpPr txBox="1"/>
          <p:nvPr>
            <p:ph idx="4" type="body"/>
          </p:nvPr>
        </p:nvSpPr>
        <p:spPr>
          <a:xfrm>
            <a:off x="4629150" y="1878806"/>
            <a:ext cx="3887400" cy="27633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1" name="Google Shape;51;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2" name="Google Shape;52;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3" name="Google Shape;53;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4" name="Shape 54"/>
        <p:cNvGrpSpPr/>
        <p:nvPr/>
      </p:nvGrpSpPr>
      <p:grpSpPr>
        <a:xfrm>
          <a:off x="0" y="0"/>
          <a:ext cx="0" cy="0"/>
          <a:chOff x="0" y="0"/>
          <a:chExt cx="0" cy="0"/>
        </a:xfrm>
      </p:grpSpPr>
      <p:sp>
        <p:nvSpPr>
          <p:cNvPr id="55" name="Google Shape;55;p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6" name="Google Shape;56;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7" name="Google Shape;57;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58" name="Google Shape;58;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9" name="Shape 59"/>
        <p:cNvGrpSpPr/>
        <p:nvPr/>
      </p:nvGrpSpPr>
      <p:grpSpPr>
        <a:xfrm>
          <a:off x="0" y="0"/>
          <a:ext cx="0" cy="0"/>
          <a:chOff x="0" y="0"/>
          <a:chExt cx="0" cy="0"/>
        </a:xfrm>
      </p:grpSpPr>
      <p:sp>
        <p:nvSpPr>
          <p:cNvPr id="60" name="Google Shape;60;p10"/>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Roboto"/>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1" name="Google Shape;61;p10"/>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2" name="Google Shape;62;p10"/>
          <p:cNvSpPr txBox="1"/>
          <p:nvPr>
            <p:ph idx="2"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3" name="Google Shape;63;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4" name="Google Shape;64;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5" name="Google Shape;65;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11"/>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Roboto"/>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p11"/>
          <p:cNvSpPr/>
          <p:nvPr>
            <p:ph idx="2" type="pic"/>
          </p:nvPr>
        </p:nvSpPr>
        <p:spPr>
          <a:xfrm>
            <a:off x="3887391" y="740569"/>
            <a:ext cx="4629300" cy="3655200"/>
          </a:xfrm>
          <a:prstGeom prst="rect">
            <a:avLst/>
          </a:prstGeom>
          <a:noFill/>
          <a:ln>
            <a:noFill/>
          </a:ln>
        </p:spPr>
      </p:sp>
      <p:sp>
        <p:nvSpPr>
          <p:cNvPr id="69" name="Google Shape;69;p11"/>
          <p:cNvSpPr txBox="1"/>
          <p:nvPr>
            <p:ph idx="1" type="body"/>
          </p:nvPr>
        </p:nvSpPr>
        <p:spPr>
          <a:xfrm>
            <a:off x="629841" y="1543050"/>
            <a:ext cx="29493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70" name="Google Shape;70;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1" name="Google Shape;71;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12"/>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p12"/>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7" name="Google Shape;77;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13"/>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p13"/>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2" name="Google Shape;82;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3" name="Google Shape;83;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4" name="Google Shape;84;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p:cSld name="10">
    <p:spTree>
      <p:nvGrpSpPr>
        <p:cNvPr id="85" name="Shape 85"/>
        <p:cNvGrpSpPr/>
        <p:nvPr/>
      </p:nvGrpSpPr>
      <p:grpSpPr>
        <a:xfrm>
          <a:off x="0" y="0"/>
          <a:ext cx="0" cy="0"/>
          <a:chOff x="0" y="0"/>
          <a:chExt cx="0" cy="0"/>
        </a:xfrm>
      </p:grpSpPr>
      <p:sp>
        <p:nvSpPr>
          <p:cNvPr id="86" name="Google Shape;86;p14"/>
          <p:cNvSpPr/>
          <p:nvPr/>
        </p:nvSpPr>
        <p:spPr>
          <a:xfrm>
            <a:off x="8946830" y="4943496"/>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87" name="Google Shape;87;p14"/>
          <p:cNvSpPr/>
          <p:nvPr/>
        </p:nvSpPr>
        <p:spPr>
          <a:xfrm>
            <a:off x="9023260" y="4943496"/>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88" name="Google Shape;88;p14"/>
          <p:cNvSpPr/>
          <p:nvPr/>
        </p:nvSpPr>
        <p:spPr>
          <a:xfrm>
            <a:off x="8870400" y="4943496"/>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89" name="Google Shape;89;p14"/>
          <p:cNvSpPr/>
          <p:nvPr/>
        </p:nvSpPr>
        <p:spPr>
          <a:xfrm>
            <a:off x="8793970" y="4943496"/>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90" name="Google Shape;90;p14"/>
          <p:cNvSpPr/>
          <p:nvPr/>
        </p:nvSpPr>
        <p:spPr>
          <a:xfrm>
            <a:off x="8717540" y="4943496"/>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91" name="Google Shape;91;p14"/>
          <p:cNvSpPr/>
          <p:nvPr/>
        </p:nvSpPr>
        <p:spPr>
          <a:xfrm>
            <a:off x="8946830" y="5006004"/>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92" name="Google Shape;92;p14"/>
          <p:cNvSpPr/>
          <p:nvPr/>
        </p:nvSpPr>
        <p:spPr>
          <a:xfrm>
            <a:off x="9023260" y="5006004"/>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93" name="Google Shape;93;p14"/>
          <p:cNvSpPr/>
          <p:nvPr/>
        </p:nvSpPr>
        <p:spPr>
          <a:xfrm>
            <a:off x="8870400" y="5006004"/>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94" name="Google Shape;94;p14"/>
          <p:cNvSpPr/>
          <p:nvPr/>
        </p:nvSpPr>
        <p:spPr>
          <a:xfrm>
            <a:off x="8793970" y="5006004"/>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
        <p:nvSpPr>
          <p:cNvPr id="95" name="Google Shape;95;p14"/>
          <p:cNvSpPr/>
          <p:nvPr/>
        </p:nvSpPr>
        <p:spPr>
          <a:xfrm>
            <a:off x="8717540" y="5006004"/>
            <a:ext cx="57600" cy="43200"/>
          </a:xfrm>
          <a:prstGeom prst="ellipse">
            <a:avLst/>
          </a:prstGeom>
          <a:solidFill>
            <a:schemeClr val="l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6" name="Shape 96"/>
        <p:cNvGrpSpPr/>
        <p:nvPr/>
      </p:nvGrpSpPr>
      <p:grpSpPr>
        <a:xfrm>
          <a:off x="0" y="0"/>
          <a:ext cx="0" cy="0"/>
          <a:chOff x="0" y="0"/>
          <a:chExt cx="0" cy="0"/>
        </a:xfrm>
      </p:grpSpPr>
      <p:sp>
        <p:nvSpPr>
          <p:cNvPr id="97" name="Google Shape;97;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8" name="Google Shape;98;p1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9" name="Google Shape;99;p1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0" name="Google Shape;10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6"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Roboto"/>
              <a:buNone/>
              <a:defRPr b="0" i="0" sz="33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Roboto"/>
                <a:ea typeface="Roboto"/>
                <a:cs typeface="Roboto"/>
                <a:sym typeface="Roboto"/>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Roboto"/>
                <a:ea typeface="Roboto"/>
                <a:cs typeface="Roboto"/>
                <a:sym typeface="Roboto"/>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Roboto"/>
                <a:ea typeface="Roboto"/>
                <a:cs typeface="Roboto"/>
                <a:sym typeface="Roboto"/>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Roboto"/>
                <a:ea typeface="Roboto"/>
                <a:cs typeface="Roboto"/>
                <a:sym typeface="Roboto"/>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Roboto"/>
                <a:ea typeface="Roboto"/>
                <a:cs typeface="Roboto"/>
                <a:sym typeface="Roboto"/>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Roboto"/>
                <a:ea typeface="Roboto"/>
                <a:cs typeface="Roboto"/>
                <a:sym typeface="Roboto"/>
              </a:defRPr>
            </a:lvl1pPr>
            <a:lvl2pPr lvl="1"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1"/>
          <p:cNvPicPr preferRelativeResize="0"/>
          <p:nvPr/>
        </p:nvPicPr>
        <p:blipFill rotWithShape="1">
          <a:blip r:embed="rId1">
            <a:alphaModFix/>
          </a:blip>
          <a:srcRect b="0" l="0" r="0" t="0"/>
          <a:stretch/>
        </p:blipFill>
        <p:spPr>
          <a:xfrm>
            <a:off x="-1" y="5414"/>
            <a:ext cx="9144003" cy="513808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8.png"/><Relationship Id="rId5"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hyperlink" Target="https://forms.gle/MZKjF5GJCjXAMFor8" TargetMode="Externa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jp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hyperlink" Target="https://www.accenture.com/in-en/careers?utm_source=chatgpt.com" TargetMode="External"/><Relationship Id="rId4" Type="http://schemas.openxmlformats.org/officeDocument/2006/relationships/hyperlink" Target="https://github.com/doocs/leetcode/blob/main/solution/0200-0299/0206.Reverse%20Linked%20List/README_EN.md?utm_source=chatgpt.com"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hyperlink" Target="https://github.com/doocs/leetcode/blob/main/solution/0200-0299/0206.Reverse%20Linked%20List/README_EN.md?utm_source=chatgpt.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2.png"/><Relationship Id="rId4" Type="http://schemas.openxmlformats.org/officeDocument/2006/relationships/hyperlink" Target="https://codemithra.com/vit-helpdesk/" TargetMode="External"/><Relationship Id="rId5" Type="http://schemas.openxmlformats.org/officeDocument/2006/relationships/hyperlink" Target="https://learn.codemithra.com/" TargetMode="External"/><Relationship Id="rId6"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11.png"/><Relationship Id="rId4" Type="http://schemas.openxmlformats.org/officeDocument/2006/relationships/hyperlink" Target="https://learn.codemithra.com/"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4.jp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ctrTitle"/>
          </p:nvPr>
        </p:nvSpPr>
        <p:spPr>
          <a:xfrm>
            <a:off x="1143000" y="841772"/>
            <a:ext cx="6858000" cy="17907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106" name="Google Shape;106;p16"/>
          <p:cNvSpPr txBox="1"/>
          <p:nvPr>
            <p:ph idx="1" type="subTitle"/>
          </p:nvPr>
        </p:nvSpPr>
        <p:spPr>
          <a:xfrm>
            <a:off x="1143000" y="2701529"/>
            <a:ext cx="6858000" cy="12417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107" name="Google Shape;107;p16"/>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108" name="Google Shape;108;p16"/>
          <p:cNvPicPr preferRelativeResize="0"/>
          <p:nvPr/>
        </p:nvPicPr>
        <p:blipFill rotWithShape="1">
          <a:blip r:embed="rId4">
            <a:alphaModFix/>
          </a:blip>
          <a:srcRect b="0" l="0" r="0" t="0"/>
          <a:stretch/>
        </p:blipFill>
        <p:spPr>
          <a:xfrm>
            <a:off x="2504600" y="524088"/>
            <a:ext cx="4134799" cy="2923400"/>
          </a:xfrm>
          <a:prstGeom prst="rect">
            <a:avLst/>
          </a:prstGeom>
          <a:noFill/>
          <a:ln>
            <a:noFill/>
          </a:ln>
        </p:spPr>
      </p:pic>
      <p:pic>
        <p:nvPicPr>
          <p:cNvPr id="109" name="Google Shape;109;p16"/>
          <p:cNvPicPr preferRelativeResize="0"/>
          <p:nvPr/>
        </p:nvPicPr>
        <p:blipFill rotWithShape="1">
          <a:blip r:embed="rId5">
            <a:alphaModFix/>
          </a:blip>
          <a:srcRect b="0" l="0" r="0" t="0"/>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590550" y="491300"/>
            <a:ext cx="7219200" cy="404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SzPts val="1400"/>
              <a:buNone/>
            </a:pPr>
            <a:r>
              <a:rPr b="1" lang="en" sz="2000">
                <a:solidFill>
                  <a:srgbClr val="908BFF"/>
                </a:solidFill>
              </a:rPr>
              <a:t>				</a:t>
            </a:r>
            <a:r>
              <a:rPr b="1" lang="en" sz="2000">
                <a:solidFill>
                  <a:schemeClr val="accent1"/>
                </a:solidFill>
              </a:rPr>
              <a:t>Test Time On </a:t>
            </a:r>
            <a:r>
              <a:rPr b="1" lang="en" sz="2000">
                <a:solidFill>
                  <a:schemeClr val="accent1"/>
                </a:solidFill>
                <a:highlight>
                  <a:srgbClr val="FFFFFF"/>
                </a:highlight>
                <a:latin typeface="Arial"/>
                <a:ea typeface="Arial"/>
                <a:cs typeface="Arial"/>
                <a:sym typeface="Arial"/>
              </a:rPr>
              <a:t>Hourglass Matrix</a:t>
            </a:r>
            <a:r>
              <a:rPr b="1" lang="en" sz="2000">
                <a:solidFill>
                  <a:schemeClr val="accent1"/>
                </a:solidFill>
                <a:latin typeface="Arial"/>
                <a:ea typeface="Arial"/>
                <a:cs typeface="Arial"/>
                <a:sym typeface="Arial"/>
              </a:rPr>
              <a:t> </a:t>
            </a:r>
            <a:endParaRPr b="1" sz="2000">
              <a:solidFill>
                <a:schemeClr val="accent1"/>
              </a:solidFill>
            </a:endParaRPr>
          </a:p>
        </p:txBody>
      </p:sp>
      <p:sp>
        <p:nvSpPr>
          <p:cNvPr id="115" name="Google Shape;115;p17"/>
          <p:cNvSpPr txBox="1"/>
          <p:nvPr/>
        </p:nvSpPr>
        <p:spPr>
          <a:xfrm>
            <a:off x="1936250" y="4239350"/>
            <a:ext cx="5397300" cy="34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latin typeface="Roboto"/>
                <a:ea typeface="Roboto"/>
                <a:cs typeface="Roboto"/>
                <a:sym typeface="Roboto"/>
              </a:rPr>
              <a:t>URL</a:t>
            </a:r>
            <a:r>
              <a:rPr lang="en" sz="2100">
                <a:solidFill>
                  <a:srgbClr val="807FEC"/>
                </a:solidFill>
                <a:latin typeface="Roboto"/>
                <a:ea typeface="Roboto"/>
                <a:cs typeface="Roboto"/>
                <a:sym typeface="Roboto"/>
              </a:rPr>
              <a:t> : </a:t>
            </a:r>
            <a:r>
              <a:rPr lang="en" sz="1700" u="sng">
                <a:solidFill>
                  <a:schemeClr val="hlink"/>
                </a:solidFill>
                <a:latin typeface="Roboto"/>
                <a:ea typeface="Roboto"/>
                <a:cs typeface="Roboto"/>
                <a:sym typeface="Roboto"/>
                <a:hlinkClick r:id="rId3"/>
              </a:rPr>
              <a:t>https://forms.gle/MZKjF5GJCjXAMFor8</a:t>
            </a:r>
            <a:endParaRPr sz="2100">
              <a:solidFill>
                <a:schemeClr val="dk1"/>
              </a:solidFill>
              <a:latin typeface="Roboto"/>
              <a:ea typeface="Roboto"/>
              <a:cs typeface="Roboto"/>
              <a:sym typeface="Roboto"/>
            </a:endParaRPr>
          </a:p>
        </p:txBody>
      </p:sp>
      <p:pic>
        <p:nvPicPr>
          <p:cNvPr id="116" name="Google Shape;116;p17" title="qr-code.png"/>
          <p:cNvPicPr preferRelativeResize="0"/>
          <p:nvPr/>
        </p:nvPicPr>
        <p:blipFill>
          <a:blip r:embed="rId4">
            <a:alphaModFix/>
          </a:blip>
          <a:stretch>
            <a:fillRect/>
          </a:stretch>
        </p:blipFill>
        <p:spPr>
          <a:xfrm>
            <a:off x="2758747" y="1048400"/>
            <a:ext cx="3038550" cy="3038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18"/>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122" name="Google Shape;122;p18"/>
          <p:cNvSpPr txBox="1"/>
          <p:nvPr/>
        </p:nvSpPr>
        <p:spPr>
          <a:xfrm>
            <a:off x="141069" y="2231899"/>
            <a:ext cx="4691100" cy="14622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000"/>
              <a:buFont typeface="Arial"/>
              <a:buNone/>
            </a:pPr>
            <a:r>
              <a:rPr b="1" i="0" lang="en" sz="3000" u="none" cap="none" strike="noStrike">
                <a:solidFill>
                  <a:schemeClr val="lt1"/>
                </a:solidFill>
                <a:latin typeface="Roboto"/>
                <a:ea typeface="Roboto"/>
                <a:cs typeface="Roboto"/>
                <a:sym typeface="Roboto"/>
              </a:rPr>
              <a:t>Reverse Linked List</a:t>
            </a:r>
            <a:endParaRPr b="1" i="0" sz="3000" u="none" cap="none" strike="noStrike">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3000"/>
              <a:buFont typeface="Arial"/>
              <a:buNone/>
            </a:pPr>
            <a:r>
              <a:t/>
            </a:r>
            <a:endParaRPr b="1" sz="3000">
              <a:solidFill>
                <a:schemeClr val="lt1"/>
              </a:solidFill>
              <a:latin typeface="Roboto"/>
              <a:ea typeface="Roboto"/>
              <a:cs typeface="Roboto"/>
              <a:sym typeface="Roboto"/>
            </a:endParaRPr>
          </a:p>
          <a:p>
            <a:pPr indent="0" lvl="0" marL="0" marR="0" rtl="0" algn="l">
              <a:lnSpc>
                <a:spcPct val="115000"/>
              </a:lnSpc>
              <a:spcBef>
                <a:spcPts val="0"/>
              </a:spcBef>
              <a:spcAft>
                <a:spcPts val="0"/>
              </a:spcAft>
              <a:buClr>
                <a:srgbClr val="000000"/>
              </a:buClr>
              <a:buSzPts val="3000"/>
              <a:buFont typeface="Arial"/>
              <a:buNone/>
            </a:pPr>
            <a:r>
              <a:t/>
            </a:r>
            <a:endParaRPr>
              <a:solidFill>
                <a:schemeClr val="lt1"/>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9"/>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128" name="Google Shape;128;p19"/>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129" name="Google Shape;129;p19"/>
          <p:cNvSpPr txBox="1"/>
          <p:nvPr/>
        </p:nvSpPr>
        <p:spPr>
          <a:xfrm>
            <a:off x="152400" y="457200"/>
            <a:ext cx="30000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 sz="1600" u="none" cap="none" strike="noStrike">
                <a:solidFill>
                  <a:srgbClr val="8181EF"/>
                </a:solidFill>
                <a:latin typeface="Roboto Black"/>
                <a:ea typeface="Roboto Black"/>
                <a:cs typeface="Roboto Black"/>
                <a:sym typeface="Roboto Black"/>
              </a:rPr>
              <a:t>TOPICS</a:t>
            </a:r>
            <a:endParaRPr b="0" i="0" sz="1400" u="none" cap="none" strike="noStrike">
              <a:solidFill>
                <a:srgbClr val="000000"/>
              </a:solidFill>
              <a:latin typeface="Arial"/>
              <a:ea typeface="Arial"/>
              <a:cs typeface="Arial"/>
              <a:sym typeface="Arial"/>
            </a:endParaRPr>
          </a:p>
        </p:txBody>
      </p:sp>
      <p:sp>
        <p:nvSpPr>
          <p:cNvPr id="130" name="Google Shape;130;p19"/>
          <p:cNvSpPr/>
          <p:nvPr/>
        </p:nvSpPr>
        <p:spPr>
          <a:xfrm>
            <a:off x="496175" y="983725"/>
            <a:ext cx="3770700" cy="3605700"/>
          </a:xfrm>
          <a:prstGeom prst="verticalScroll">
            <a:avLst>
              <a:gd fmla="val 12500" name="adj"/>
            </a:avLst>
          </a:prstGeom>
          <a:solidFill>
            <a:srgbClr val="8181EF">
              <a:alpha val="56330"/>
            </a:srgbClr>
          </a:solid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285750" lvl="0" marL="285750" marR="0" rtl="0" algn="l">
              <a:lnSpc>
                <a:spcPct val="150000"/>
              </a:lnSpc>
              <a:spcBef>
                <a:spcPts val="0"/>
              </a:spcBef>
              <a:spcAft>
                <a:spcPts val="0"/>
              </a:spcAft>
              <a:buClr>
                <a:schemeClr val="dk1"/>
              </a:buClr>
              <a:buSzPts val="1400"/>
              <a:buFont typeface="Noto Sans Symbols"/>
              <a:buChar char="⮚"/>
            </a:pPr>
            <a:r>
              <a:rPr b="0" i="0" lang="en" sz="1400" u="none" cap="none" strike="noStrike">
                <a:solidFill>
                  <a:schemeClr val="dk1"/>
                </a:solidFill>
                <a:latin typeface="Roboto"/>
                <a:ea typeface="Roboto"/>
                <a:cs typeface="Roboto"/>
                <a:sym typeface="Roboto"/>
              </a:rPr>
              <a:t>Introduction </a:t>
            </a:r>
            <a:endParaRPr b="0" i="0" sz="1400" u="none" cap="none" strike="noStrike">
              <a:solidFill>
                <a:schemeClr val="dk1"/>
              </a:solidFill>
              <a:latin typeface="Roboto"/>
              <a:ea typeface="Roboto"/>
              <a:cs typeface="Roboto"/>
              <a:sym typeface="Roboto"/>
            </a:endParaRPr>
          </a:p>
          <a:p>
            <a:pPr indent="-285750" lvl="0" marL="285750" marR="0" rtl="0" algn="l">
              <a:lnSpc>
                <a:spcPct val="15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Algorithm Pseudocode</a:t>
            </a:r>
            <a:endParaRPr b="0" i="0" sz="1400" u="none" cap="none" strike="noStrike">
              <a:solidFill>
                <a:schemeClr val="dk1"/>
              </a:solidFill>
              <a:latin typeface="Roboto"/>
              <a:ea typeface="Roboto"/>
              <a:cs typeface="Roboto"/>
              <a:sym typeface="Roboto"/>
            </a:endParaRPr>
          </a:p>
          <a:p>
            <a:pPr indent="-285750" lvl="0" marL="285750" marR="0" rtl="0" algn="l">
              <a:lnSpc>
                <a:spcPct val="15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Example</a:t>
            </a:r>
            <a:endParaRPr b="0" i="0" sz="1400" u="none" cap="none" strike="noStrike">
              <a:solidFill>
                <a:schemeClr val="dk1"/>
              </a:solidFill>
              <a:latin typeface="Roboto"/>
              <a:ea typeface="Roboto"/>
              <a:cs typeface="Roboto"/>
              <a:sym typeface="Roboto"/>
            </a:endParaRPr>
          </a:p>
          <a:p>
            <a:pPr indent="-285750" lvl="0" marL="285750" marR="0" rtl="0" algn="l">
              <a:lnSpc>
                <a:spcPct val="150000"/>
              </a:lnSpc>
              <a:spcBef>
                <a:spcPts val="0"/>
              </a:spcBef>
              <a:spcAft>
                <a:spcPts val="0"/>
              </a:spcAft>
              <a:buClr>
                <a:schemeClr val="dk1"/>
              </a:buClr>
              <a:buSzPts val="1400"/>
              <a:buFont typeface="Noto Sans Symbols"/>
              <a:buChar char="⮚"/>
            </a:pPr>
            <a:r>
              <a:rPr b="0" i="0" lang="en" sz="1400" u="none" cap="none" strike="noStrike">
                <a:solidFill>
                  <a:schemeClr val="dk1"/>
                </a:solidFill>
                <a:latin typeface="Roboto"/>
                <a:ea typeface="Roboto"/>
                <a:cs typeface="Roboto"/>
                <a:sym typeface="Roboto"/>
              </a:rPr>
              <a:t>Code</a:t>
            </a:r>
            <a:endParaRPr b="0" i="0" sz="1400" u="none" cap="none" strike="noStrike">
              <a:solidFill>
                <a:schemeClr val="dk1"/>
              </a:solidFill>
              <a:latin typeface="Roboto"/>
              <a:ea typeface="Roboto"/>
              <a:cs typeface="Roboto"/>
              <a:sym typeface="Roboto"/>
            </a:endParaRPr>
          </a:p>
          <a:p>
            <a:pPr indent="-285750" lvl="0" marL="285750" marR="0" rtl="0" algn="l">
              <a:lnSpc>
                <a:spcPct val="150000"/>
              </a:lnSpc>
              <a:spcBef>
                <a:spcPts val="0"/>
              </a:spcBef>
              <a:spcAft>
                <a:spcPts val="0"/>
              </a:spcAft>
              <a:buClr>
                <a:schemeClr val="dk1"/>
              </a:buClr>
              <a:buSzPts val="1400"/>
              <a:buFont typeface="Noto Sans Symbols"/>
              <a:buChar char="⮚"/>
            </a:pPr>
            <a:r>
              <a:rPr b="0" i="0" lang="en" sz="1400" u="none" cap="none" strike="noStrike">
                <a:solidFill>
                  <a:schemeClr val="dk1"/>
                </a:solidFill>
                <a:latin typeface="Roboto"/>
                <a:ea typeface="Roboto"/>
                <a:cs typeface="Roboto"/>
                <a:sym typeface="Roboto"/>
              </a:rPr>
              <a:t>Time and space complexity</a:t>
            </a:r>
            <a:endParaRPr b="0" i="0" sz="1400" u="none" cap="none" strike="noStrike">
              <a:solidFill>
                <a:schemeClr val="dk1"/>
              </a:solidFill>
              <a:latin typeface="Roboto"/>
              <a:ea typeface="Roboto"/>
              <a:cs typeface="Roboto"/>
              <a:sym typeface="Roboto"/>
            </a:endParaRPr>
          </a:p>
          <a:p>
            <a:pPr indent="-285750" lvl="0" marL="285750" marR="0" rtl="0" algn="l">
              <a:lnSpc>
                <a:spcPct val="15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Advantages and disadvantages</a:t>
            </a:r>
            <a:endParaRPr b="0" i="0" sz="1400" u="none" cap="none" strike="noStrike">
              <a:solidFill>
                <a:schemeClr val="dk1"/>
              </a:solidFill>
              <a:latin typeface="Roboto"/>
              <a:ea typeface="Roboto"/>
              <a:cs typeface="Roboto"/>
              <a:sym typeface="Roboto"/>
            </a:endParaRPr>
          </a:p>
          <a:p>
            <a:pPr indent="-285750" lvl="0" marL="285750" marR="0" rtl="0" algn="l">
              <a:lnSpc>
                <a:spcPct val="150000"/>
              </a:lnSpc>
              <a:spcBef>
                <a:spcPts val="0"/>
              </a:spcBef>
              <a:spcAft>
                <a:spcPts val="0"/>
              </a:spcAft>
              <a:buClr>
                <a:schemeClr val="dk1"/>
              </a:buClr>
              <a:buSzPts val="1400"/>
              <a:buFont typeface="Noto Sans Symbols"/>
              <a:buChar char="⮚"/>
            </a:pPr>
            <a:r>
              <a:rPr b="0" i="0" lang="en" sz="1400" u="none" cap="none" strike="noStrike">
                <a:solidFill>
                  <a:schemeClr val="dk1"/>
                </a:solidFill>
                <a:latin typeface="Roboto"/>
                <a:ea typeface="Roboto"/>
                <a:cs typeface="Roboto"/>
                <a:sym typeface="Roboto"/>
              </a:rPr>
              <a:t>Interview Questions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0"/>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36" name="Google Shape;136;p20"/>
          <p:cNvSpPr txBox="1"/>
          <p:nvPr>
            <p:ph type="ctrTitle"/>
          </p:nvPr>
        </p:nvSpPr>
        <p:spPr>
          <a:xfrm>
            <a:off x="257001" y="345950"/>
            <a:ext cx="7284300" cy="959100"/>
          </a:xfrm>
          <a:prstGeom prst="rect">
            <a:avLst/>
          </a:prstGeom>
          <a:noFill/>
          <a:ln>
            <a:noFill/>
          </a:ln>
        </p:spPr>
        <p:txBody>
          <a:bodyPr anchorCtr="0" anchor="b" bIns="91425" lIns="91425" spcFirstLastPara="1" rIns="91425" wrap="square" tIns="91425">
            <a:noAutofit/>
          </a:bodyPr>
          <a:lstStyle/>
          <a:p>
            <a:pPr indent="0" lvl="0" marL="0" rtl="0" algn="ctr">
              <a:lnSpc>
                <a:spcPct val="115000"/>
              </a:lnSpc>
              <a:spcBef>
                <a:spcPts val="1400"/>
              </a:spcBef>
              <a:spcAft>
                <a:spcPts val="0"/>
              </a:spcAft>
              <a:buSzPts val="5200"/>
              <a:buNone/>
            </a:pPr>
            <a:r>
              <a:rPr b="1" lang="en" sz="1700">
                <a:solidFill>
                  <a:srgbClr val="8181EF"/>
                </a:solidFill>
              </a:rPr>
              <a:t>Reverse Linked List</a:t>
            </a:r>
            <a:endParaRPr b="1" sz="2900">
              <a:solidFill>
                <a:srgbClr val="8181EF"/>
              </a:solidFill>
              <a:latin typeface="Roboto"/>
              <a:ea typeface="Roboto"/>
              <a:cs typeface="Roboto"/>
              <a:sym typeface="Roboto"/>
            </a:endParaRPr>
          </a:p>
          <a:p>
            <a:pPr indent="0" lvl="0" marL="0" rtl="0" algn="ctr">
              <a:lnSpc>
                <a:spcPct val="100000"/>
              </a:lnSpc>
              <a:spcBef>
                <a:spcPts val="400"/>
              </a:spcBef>
              <a:spcAft>
                <a:spcPts val="0"/>
              </a:spcAft>
              <a:buClr>
                <a:srgbClr val="000000"/>
              </a:buClr>
              <a:buSzPts val="4680"/>
              <a:buFont typeface="Arial"/>
              <a:buNone/>
            </a:pPr>
            <a:r>
              <a:t/>
            </a:r>
            <a:endParaRPr b="1" sz="2400">
              <a:latin typeface="Roboto"/>
              <a:ea typeface="Roboto"/>
              <a:cs typeface="Roboto"/>
              <a:sym typeface="Roboto"/>
            </a:endParaRPr>
          </a:p>
        </p:txBody>
      </p:sp>
      <p:sp>
        <p:nvSpPr>
          <p:cNvPr id="137" name="Google Shape;137;p20"/>
          <p:cNvSpPr txBox="1"/>
          <p:nvPr/>
        </p:nvSpPr>
        <p:spPr>
          <a:xfrm>
            <a:off x="261325" y="844825"/>
            <a:ext cx="7981200" cy="378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 sz="1400" u="none" cap="none" strike="noStrike">
                <a:solidFill>
                  <a:schemeClr val="dk1"/>
                </a:solidFill>
                <a:latin typeface="Roboto"/>
                <a:ea typeface="Roboto"/>
                <a:cs typeface="Roboto"/>
                <a:sym typeface="Roboto"/>
              </a:rPr>
              <a:t>What is a Linked List?</a:t>
            </a:r>
            <a:endParaRPr b="1"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1"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A </a:t>
            </a:r>
            <a:r>
              <a:rPr b="1" i="0" lang="en" sz="1200" u="none" cap="none" strike="noStrike">
                <a:solidFill>
                  <a:schemeClr val="dk1"/>
                </a:solidFill>
                <a:latin typeface="Roboto"/>
                <a:ea typeface="Roboto"/>
                <a:cs typeface="Roboto"/>
                <a:sym typeface="Roboto"/>
              </a:rPr>
              <a:t>Linked List</a:t>
            </a:r>
            <a:r>
              <a:rPr b="0" i="0" lang="en" sz="1200" u="none" cap="none" strike="noStrike">
                <a:solidFill>
                  <a:schemeClr val="dk1"/>
                </a:solidFill>
                <a:latin typeface="Roboto"/>
                <a:ea typeface="Roboto"/>
                <a:cs typeface="Roboto"/>
                <a:sym typeface="Roboto"/>
              </a:rPr>
              <a:t> is a </a:t>
            </a:r>
            <a:r>
              <a:rPr b="1" i="0" lang="en" sz="1200" u="none" cap="none" strike="noStrike">
                <a:solidFill>
                  <a:schemeClr val="dk1"/>
                </a:solidFill>
                <a:latin typeface="Roboto"/>
                <a:ea typeface="Roboto"/>
                <a:cs typeface="Roboto"/>
                <a:sym typeface="Roboto"/>
              </a:rPr>
              <a:t>linear data structure</a:t>
            </a:r>
            <a:r>
              <a:rPr b="0" i="0" lang="en" sz="1200" u="none" cap="none" strike="noStrike">
                <a:solidFill>
                  <a:schemeClr val="dk1"/>
                </a:solidFill>
                <a:latin typeface="Roboto"/>
                <a:ea typeface="Roboto"/>
                <a:cs typeface="Roboto"/>
                <a:sym typeface="Roboto"/>
              </a:rPr>
              <a:t> where elements are stored in separate </a:t>
            </a:r>
            <a:endParaRPr b="0" i="0" sz="12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chemeClr val="dk1"/>
              </a:buClr>
              <a:buSzPts val="1100"/>
              <a:buFont typeface="Arial"/>
              <a:buNone/>
            </a:pPr>
            <a:r>
              <a:rPr b="1" i="0" lang="en" sz="1200" u="none" cap="none" strike="noStrike">
                <a:solidFill>
                  <a:schemeClr val="dk1"/>
                </a:solidFill>
                <a:latin typeface="Roboto"/>
                <a:ea typeface="Roboto"/>
                <a:cs typeface="Roboto"/>
                <a:sym typeface="Roboto"/>
              </a:rPr>
              <a:t>nodes</a:t>
            </a:r>
            <a:r>
              <a:rPr b="0" i="0" lang="en" sz="1200" u="none" cap="none" strike="noStrike">
                <a:solidFill>
                  <a:schemeClr val="dk1"/>
                </a:solidFill>
                <a:latin typeface="Roboto"/>
                <a:ea typeface="Roboto"/>
                <a:cs typeface="Roboto"/>
                <a:sym typeface="Roboto"/>
              </a:rPr>
              <a:t>, and each node is connected using pointers.</a:t>
            </a:r>
            <a:endParaRPr b="0" i="0" sz="12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Roboto"/>
                <a:ea typeface="Roboto"/>
                <a:cs typeface="Roboto"/>
                <a:sym typeface="Roboto"/>
              </a:rPr>
              <a:t>Each node has two parts:</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data – stores the value.</a:t>
            </a: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next – points to the next node.</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1"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1" i="0" lang="en" sz="1400" u="none" cap="none" strike="noStrike">
                <a:solidFill>
                  <a:schemeClr val="dk1"/>
                </a:solidFill>
                <a:latin typeface="Roboto"/>
                <a:ea typeface="Roboto"/>
                <a:cs typeface="Roboto"/>
                <a:sym typeface="Roboto"/>
              </a:rPr>
              <a:t>Types of Linked Lists:</a:t>
            </a:r>
            <a:endParaRPr b="1"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1" i="0" sz="14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1" i="0" lang="en" sz="1200" u="none" cap="none" strike="noStrike">
                <a:solidFill>
                  <a:schemeClr val="dk1"/>
                </a:solidFill>
                <a:latin typeface="Roboto"/>
                <a:ea typeface="Roboto"/>
                <a:cs typeface="Roboto"/>
                <a:sym typeface="Roboto"/>
              </a:rPr>
              <a:t>Singly Linked List</a:t>
            </a:r>
            <a:r>
              <a:rPr b="0" i="0" lang="en" sz="1200" u="none" cap="none" strike="noStrike">
                <a:solidFill>
                  <a:schemeClr val="dk1"/>
                </a:solidFill>
                <a:latin typeface="Roboto"/>
                <a:ea typeface="Roboto"/>
                <a:cs typeface="Roboto"/>
                <a:sym typeface="Roboto"/>
              </a:rPr>
              <a:t>:</a:t>
            </a:r>
            <a:br>
              <a:rPr b="0" i="0" lang="en" sz="1200" u="none" cap="none" strike="noStrike">
                <a:solidFill>
                  <a:schemeClr val="dk1"/>
                </a:solidFill>
                <a:latin typeface="Roboto"/>
                <a:ea typeface="Roboto"/>
                <a:cs typeface="Roboto"/>
                <a:sym typeface="Roboto"/>
              </a:rPr>
            </a:br>
            <a:r>
              <a:rPr b="0" i="0" lang="en" sz="1200" u="none" cap="none" strike="noStrike">
                <a:solidFill>
                  <a:schemeClr val="dk1"/>
                </a:solidFill>
                <a:latin typeface="Roboto"/>
                <a:ea typeface="Roboto"/>
                <a:cs typeface="Roboto"/>
                <a:sym typeface="Roboto"/>
              </a:rPr>
              <a:t>Each node points to the next; traversal is one-way.</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1" i="0" lang="en" sz="1200" u="none" cap="none" strike="noStrike">
                <a:solidFill>
                  <a:schemeClr val="dk1"/>
                </a:solidFill>
                <a:latin typeface="Roboto"/>
                <a:ea typeface="Roboto"/>
                <a:cs typeface="Roboto"/>
                <a:sym typeface="Roboto"/>
              </a:rPr>
              <a:t>Doubly Linked List</a:t>
            </a:r>
            <a:r>
              <a:rPr b="0" i="0" lang="en" sz="1200" u="none" cap="none" strike="noStrike">
                <a:solidFill>
                  <a:schemeClr val="dk1"/>
                </a:solidFill>
                <a:latin typeface="Roboto"/>
                <a:ea typeface="Roboto"/>
                <a:cs typeface="Roboto"/>
                <a:sym typeface="Roboto"/>
              </a:rPr>
              <a:t>:</a:t>
            </a:r>
            <a:br>
              <a:rPr b="0" i="0" lang="en" sz="1200" u="none" cap="none" strike="noStrike">
                <a:solidFill>
                  <a:schemeClr val="dk1"/>
                </a:solidFill>
                <a:latin typeface="Roboto"/>
                <a:ea typeface="Roboto"/>
                <a:cs typeface="Roboto"/>
                <a:sym typeface="Roboto"/>
              </a:rPr>
            </a:br>
            <a:r>
              <a:rPr b="0" i="0" lang="en" sz="1200" u="none" cap="none" strike="noStrike">
                <a:solidFill>
                  <a:schemeClr val="dk1"/>
                </a:solidFill>
                <a:latin typeface="Roboto"/>
                <a:ea typeface="Roboto"/>
                <a:cs typeface="Roboto"/>
                <a:sym typeface="Roboto"/>
              </a:rPr>
              <a:t>Nodes have prev and next pointers; supports two-way traversal.</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0" marL="457200" marR="0" rtl="0" algn="l">
              <a:lnSpc>
                <a:spcPct val="100000"/>
              </a:lnSpc>
              <a:spcBef>
                <a:spcPts val="0"/>
              </a:spcBef>
              <a:spcAft>
                <a:spcPts val="0"/>
              </a:spcAft>
              <a:buClr>
                <a:schemeClr val="dk1"/>
              </a:buClr>
              <a:buSzPts val="1200"/>
              <a:buFont typeface="Roboto"/>
              <a:buAutoNum type="arabicPeriod"/>
            </a:pPr>
            <a:r>
              <a:rPr b="1" i="0" lang="en" sz="1200" u="none" cap="none" strike="noStrike">
                <a:solidFill>
                  <a:schemeClr val="dk1"/>
                </a:solidFill>
                <a:latin typeface="Roboto"/>
                <a:ea typeface="Roboto"/>
                <a:cs typeface="Roboto"/>
                <a:sym typeface="Roboto"/>
              </a:rPr>
              <a:t>Circular Linked List</a:t>
            </a:r>
            <a:r>
              <a:rPr b="0" i="0" lang="en" sz="1200" u="none" cap="none" strike="noStrike">
                <a:solidFill>
                  <a:schemeClr val="dk1"/>
                </a:solidFill>
                <a:latin typeface="Roboto"/>
                <a:ea typeface="Roboto"/>
                <a:cs typeface="Roboto"/>
                <a:sym typeface="Roboto"/>
              </a:rPr>
              <a:t>:</a:t>
            </a:r>
            <a:br>
              <a:rPr b="0" i="0" lang="en" sz="1200" u="none" cap="none" strike="noStrike">
                <a:solidFill>
                  <a:schemeClr val="dk1"/>
                </a:solidFill>
                <a:latin typeface="Roboto"/>
                <a:ea typeface="Roboto"/>
                <a:cs typeface="Roboto"/>
                <a:sym typeface="Roboto"/>
              </a:rPr>
            </a:br>
            <a:r>
              <a:rPr b="0" i="0" lang="en" sz="1200" u="none" cap="none" strike="noStrike">
                <a:solidFill>
                  <a:schemeClr val="dk1"/>
                </a:solidFill>
                <a:latin typeface="Roboto"/>
                <a:ea typeface="Roboto"/>
                <a:cs typeface="Roboto"/>
                <a:sym typeface="Roboto"/>
              </a:rPr>
              <a:t>The last node points back to the first; forms a loop.</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chemeClr val="dk1"/>
              </a:solidFill>
              <a:latin typeface="Roboto"/>
              <a:ea typeface="Roboto"/>
              <a:cs typeface="Roboto"/>
              <a:sym typeface="Roboto"/>
            </a:endParaRPr>
          </a:p>
        </p:txBody>
      </p:sp>
      <p:sp>
        <p:nvSpPr>
          <p:cNvPr id="138" name="Google Shape;138;p20"/>
          <p:cNvSpPr/>
          <p:nvPr/>
        </p:nvSpPr>
        <p:spPr>
          <a:xfrm>
            <a:off x="3728275" y="2163450"/>
            <a:ext cx="1047300" cy="408300"/>
          </a:xfrm>
          <a:prstGeom prst="rect">
            <a:avLst/>
          </a:prstGeom>
          <a:solidFill>
            <a:srgbClr val="D9D2E9"/>
          </a:solid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data      next</a:t>
            </a:r>
            <a:endParaRPr b="0" i="0" sz="1400" u="none" cap="none" strike="noStrike">
              <a:solidFill>
                <a:srgbClr val="000000"/>
              </a:solidFill>
              <a:latin typeface="Roboto"/>
              <a:ea typeface="Roboto"/>
              <a:cs typeface="Roboto"/>
              <a:sym typeface="Roboto"/>
            </a:endParaRPr>
          </a:p>
        </p:txBody>
      </p:sp>
      <p:sp>
        <p:nvSpPr>
          <p:cNvPr id="139" name="Google Shape;139;p20"/>
          <p:cNvSpPr/>
          <p:nvPr/>
        </p:nvSpPr>
        <p:spPr>
          <a:xfrm>
            <a:off x="5397150" y="2163450"/>
            <a:ext cx="912300" cy="408300"/>
          </a:xfrm>
          <a:prstGeom prst="rect">
            <a:avLst/>
          </a:prstGeom>
          <a:solidFill>
            <a:srgbClr val="C9DAF8"/>
          </a:solid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data   next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       </a:t>
            </a:r>
            <a:endParaRPr b="0" i="0" sz="12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0" name="Google Shape;140;p20"/>
          <p:cNvSpPr/>
          <p:nvPr/>
        </p:nvSpPr>
        <p:spPr>
          <a:xfrm>
            <a:off x="6931000" y="2163450"/>
            <a:ext cx="912300" cy="408300"/>
          </a:xfrm>
          <a:prstGeom prst="rect">
            <a:avLst/>
          </a:prstGeom>
          <a:solidFill>
            <a:srgbClr val="EAD1DC"/>
          </a:solid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200" u="none" cap="none" strike="noStrike">
                <a:solidFill>
                  <a:schemeClr val="dk1"/>
                </a:solidFill>
                <a:latin typeface="Roboto"/>
                <a:ea typeface="Roboto"/>
                <a:cs typeface="Roboto"/>
                <a:sym typeface="Roboto"/>
              </a:rPr>
              <a:t>data   next</a:t>
            </a:r>
            <a:endParaRPr b="0" i="0" sz="1400" u="none" cap="none" strike="noStrike">
              <a:solidFill>
                <a:schemeClr val="dk1"/>
              </a:solidFill>
              <a:latin typeface="Roboto"/>
              <a:ea typeface="Roboto"/>
              <a:cs typeface="Roboto"/>
              <a:sym typeface="Roboto"/>
            </a:endParaRPr>
          </a:p>
        </p:txBody>
      </p:sp>
      <p:sp>
        <p:nvSpPr>
          <p:cNvPr id="141" name="Google Shape;141;p20"/>
          <p:cNvSpPr/>
          <p:nvPr/>
        </p:nvSpPr>
        <p:spPr>
          <a:xfrm>
            <a:off x="4962000" y="2304350"/>
            <a:ext cx="321600" cy="165000"/>
          </a:xfrm>
          <a:prstGeom prst="rightArrow">
            <a:avLst>
              <a:gd fmla="val 50000" name="adj1"/>
              <a:gd fmla="val 50000" name="adj2"/>
            </a:avLst>
          </a:prstGeom>
          <a:solidFill>
            <a:srgbClr val="0000FF"/>
          </a:solid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42" name="Google Shape;142;p20"/>
          <p:cNvSpPr/>
          <p:nvPr/>
        </p:nvSpPr>
        <p:spPr>
          <a:xfrm>
            <a:off x="6482475" y="2304350"/>
            <a:ext cx="321600" cy="165000"/>
          </a:xfrm>
          <a:prstGeom prst="rightArrow">
            <a:avLst>
              <a:gd fmla="val 50000" name="adj1"/>
              <a:gd fmla="val 50000" name="adj2"/>
            </a:avLst>
          </a:prstGeom>
          <a:solidFill>
            <a:srgbClr val="0000FF"/>
          </a:solidFill>
          <a:ln cap="flat" cmpd="sng" w="38100">
            <a:solidFill>
              <a:srgbClr val="00FF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cxnSp>
        <p:nvCxnSpPr>
          <p:cNvPr id="143" name="Google Shape;143;p20"/>
          <p:cNvCxnSpPr/>
          <p:nvPr/>
        </p:nvCxnSpPr>
        <p:spPr>
          <a:xfrm>
            <a:off x="4234550" y="2163450"/>
            <a:ext cx="0" cy="408300"/>
          </a:xfrm>
          <a:prstGeom prst="straightConnector1">
            <a:avLst/>
          </a:prstGeom>
          <a:noFill/>
          <a:ln cap="flat" cmpd="sng" w="38100">
            <a:solidFill>
              <a:srgbClr val="00FF00"/>
            </a:solidFill>
            <a:prstDash val="solid"/>
            <a:round/>
            <a:headEnd len="sm" w="sm" type="none"/>
            <a:tailEnd len="sm" w="sm" type="none"/>
          </a:ln>
        </p:spPr>
      </p:cxnSp>
      <p:cxnSp>
        <p:nvCxnSpPr>
          <p:cNvPr id="144" name="Google Shape;144;p20"/>
          <p:cNvCxnSpPr>
            <a:stCxn id="139" idx="0"/>
          </p:cNvCxnSpPr>
          <p:nvPr/>
        </p:nvCxnSpPr>
        <p:spPr>
          <a:xfrm>
            <a:off x="5853300" y="2163450"/>
            <a:ext cx="0" cy="408300"/>
          </a:xfrm>
          <a:prstGeom prst="straightConnector1">
            <a:avLst/>
          </a:prstGeom>
          <a:noFill/>
          <a:ln cap="flat" cmpd="sng" w="38100">
            <a:solidFill>
              <a:srgbClr val="00FF00"/>
            </a:solidFill>
            <a:prstDash val="solid"/>
            <a:round/>
            <a:headEnd len="sm" w="sm" type="none"/>
            <a:tailEnd len="sm" w="sm" type="none"/>
          </a:ln>
        </p:spPr>
      </p:cxnSp>
      <p:cxnSp>
        <p:nvCxnSpPr>
          <p:cNvPr id="145" name="Google Shape;145;p20"/>
          <p:cNvCxnSpPr>
            <a:stCxn id="140" idx="0"/>
            <a:endCxn id="140" idx="2"/>
          </p:cNvCxnSpPr>
          <p:nvPr/>
        </p:nvCxnSpPr>
        <p:spPr>
          <a:xfrm>
            <a:off x="7387150" y="2163450"/>
            <a:ext cx="0" cy="408300"/>
          </a:xfrm>
          <a:prstGeom prst="straightConnector1">
            <a:avLst/>
          </a:prstGeom>
          <a:noFill/>
          <a:ln cap="flat" cmpd="sng" w="38100">
            <a:solidFill>
              <a:srgbClr val="00FF00"/>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1"/>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51" name="Google Shape;151;p21"/>
          <p:cNvSpPr txBox="1"/>
          <p:nvPr/>
        </p:nvSpPr>
        <p:spPr>
          <a:xfrm>
            <a:off x="328850" y="775450"/>
            <a:ext cx="7981200" cy="3789300"/>
          </a:xfrm>
          <a:prstGeom prst="rect">
            <a:avLst/>
          </a:prstGeom>
          <a:noFill/>
          <a:ln>
            <a:noFill/>
          </a:ln>
        </p:spPr>
        <p:txBody>
          <a:bodyPr anchorCtr="0" anchor="t" bIns="91425" lIns="91425" spcFirstLastPara="1" rIns="91425" wrap="square" tIns="91425">
            <a:noAutofit/>
          </a:bodyPr>
          <a:lstStyle/>
          <a:p>
            <a:pPr indent="0" lvl="0" marL="0" marR="0" rtl="0" algn="l">
              <a:lnSpc>
                <a:spcPct val="50000"/>
              </a:lnSpc>
              <a:spcBef>
                <a:spcPts val="0"/>
              </a:spcBef>
              <a:spcAft>
                <a:spcPts val="0"/>
              </a:spcAft>
              <a:buClr>
                <a:schemeClr val="dk1"/>
              </a:buClr>
              <a:buSzPts val="1100"/>
              <a:buFont typeface="Arial"/>
              <a:buNone/>
            </a:pPr>
            <a:r>
              <a:rPr b="1" i="0" lang="en" sz="1700" u="none" cap="none" strike="noStrike">
                <a:solidFill>
                  <a:srgbClr val="8181EF"/>
                </a:solidFill>
                <a:latin typeface="Roboto"/>
                <a:ea typeface="Roboto"/>
                <a:cs typeface="Roboto"/>
                <a:sym typeface="Roboto"/>
              </a:rPr>
              <a:t>Reversing a linked list means:</a:t>
            </a:r>
            <a:br>
              <a:rPr b="1" i="0" lang="en" sz="1200" u="none" cap="none" strike="noStrike">
                <a:solidFill>
                  <a:schemeClr val="dk1"/>
                </a:solidFill>
                <a:latin typeface="Roboto"/>
                <a:ea typeface="Roboto"/>
                <a:cs typeface="Roboto"/>
                <a:sym typeface="Roboto"/>
              </a:rPr>
            </a:br>
            <a:endParaRPr b="1" i="0" sz="1200" u="none" cap="none" strike="noStrike">
              <a:solidFill>
                <a:schemeClr val="dk1"/>
              </a:solidFill>
              <a:latin typeface="Roboto"/>
              <a:ea typeface="Roboto"/>
              <a:cs typeface="Roboto"/>
              <a:sym typeface="Roboto"/>
            </a:endParaRPr>
          </a:p>
          <a:p>
            <a:pPr indent="-304800" lvl="0" marL="457200" marR="0" rtl="0" algn="l">
              <a:lnSpc>
                <a:spcPct val="50000"/>
              </a:lnSpc>
              <a:spcBef>
                <a:spcPts val="1200"/>
              </a:spcBef>
              <a:spcAft>
                <a:spcPts val="0"/>
              </a:spcAft>
              <a:buClr>
                <a:schemeClr val="dk1"/>
              </a:buClr>
              <a:buSzPts val="1200"/>
              <a:buFont typeface="Roboto"/>
              <a:buChar char="●"/>
            </a:pPr>
            <a:r>
              <a:rPr b="1" i="0" lang="en" sz="1200" u="none" cap="none" strike="noStrike">
                <a:solidFill>
                  <a:schemeClr val="dk1"/>
                </a:solidFill>
                <a:latin typeface="Roboto"/>
                <a:ea typeface="Roboto"/>
                <a:cs typeface="Roboto"/>
                <a:sym typeface="Roboto"/>
              </a:rPr>
              <a:t>The first node becomes the last.</a:t>
            </a:r>
            <a:endParaRPr b="1" i="0" sz="1200" u="none" cap="none" strike="noStrike">
              <a:solidFill>
                <a:schemeClr val="dk1"/>
              </a:solidFill>
              <a:latin typeface="Roboto"/>
              <a:ea typeface="Roboto"/>
              <a:cs typeface="Roboto"/>
              <a:sym typeface="Roboto"/>
            </a:endParaRPr>
          </a:p>
          <a:p>
            <a:pPr indent="0" lvl="0" marL="457200" marR="0" rtl="0" algn="l">
              <a:lnSpc>
                <a:spcPct val="50000"/>
              </a:lnSpc>
              <a:spcBef>
                <a:spcPts val="1200"/>
              </a:spcBef>
              <a:spcAft>
                <a:spcPts val="0"/>
              </a:spcAft>
              <a:buClr>
                <a:schemeClr val="dk1"/>
              </a:buClr>
              <a:buSzPts val="1100"/>
              <a:buFont typeface="Arial"/>
              <a:buNone/>
            </a:pPr>
            <a:r>
              <a:rPr b="0" i="0" lang="en" sz="1200" u="none" cap="none" strike="noStrike">
                <a:solidFill>
                  <a:schemeClr val="dk1"/>
                </a:solidFill>
                <a:latin typeface="Roboto"/>
                <a:ea typeface="Roboto"/>
                <a:cs typeface="Roboto"/>
                <a:sym typeface="Roboto"/>
              </a:rPr>
              <a:t>The head (start) of the original list becomes the tail in the reversed list.</a:t>
            </a:r>
            <a:endParaRPr b="0" i="0" sz="1200" u="none" cap="none" strike="noStrike">
              <a:solidFill>
                <a:schemeClr val="dk1"/>
              </a:solidFill>
              <a:latin typeface="Roboto"/>
              <a:ea typeface="Roboto"/>
              <a:cs typeface="Roboto"/>
              <a:sym typeface="Roboto"/>
            </a:endParaRPr>
          </a:p>
          <a:p>
            <a:pPr indent="0" lvl="0" marL="457200" marR="0" rtl="0" algn="l">
              <a:lnSpc>
                <a:spcPct val="50000"/>
              </a:lnSpc>
              <a:spcBef>
                <a:spcPts val="1200"/>
              </a:spcBef>
              <a:spcAft>
                <a:spcPts val="0"/>
              </a:spcAft>
              <a:buClr>
                <a:schemeClr val="dk1"/>
              </a:buClr>
              <a:buSzPts val="1100"/>
              <a:buFont typeface="Arial"/>
              <a:buNone/>
            </a:pPr>
            <a:r>
              <a:t/>
            </a:r>
            <a:endParaRPr b="1" i="0" sz="1200" u="none" cap="none" strike="noStrike">
              <a:solidFill>
                <a:schemeClr val="dk1"/>
              </a:solidFill>
              <a:latin typeface="Roboto"/>
              <a:ea typeface="Roboto"/>
              <a:cs typeface="Roboto"/>
              <a:sym typeface="Roboto"/>
            </a:endParaRPr>
          </a:p>
          <a:p>
            <a:pPr indent="-304800" lvl="0" marL="457200" marR="0" rtl="0" algn="l">
              <a:lnSpc>
                <a:spcPct val="50000"/>
              </a:lnSpc>
              <a:spcBef>
                <a:spcPts val="1200"/>
              </a:spcBef>
              <a:spcAft>
                <a:spcPts val="0"/>
              </a:spcAft>
              <a:buClr>
                <a:schemeClr val="dk1"/>
              </a:buClr>
              <a:buSzPts val="1200"/>
              <a:buFont typeface="Roboto"/>
              <a:buChar char="●"/>
            </a:pPr>
            <a:r>
              <a:rPr b="1" i="0" lang="en" sz="1200" u="none" cap="none" strike="noStrike">
                <a:solidFill>
                  <a:schemeClr val="dk1"/>
                </a:solidFill>
                <a:latin typeface="Roboto"/>
                <a:ea typeface="Roboto"/>
                <a:cs typeface="Roboto"/>
                <a:sym typeface="Roboto"/>
              </a:rPr>
              <a:t>The last node becomes the first.</a:t>
            </a:r>
            <a:endParaRPr b="1" i="0" sz="1200" u="none" cap="none" strike="noStrike">
              <a:solidFill>
                <a:schemeClr val="dk1"/>
              </a:solidFill>
              <a:latin typeface="Roboto"/>
              <a:ea typeface="Roboto"/>
              <a:cs typeface="Roboto"/>
              <a:sym typeface="Roboto"/>
            </a:endParaRPr>
          </a:p>
          <a:p>
            <a:pPr indent="0" lvl="0" marL="457200" marR="0" rtl="0" algn="l">
              <a:lnSpc>
                <a:spcPct val="50000"/>
              </a:lnSpc>
              <a:spcBef>
                <a:spcPts val="1200"/>
              </a:spcBef>
              <a:spcAft>
                <a:spcPts val="0"/>
              </a:spcAft>
              <a:buClr>
                <a:schemeClr val="dk1"/>
              </a:buClr>
              <a:buSzPts val="1100"/>
              <a:buFont typeface="Arial"/>
              <a:buNone/>
            </a:pPr>
            <a:r>
              <a:rPr b="0" i="0" lang="en" sz="1200" u="none" cap="none" strike="noStrike">
                <a:solidFill>
                  <a:schemeClr val="dk1"/>
                </a:solidFill>
                <a:latin typeface="Roboto"/>
                <a:ea typeface="Roboto"/>
                <a:cs typeface="Roboto"/>
                <a:sym typeface="Roboto"/>
              </a:rPr>
              <a:t>The tail (end) of the original list becomes the new head after reversal.</a:t>
            </a:r>
            <a:br>
              <a:rPr b="0" i="0" lang="en" sz="1200" u="none" cap="none" strike="noStrike">
                <a:solidFill>
                  <a:schemeClr val="dk1"/>
                </a:solidFill>
                <a:latin typeface="Roboto"/>
                <a:ea typeface="Roboto"/>
                <a:cs typeface="Roboto"/>
                <a:sym typeface="Roboto"/>
              </a:rPr>
            </a:br>
            <a:endParaRPr b="1" i="0" sz="1200" u="none" cap="none" strike="noStrike">
              <a:solidFill>
                <a:schemeClr val="dk1"/>
              </a:solidFill>
              <a:latin typeface="Roboto"/>
              <a:ea typeface="Roboto"/>
              <a:cs typeface="Roboto"/>
              <a:sym typeface="Roboto"/>
            </a:endParaRPr>
          </a:p>
          <a:p>
            <a:pPr indent="-304800" lvl="0" marL="457200" marR="0" rtl="0" algn="l">
              <a:lnSpc>
                <a:spcPct val="50000"/>
              </a:lnSpc>
              <a:spcBef>
                <a:spcPts val="1200"/>
              </a:spcBef>
              <a:spcAft>
                <a:spcPts val="0"/>
              </a:spcAft>
              <a:buClr>
                <a:schemeClr val="dk1"/>
              </a:buClr>
              <a:buSzPts val="1200"/>
              <a:buFont typeface="Roboto"/>
              <a:buChar char="●"/>
            </a:pPr>
            <a:r>
              <a:rPr b="1" i="0" lang="en" sz="1200" u="none" cap="none" strike="noStrike">
                <a:solidFill>
                  <a:schemeClr val="dk1"/>
                </a:solidFill>
                <a:latin typeface="Roboto"/>
                <a:ea typeface="Roboto"/>
                <a:cs typeface="Roboto"/>
                <a:sym typeface="Roboto"/>
              </a:rPr>
              <a:t>The links are reversed — not the data.</a:t>
            </a:r>
            <a:endParaRPr b="1" i="0" sz="1200" u="none" cap="none" strike="noStrike">
              <a:solidFill>
                <a:schemeClr val="dk1"/>
              </a:solidFill>
              <a:latin typeface="Roboto"/>
              <a:ea typeface="Roboto"/>
              <a:cs typeface="Roboto"/>
              <a:sym typeface="Roboto"/>
            </a:endParaRPr>
          </a:p>
          <a:p>
            <a:pPr indent="0" lvl="0" marL="457200" marR="0" rtl="0" algn="l">
              <a:lnSpc>
                <a:spcPct val="50000"/>
              </a:lnSpc>
              <a:spcBef>
                <a:spcPts val="800"/>
              </a:spcBef>
              <a:spcAft>
                <a:spcPts val="0"/>
              </a:spcAft>
              <a:buClr>
                <a:schemeClr val="dk1"/>
              </a:buClr>
              <a:buSzPts val="1100"/>
              <a:buFont typeface="Arial"/>
              <a:buNone/>
            </a:pPr>
            <a:r>
              <a:rPr b="0" i="0" lang="en" sz="1200" u="none" cap="none" strike="noStrike">
                <a:solidFill>
                  <a:schemeClr val="dk1"/>
                </a:solidFill>
                <a:latin typeface="Roboto"/>
                <a:ea typeface="Roboto"/>
                <a:cs typeface="Roboto"/>
                <a:sym typeface="Roboto"/>
              </a:rPr>
              <a:t>Only the next pointers are changed; node values remain unchanged.</a:t>
            </a:r>
            <a:endParaRPr b="0" i="0" sz="1400" u="none" cap="none" strike="noStrike">
              <a:solidFill>
                <a:schemeClr val="dk1"/>
              </a:solidFill>
              <a:latin typeface="Arial"/>
              <a:ea typeface="Arial"/>
              <a:cs typeface="Arial"/>
              <a:sym typeface="Arial"/>
            </a:endParaRPr>
          </a:p>
          <a:p>
            <a:pPr indent="0" lvl="0" marL="457200" marR="0" rtl="0" algn="l">
              <a:lnSpc>
                <a:spcPct val="50000"/>
              </a:lnSpc>
              <a:spcBef>
                <a:spcPts val="800"/>
              </a:spcBef>
              <a:spcAft>
                <a:spcPts val="0"/>
              </a:spcAft>
              <a:buClr>
                <a:schemeClr val="dk1"/>
              </a:buClr>
              <a:buSzPts val="11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b="1" i="0" lang="en" sz="1400" u="none" cap="none" strike="noStrike">
                <a:solidFill>
                  <a:schemeClr val="dk1"/>
                </a:solidFill>
                <a:latin typeface="Roboto"/>
                <a:ea typeface="Roboto"/>
                <a:cs typeface="Roboto"/>
                <a:sym typeface="Roboto"/>
              </a:rPr>
              <a:t>                                                                               </a:t>
            </a:r>
            <a:endParaRPr b="1" i="0" sz="140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rPr b="1" i="0" lang="en" sz="1400" u="none" cap="none" strike="noStrike">
                <a:solidFill>
                  <a:schemeClr val="dk1"/>
                </a:solidFill>
                <a:latin typeface="Roboto"/>
                <a:ea typeface="Roboto"/>
                <a:cs typeface="Roboto"/>
                <a:sym typeface="Roboto"/>
              </a:rPr>
              <a:t>                                                                                  </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1400"/>
              <a:buFont typeface="Arial"/>
              <a:buNone/>
            </a:pPr>
            <a:r>
              <a:t/>
            </a:r>
            <a:endParaRPr b="1" i="0" sz="1400" u="none" cap="none" strike="noStrike">
              <a:solidFill>
                <a:schemeClr val="dk1"/>
              </a:solidFill>
              <a:latin typeface="Roboto"/>
              <a:ea typeface="Roboto"/>
              <a:cs typeface="Roboto"/>
              <a:sym typeface="Roboto"/>
            </a:endParaRPr>
          </a:p>
        </p:txBody>
      </p:sp>
      <p:sp>
        <p:nvSpPr>
          <p:cNvPr id="152" name="Google Shape;152;p21"/>
          <p:cNvSpPr txBox="1"/>
          <p:nvPr/>
        </p:nvSpPr>
        <p:spPr>
          <a:xfrm>
            <a:off x="859050" y="3173175"/>
            <a:ext cx="2460900" cy="769500"/>
          </a:xfrm>
          <a:prstGeom prst="rect">
            <a:avLst/>
          </a:prstGeom>
          <a:solidFill>
            <a:srgbClr val="FFE599"/>
          </a:solidFill>
          <a:ln cap="flat" cmpd="sng" w="38100">
            <a:solidFill>
              <a:srgbClr val="8181EF"/>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Roboto"/>
                <a:ea typeface="Roboto"/>
                <a:cs typeface="Roboto"/>
                <a:sym typeface="Roboto"/>
              </a:rPr>
              <a:t>Original: 1 → 2 → 3 → 4 → null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1"/>
          <p:cNvSpPr/>
          <p:nvPr/>
        </p:nvSpPr>
        <p:spPr>
          <a:xfrm>
            <a:off x="5681050" y="3212775"/>
            <a:ext cx="2460900" cy="729900"/>
          </a:xfrm>
          <a:prstGeom prst="rect">
            <a:avLst/>
          </a:prstGeom>
          <a:solidFill>
            <a:srgbClr val="FCE5CD"/>
          </a:solid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800"/>
              </a:spcBef>
              <a:spcAft>
                <a:spcPts val="0"/>
              </a:spcAft>
              <a:buClr>
                <a:schemeClr val="dk1"/>
              </a:buClr>
              <a:buSzPts val="1400"/>
              <a:buFont typeface="Arial"/>
              <a:buNone/>
            </a:pPr>
            <a:r>
              <a:rPr b="0" i="0" lang="en" sz="1200" u="none" cap="none" strike="noStrike">
                <a:solidFill>
                  <a:schemeClr val="dk1"/>
                </a:solidFill>
                <a:latin typeface="Roboto"/>
                <a:ea typeface="Roboto"/>
                <a:cs typeface="Roboto"/>
                <a:sym typeface="Roboto"/>
              </a:rPr>
              <a:t>Reversed: null ← 1 ← 2 ← 3 ← 4</a:t>
            </a:r>
            <a:endParaRPr b="0" i="0" sz="1400" u="none" cap="none" strike="noStrike">
              <a:solidFill>
                <a:srgbClr val="000000"/>
              </a:solidFill>
              <a:latin typeface="Roboto"/>
              <a:ea typeface="Roboto"/>
              <a:cs typeface="Roboto"/>
              <a:sym typeface="Roboto"/>
            </a:endParaRPr>
          </a:p>
        </p:txBody>
      </p:sp>
      <p:sp>
        <p:nvSpPr>
          <p:cNvPr id="154" name="Google Shape;154;p21"/>
          <p:cNvSpPr/>
          <p:nvPr/>
        </p:nvSpPr>
        <p:spPr>
          <a:xfrm>
            <a:off x="3897200" y="3431925"/>
            <a:ext cx="1206600" cy="252000"/>
          </a:xfrm>
          <a:prstGeom prst="rightArrow">
            <a:avLst>
              <a:gd fmla="val 50000" name="adj1"/>
              <a:gd fmla="val 50000" name="adj2"/>
            </a:avLst>
          </a:prstGeom>
          <a:solidFill>
            <a:srgbClr val="807FEC"/>
          </a:solidFill>
          <a:ln cap="flat" cmpd="sng" w="38100">
            <a:solidFill>
              <a:srgbClr val="6332D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2"/>
          <p:cNvSpPr txBox="1"/>
          <p:nvPr/>
        </p:nvSpPr>
        <p:spPr>
          <a:xfrm>
            <a:off x="434425" y="912275"/>
            <a:ext cx="8263500" cy="3648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t/>
            </a:r>
            <a:endParaRPr b="1">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a:solidFill>
                  <a:schemeClr val="dk1"/>
                </a:solidFill>
                <a:latin typeface="Roboto"/>
                <a:ea typeface="Roboto"/>
                <a:cs typeface="Roboto"/>
                <a:sym typeface="Roboto"/>
              </a:rPr>
              <a:t>You are given a singly linked list containing N nodes.</a:t>
            </a:r>
            <a:br>
              <a:rPr lang="en">
                <a:solidFill>
                  <a:schemeClr val="dk1"/>
                </a:solidFill>
                <a:latin typeface="Roboto"/>
                <a:ea typeface="Roboto"/>
                <a:cs typeface="Roboto"/>
                <a:sym typeface="Roboto"/>
              </a:rPr>
            </a:br>
            <a:r>
              <a:rPr lang="en">
                <a:solidFill>
                  <a:schemeClr val="dk1"/>
                </a:solidFill>
                <a:latin typeface="Roboto"/>
                <a:ea typeface="Roboto"/>
                <a:cs typeface="Roboto"/>
                <a:sym typeface="Roboto"/>
              </a:rPr>
              <a:t> Your task is to reverse the linked list by changing the links between nodes and print the </a:t>
            </a:r>
            <a:r>
              <a:rPr lang="en">
                <a:solidFill>
                  <a:schemeClr val="dk1"/>
                </a:solidFill>
                <a:latin typeface="Roboto"/>
                <a:ea typeface="Roboto"/>
                <a:cs typeface="Roboto"/>
                <a:sym typeface="Roboto"/>
              </a:rPr>
              <a:t>reversed </a:t>
            </a:r>
            <a:r>
              <a:rPr lang="en">
                <a:solidFill>
                  <a:schemeClr val="dk1"/>
                </a:solidFill>
                <a:latin typeface="Roboto"/>
                <a:ea typeface="Roboto"/>
                <a:cs typeface="Roboto"/>
                <a:sym typeface="Roboto"/>
              </a:rPr>
              <a:t>linked list.</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a:solidFill>
                  <a:schemeClr val="dk1"/>
                </a:solidFill>
                <a:latin typeface="Roboto"/>
                <a:ea typeface="Roboto"/>
                <a:cs typeface="Roboto"/>
                <a:sym typeface="Roboto"/>
              </a:rPr>
              <a:t>In a singly linked list, each node contains:</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
                <a:solidFill>
                  <a:schemeClr val="dk1"/>
                </a:solidFill>
                <a:latin typeface="Roboto"/>
                <a:ea typeface="Roboto"/>
                <a:cs typeface="Roboto"/>
                <a:sym typeface="Roboto"/>
              </a:rPr>
              <a:t>Data</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 pointer to the next node</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a:solidFill>
                  <a:schemeClr val="dk1"/>
                </a:solidFill>
                <a:latin typeface="Roboto"/>
                <a:ea typeface="Roboto"/>
                <a:cs typeface="Roboto"/>
                <a:sym typeface="Roboto"/>
              </a:rPr>
              <a:t>After reversing:</a:t>
            </a:r>
            <a:endParaRPr>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
                <a:solidFill>
                  <a:schemeClr val="dk1"/>
                </a:solidFill>
                <a:latin typeface="Roboto"/>
                <a:ea typeface="Roboto"/>
                <a:cs typeface="Roboto"/>
                <a:sym typeface="Roboto"/>
              </a:rPr>
              <a:t>The first node should become the last node.</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The last node should become the new head of the list.</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Only the links should be reversed, not the node data.</a:t>
            </a:r>
            <a:endParaRPr>
              <a:solidFill>
                <a:schemeClr val="dk1"/>
              </a:solidFill>
              <a:latin typeface="Roboto"/>
              <a:ea typeface="Roboto"/>
              <a:cs typeface="Roboto"/>
              <a:sym typeface="Roboto"/>
            </a:endParaRPr>
          </a:p>
        </p:txBody>
      </p:sp>
      <p:sp>
        <p:nvSpPr>
          <p:cNvPr id="160" name="Google Shape;160;p22"/>
          <p:cNvSpPr txBox="1"/>
          <p:nvPr/>
        </p:nvSpPr>
        <p:spPr>
          <a:xfrm>
            <a:off x="330175" y="534700"/>
            <a:ext cx="5826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700">
                <a:solidFill>
                  <a:srgbClr val="807FEC"/>
                </a:solidFill>
                <a:latin typeface="Roboto"/>
                <a:ea typeface="Roboto"/>
                <a:cs typeface="Roboto"/>
                <a:sym typeface="Roboto"/>
              </a:rPr>
              <a:t>Problem Statement – Reverse Linked List</a:t>
            </a:r>
            <a:endParaRPr sz="1700">
              <a:solidFill>
                <a:srgbClr val="807FEC"/>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3"/>
          <p:cNvSpPr txBox="1"/>
          <p:nvPr/>
        </p:nvSpPr>
        <p:spPr>
          <a:xfrm>
            <a:off x="330175" y="1077375"/>
            <a:ext cx="7638000" cy="3630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a:solidFill>
                  <a:schemeClr val="dk1"/>
                </a:solidFill>
                <a:latin typeface="Roboto"/>
                <a:ea typeface="Roboto"/>
                <a:cs typeface="Roboto"/>
                <a:sym typeface="Roboto"/>
              </a:rPr>
              <a:t>Input Format</a:t>
            </a:r>
            <a:endParaRPr b="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latin typeface="Roboto"/>
                <a:ea typeface="Roboto"/>
                <a:cs typeface="Roboto"/>
                <a:sym typeface="Roboto"/>
              </a:rPr>
              <a:t>The first line contains an integer N representing the number of nodes.</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Char char="●"/>
            </a:pPr>
            <a:r>
              <a:rPr lang="en">
                <a:solidFill>
                  <a:schemeClr val="dk1"/>
                </a:solidFill>
                <a:latin typeface="Roboto"/>
                <a:ea typeface="Roboto"/>
                <a:cs typeface="Roboto"/>
                <a:sym typeface="Roboto"/>
              </a:rPr>
              <a:t>The second line contains N space-separated integers representing the elements of the linked list.</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en">
                <a:solidFill>
                  <a:schemeClr val="dk1"/>
                </a:solidFill>
                <a:latin typeface="Roboto"/>
                <a:ea typeface="Roboto"/>
                <a:cs typeface="Roboto"/>
                <a:sym typeface="Roboto"/>
              </a:rPr>
              <a:t>Output Format</a:t>
            </a:r>
            <a:endParaRPr b="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
                <a:solidFill>
                  <a:schemeClr val="dk1"/>
                </a:solidFill>
                <a:latin typeface="Roboto"/>
                <a:ea typeface="Roboto"/>
                <a:cs typeface="Roboto"/>
                <a:sym typeface="Roboto"/>
              </a:rPr>
              <a:t>Print the reversed linked list.</a:t>
            </a:r>
            <a:endParaRPr>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rPr b="1" lang="en">
                <a:solidFill>
                  <a:schemeClr val="dk1"/>
                </a:solidFill>
                <a:latin typeface="Roboto"/>
                <a:ea typeface="Roboto"/>
                <a:cs typeface="Roboto"/>
                <a:sym typeface="Roboto"/>
              </a:rPr>
              <a:t>Constraints</a:t>
            </a:r>
            <a:endParaRPr b="1">
              <a:solidFill>
                <a:schemeClr val="dk1"/>
              </a:solidFill>
              <a:latin typeface="Roboto"/>
              <a:ea typeface="Roboto"/>
              <a:cs typeface="Roboto"/>
              <a:sym typeface="Roboto"/>
            </a:endParaRPr>
          </a:p>
          <a:p>
            <a:pPr indent="-317500" lvl="0" marL="457200" rtl="0" algn="l">
              <a:lnSpc>
                <a:spcPct val="115000"/>
              </a:lnSpc>
              <a:spcBef>
                <a:spcPts val="1200"/>
              </a:spcBef>
              <a:spcAft>
                <a:spcPts val="0"/>
              </a:spcAft>
              <a:buClr>
                <a:schemeClr val="dk1"/>
              </a:buClr>
              <a:buSzPts val="1400"/>
              <a:buFont typeface="Roboto"/>
              <a:buChar char="●"/>
            </a:pPr>
            <a:r>
              <a:rPr lang="en">
                <a:solidFill>
                  <a:schemeClr val="dk1"/>
                </a:solidFill>
                <a:latin typeface="Roboto"/>
                <a:ea typeface="Roboto"/>
                <a:cs typeface="Roboto"/>
                <a:sym typeface="Roboto"/>
              </a:rPr>
              <a:t>1 ≤ N ≤ 10^5</a:t>
            </a:r>
            <a:endParaRPr>
              <a:solidFill>
                <a:schemeClr val="dk1"/>
              </a:solidFill>
              <a:latin typeface="Roboto"/>
              <a:ea typeface="Roboto"/>
              <a:cs typeface="Roboto"/>
              <a:sym typeface="Roboto"/>
            </a:endParaRPr>
          </a:p>
          <a:p>
            <a:pPr indent="-317500" lvl="0" marL="457200" rtl="0" algn="l">
              <a:lnSpc>
                <a:spcPct val="115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-10^9 ≤ Node Value ≤ 10^9</a:t>
            </a:r>
            <a:endParaRPr>
              <a:solidFill>
                <a:schemeClr val="dk1"/>
              </a:solidFill>
              <a:latin typeface="Roboto"/>
              <a:ea typeface="Roboto"/>
              <a:cs typeface="Roboto"/>
              <a:sym typeface="Roboto"/>
            </a:endParaRPr>
          </a:p>
          <a:p>
            <a:pPr indent="0" lvl="0" marL="0" rtl="0" algn="l">
              <a:lnSpc>
                <a:spcPct val="115000"/>
              </a:lnSpc>
              <a:spcBef>
                <a:spcPts val="1400"/>
              </a:spcBef>
              <a:spcAft>
                <a:spcPts val="400"/>
              </a:spcAft>
              <a:buNone/>
            </a:pPr>
            <a:r>
              <a:t/>
            </a:r>
            <a:endParaRPr b="1">
              <a:solidFill>
                <a:schemeClr val="dk1"/>
              </a:solidFill>
              <a:latin typeface="Roboto"/>
              <a:ea typeface="Roboto"/>
              <a:cs typeface="Roboto"/>
              <a:sym typeface="Roboto"/>
            </a:endParaRPr>
          </a:p>
        </p:txBody>
      </p:sp>
      <p:sp>
        <p:nvSpPr>
          <p:cNvPr id="166" name="Google Shape;166;p23"/>
          <p:cNvSpPr txBox="1"/>
          <p:nvPr/>
        </p:nvSpPr>
        <p:spPr>
          <a:xfrm>
            <a:off x="265350" y="560750"/>
            <a:ext cx="7216200" cy="92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rgbClr val="8181EF"/>
                </a:solidFill>
              </a:rPr>
              <a:t>Input, Output format and Constraints </a:t>
            </a:r>
            <a:r>
              <a:rPr b="1" lang="en" sz="1700">
                <a:solidFill>
                  <a:srgbClr val="807FEC"/>
                </a:solidFill>
                <a:latin typeface="Roboto"/>
                <a:ea typeface="Roboto"/>
                <a:cs typeface="Roboto"/>
                <a:sym typeface="Roboto"/>
              </a:rPr>
              <a:t>– Reverse Linked List</a:t>
            </a:r>
            <a:endParaRPr sz="1700">
              <a:solidFill>
                <a:srgbClr val="807FEC"/>
              </a:solidFill>
              <a:latin typeface="Roboto"/>
              <a:ea typeface="Roboto"/>
              <a:cs typeface="Roboto"/>
              <a:sym typeface="Roboto"/>
            </a:endParaRPr>
          </a:p>
          <a:p>
            <a:pPr indent="0" lvl="0" marL="0" rtl="0" algn="l">
              <a:lnSpc>
                <a:spcPct val="115000"/>
              </a:lnSpc>
              <a:spcBef>
                <a:spcPts val="1400"/>
              </a:spcBef>
              <a:spcAft>
                <a:spcPts val="400"/>
              </a:spcAft>
              <a:buNone/>
            </a:pPr>
            <a:r>
              <a:t/>
            </a:r>
            <a:endParaRPr b="1" sz="1700">
              <a:solidFill>
                <a:srgbClr val="8181E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4"/>
          <p:cNvSpPr/>
          <p:nvPr/>
        </p:nvSpPr>
        <p:spPr>
          <a:xfrm>
            <a:off x="591800" y="1426825"/>
            <a:ext cx="3684000" cy="2754300"/>
          </a:xfrm>
          <a:prstGeom prst="parallelogram">
            <a:avLst>
              <a:gd fmla="val 25000" name="adj"/>
            </a:avLst>
          </a:prstGeom>
          <a:solidFill>
            <a:srgbClr val="8181EF">
              <a:alpha val="56330"/>
            </a:srgbClr>
          </a:solidFill>
          <a:ln cap="flat" cmpd="sng" w="38100">
            <a:solidFill>
              <a:srgbClr val="8181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a:solidFill>
                  <a:schemeClr val="dk1"/>
                </a:solidFill>
                <a:latin typeface="Roboto"/>
                <a:ea typeface="Roboto"/>
                <a:cs typeface="Roboto"/>
                <a:sym typeface="Roboto"/>
              </a:rPr>
              <a:t>Sample Input</a:t>
            </a:r>
            <a:endParaRPr b="1">
              <a:solidFill>
                <a:schemeClr val="dk1"/>
              </a:solidFill>
              <a:latin typeface="Roboto"/>
              <a:ea typeface="Roboto"/>
              <a:cs typeface="Roboto"/>
              <a:sym typeface="Roboto"/>
            </a:endParaRPr>
          </a:p>
          <a:p>
            <a:pPr indent="0" lvl="0" marL="0" rtl="0" algn="l">
              <a:lnSpc>
                <a:spcPct val="115000"/>
              </a:lnSpc>
              <a:spcBef>
                <a:spcPts val="1400"/>
              </a:spcBef>
              <a:spcAft>
                <a:spcPts val="0"/>
              </a:spcAft>
              <a:buClr>
                <a:schemeClr val="dk1"/>
              </a:buClr>
              <a:buSzPts val="1100"/>
              <a:buFont typeface="Arial"/>
              <a:buNone/>
            </a:pPr>
            <a:r>
              <a:rPr lang="en">
                <a:solidFill>
                  <a:schemeClr val="dk1"/>
                </a:solidFill>
                <a:highlight>
                  <a:schemeClr val="lt1"/>
                </a:highlight>
                <a:latin typeface="Roboto"/>
                <a:ea typeface="Roboto"/>
                <a:cs typeface="Roboto"/>
                <a:sym typeface="Roboto"/>
              </a:rPr>
              <a:t>5</a:t>
            </a:r>
            <a:endParaRPr>
              <a:solidFill>
                <a:schemeClr val="dk1"/>
              </a:solidFill>
              <a:highlight>
                <a:schemeClr val="lt1"/>
              </a:highlight>
              <a:latin typeface="Roboto"/>
              <a:ea typeface="Roboto"/>
              <a:cs typeface="Roboto"/>
              <a:sym typeface="Roboto"/>
            </a:endParaRPr>
          </a:p>
          <a:p>
            <a:pPr indent="0" lvl="0" marL="0" rtl="0" algn="l">
              <a:lnSpc>
                <a:spcPct val="115000"/>
              </a:lnSpc>
              <a:spcBef>
                <a:spcPts val="400"/>
              </a:spcBef>
              <a:spcAft>
                <a:spcPts val="0"/>
              </a:spcAft>
              <a:buNone/>
            </a:pPr>
            <a:r>
              <a:t/>
            </a:r>
            <a:endParaRPr>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highlight>
                  <a:schemeClr val="lt1"/>
                </a:highlight>
                <a:latin typeface="Roboto"/>
                <a:ea typeface="Roboto"/>
                <a:cs typeface="Roboto"/>
                <a:sym typeface="Roboto"/>
              </a:rPr>
              <a:t>10 20 30 40 50</a:t>
            </a:r>
            <a:endParaRPr>
              <a:solidFill>
                <a:schemeClr val="dk1"/>
              </a:solidFill>
              <a:highlight>
                <a:schemeClr val="lt1"/>
              </a:highlight>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172" name="Google Shape;172;p24"/>
          <p:cNvSpPr/>
          <p:nvPr/>
        </p:nvSpPr>
        <p:spPr>
          <a:xfrm>
            <a:off x="4572000" y="1470325"/>
            <a:ext cx="3536100" cy="2667300"/>
          </a:xfrm>
          <a:prstGeom prst="parallelogram">
            <a:avLst>
              <a:gd fmla="val 25000" name="adj"/>
            </a:avLst>
          </a:prstGeom>
          <a:no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None/>
            </a:pPr>
            <a:r>
              <a:rPr b="1" lang="en">
                <a:solidFill>
                  <a:schemeClr val="dk1"/>
                </a:solidFill>
                <a:latin typeface="Roboto"/>
                <a:ea typeface="Roboto"/>
                <a:cs typeface="Roboto"/>
                <a:sym typeface="Roboto"/>
              </a:rPr>
              <a:t>Sample Output</a:t>
            </a:r>
            <a:endParaRPr b="1">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t/>
            </a:r>
            <a:endParaRPr b="1">
              <a:solidFill>
                <a:schemeClr val="dk1"/>
              </a:solidFill>
              <a:latin typeface="Roboto"/>
              <a:ea typeface="Roboto"/>
              <a:cs typeface="Roboto"/>
              <a:sym typeface="Roboto"/>
            </a:endParaRPr>
          </a:p>
          <a:p>
            <a:pPr indent="0" lvl="0" marL="0" rtl="0" algn="l">
              <a:lnSpc>
                <a:spcPct val="115000"/>
              </a:lnSpc>
              <a:spcBef>
                <a:spcPts val="1400"/>
              </a:spcBef>
              <a:spcAft>
                <a:spcPts val="0"/>
              </a:spcAft>
              <a:buNone/>
            </a:pPr>
            <a:r>
              <a:t/>
            </a:r>
            <a:endParaRPr b="1">
              <a:solidFill>
                <a:schemeClr val="dk1"/>
              </a:solidFill>
              <a:latin typeface="Roboto"/>
              <a:ea typeface="Roboto"/>
              <a:cs typeface="Roboto"/>
              <a:sym typeface="Roboto"/>
            </a:endParaRPr>
          </a:p>
          <a:p>
            <a:pPr indent="0" lvl="0" marL="0" rtl="0" algn="l">
              <a:lnSpc>
                <a:spcPct val="115000"/>
              </a:lnSpc>
              <a:spcBef>
                <a:spcPts val="400"/>
              </a:spcBef>
              <a:spcAft>
                <a:spcPts val="0"/>
              </a:spcAft>
              <a:buClr>
                <a:schemeClr val="dk1"/>
              </a:buClr>
              <a:buSzPts val="1100"/>
              <a:buFont typeface="Arial"/>
              <a:buNone/>
            </a:pPr>
            <a:r>
              <a:rPr lang="en">
                <a:solidFill>
                  <a:schemeClr val="dk1"/>
                </a:solidFill>
                <a:highlight>
                  <a:schemeClr val="lt1"/>
                </a:highlight>
                <a:latin typeface="Roboto"/>
                <a:ea typeface="Roboto"/>
                <a:cs typeface="Roboto"/>
                <a:sym typeface="Roboto"/>
              </a:rPr>
              <a:t>50 40 30 20 10</a:t>
            </a:r>
            <a:endParaRPr>
              <a:solidFill>
                <a:schemeClr val="dk1"/>
              </a:solidFill>
              <a:highlight>
                <a:schemeClr val="lt1"/>
              </a:highlight>
              <a:latin typeface="Roboto"/>
              <a:ea typeface="Roboto"/>
              <a:cs typeface="Roboto"/>
              <a:sym typeface="Roboto"/>
            </a:endParaRPr>
          </a:p>
        </p:txBody>
      </p:sp>
      <p:sp>
        <p:nvSpPr>
          <p:cNvPr id="173" name="Google Shape;173;p24"/>
          <p:cNvSpPr txBox="1"/>
          <p:nvPr/>
        </p:nvSpPr>
        <p:spPr>
          <a:xfrm>
            <a:off x="265350" y="560750"/>
            <a:ext cx="6669000" cy="926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700">
                <a:solidFill>
                  <a:srgbClr val="8181EF"/>
                </a:solidFill>
              </a:rPr>
              <a:t>Sample Input and Output </a:t>
            </a:r>
            <a:r>
              <a:rPr b="1" lang="en" sz="1700">
                <a:solidFill>
                  <a:srgbClr val="807FEC"/>
                </a:solidFill>
                <a:latin typeface="Roboto"/>
                <a:ea typeface="Roboto"/>
                <a:cs typeface="Roboto"/>
                <a:sym typeface="Roboto"/>
              </a:rPr>
              <a:t>– Reverse Linked List</a:t>
            </a:r>
            <a:endParaRPr sz="1700">
              <a:solidFill>
                <a:srgbClr val="807FEC"/>
              </a:solidFill>
              <a:latin typeface="Roboto"/>
              <a:ea typeface="Roboto"/>
              <a:cs typeface="Roboto"/>
              <a:sym typeface="Roboto"/>
            </a:endParaRPr>
          </a:p>
          <a:p>
            <a:pPr indent="0" lvl="0" marL="0" rtl="0" algn="l">
              <a:lnSpc>
                <a:spcPct val="115000"/>
              </a:lnSpc>
              <a:spcBef>
                <a:spcPts val="1400"/>
              </a:spcBef>
              <a:spcAft>
                <a:spcPts val="400"/>
              </a:spcAft>
              <a:buNone/>
            </a:pPr>
            <a:r>
              <a:t/>
            </a:r>
            <a:endParaRPr b="1" sz="1700">
              <a:solidFill>
                <a:srgbClr val="8181E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pic>
        <p:nvPicPr>
          <p:cNvPr id="178" name="Google Shape;178;p25"/>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79" name="Google Shape;179;p25"/>
          <p:cNvSpPr txBox="1"/>
          <p:nvPr/>
        </p:nvSpPr>
        <p:spPr>
          <a:xfrm>
            <a:off x="402600" y="435050"/>
            <a:ext cx="4550700" cy="47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700" u="none" cap="none" strike="noStrike">
                <a:solidFill>
                  <a:srgbClr val="8181EF"/>
                </a:solidFill>
                <a:latin typeface="Roboto"/>
                <a:ea typeface="Roboto"/>
                <a:cs typeface="Roboto"/>
                <a:sym typeface="Roboto"/>
              </a:rPr>
              <a:t>Example: </a:t>
            </a:r>
            <a:r>
              <a:rPr b="1" lang="en" sz="1700">
                <a:solidFill>
                  <a:srgbClr val="807FEC"/>
                </a:solidFill>
                <a:latin typeface="Roboto"/>
                <a:ea typeface="Roboto"/>
                <a:cs typeface="Roboto"/>
                <a:sym typeface="Roboto"/>
              </a:rPr>
              <a:t>– Reverse Linked List</a:t>
            </a:r>
            <a:endParaRPr sz="1700">
              <a:solidFill>
                <a:srgbClr val="807FEC"/>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200"/>
              <a:buFont typeface="Arial"/>
              <a:buNone/>
            </a:pPr>
            <a:r>
              <a:rPr b="1" i="0" lang="en" sz="1200" u="none" cap="none" strike="noStrike">
                <a:solidFill>
                  <a:schemeClr val="dk1"/>
                </a:solidFill>
                <a:latin typeface="Roboto"/>
                <a:ea typeface="Roboto"/>
                <a:cs typeface="Roboto"/>
                <a:sym typeface="Roboto"/>
              </a:rPr>
              <a:t>1 → 2 → 3 → 4 → null</a:t>
            </a:r>
            <a:endParaRPr b="1" i="0" sz="1200" u="none" cap="none" strike="noStrike">
              <a:solidFill>
                <a:schemeClr val="dk1"/>
              </a:solidFill>
              <a:latin typeface="Roboto"/>
              <a:ea typeface="Roboto"/>
              <a:cs typeface="Roboto"/>
              <a:sym typeface="Roboto"/>
            </a:endParaRPr>
          </a:p>
          <a:p>
            <a:pPr indent="0" lvl="0" marL="0" marR="0" rtl="0" algn="l">
              <a:lnSpc>
                <a:spcPct val="100000"/>
              </a:lnSpc>
              <a:spcBef>
                <a:spcPts val="1400"/>
              </a:spcBef>
              <a:spcAft>
                <a:spcPts val="0"/>
              </a:spcAft>
              <a:buClr>
                <a:srgbClr val="000000"/>
              </a:buClr>
              <a:buSzPts val="1400"/>
              <a:buFont typeface="Arial"/>
              <a:buNone/>
            </a:pPr>
            <a:r>
              <a:rPr b="1" i="0" lang="en" sz="1400" u="none" cap="none" strike="noStrike">
                <a:solidFill>
                  <a:schemeClr val="dk1"/>
                </a:solidFill>
                <a:latin typeface="Roboto"/>
                <a:ea typeface="Roboto"/>
                <a:cs typeface="Roboto"/>
                <a:sym typeface="Roboto"/>
              </a:rPr>
              <a:t>Step-by-Step Reversal:</a:t>
            </a:r>
            <a:endParaRPr b="1" i="0" sz="1400" u="none" cap="none" strike="noStrike">
              <a:solidFill>
                <a:schemeClr val="dk1"/>
              </a:solidFill>
              <a:latin typeface="Roboto"/>
              <a:ea typeface="Roboto"/>
              <a:cs typeface="Roboto"/>
              <a:sym typeface="Roboto"/>
            </a:endParaRPr>
          </a:p>
          <a:p>
            <a:pPr indent="-304800" lvl="0" marL="457200" marR="0" rtl="0" algn="l">
              <a:lnSpc>
                <a:spcPct val="90000"/>
              </a:lnSpc>
              <a:spcBef>
                <a:spcPts val="1000"/>
              </a:spcBef>
              <a:spcAft>
                <a:spcPts val="0"/>
              </a:spcAft>
              <a:buClr>
                <a:schemeClr val="dk1"/>
              </a:buClr>
              <a:buSzPts val="1200"/>
              <a:buFont typeface="Roboto"/>
              <a:buAutoNum type="arabicPeriod"/>
            </a:pPr>
            <a:r>
              <a:rPr b="0" i="0" lang="en" sz="1200" u="none" cap="none" strike="noStrike">
                <a:solidFill>
                  <a:schemeClr val="dk1"/>
                </a:solidFill>
                <a:latin typeface="Roboto"/>
                <a:ea typeface="Roboto"/>
                <a:cs typeface="Roboto"/>
                <a:sym typeface="Roboto"/>
              </a:rPr>
              <a:t>Initialize three pointers:</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prev = null</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curr = head (starts at node with data 1)</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next = null (used to temporarily store the next node)</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0" marL="457200" marR="0" rtl="0" algn="l">
              <a:lnSpc>
                <a:spcPct val="90000"/>
              </a:lnSpc>
              <a:spcBef>
                <a:spcPts val="0"/>
              </a:spcBef>
              <a:spcAft>
                <a:spcPts val="0"/>
              </a:spcAft>
              <a:buClr>
                <a:schemeClr val="dk1"/>
              </a:buClr>
              <a:buSzPts val="1200"/>
              <a:buFont typeface="Roboto"/>
              <a:buAutoNum type="arabicPeriod"/>
            </a:pPr>
            <a:r>
              <a:rPr b="0" i="0" lang="en" sz="1200" u="none" cap="none" strike="noStrike">
                <a:solidFill>
                  <a:schemeClr val="dk1"/>
                </a:solidFill>
                <a:latin typeface="Roboto"/>
                <a:ea typeface="Roboto"/>
                <a:cs typeface="Roboto"/>
                <a:sym typeface="Roboto"/>
              </a:rPr>
              <a:t>Step 1 (curr = 1):</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Store next = curr.next → next = 2</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Reverse link: curr.next = prev → 1.next = null</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Move prev and curr forward → prev = 1, curr = 2</a:t>
            </a:r>
            <a:endParaRPr b="0" i="0" sz="1200" u="none" cap="none" strike="noStrike">
              <a:solidFill>
                <a:schemeClr val="dk1"/>
              </a:solidFill>
              <a:latin typeface="Roboto"/>
              <a:ea typeface="Roboto"/>
              <a:cs typeface="Roboto"/>
              <a:sym typeface="Roboto"/>
            </a:endParaRPr>
          </a:p>
          <a:p>
            <a:pPr indent="0" lvl="0" marL="914400" marR="0" rtl="0" algn="l">
              <a:lnSpc>
                <a:spcPct val="90000"/>
              </a:lnSpc>
              <a:spcBef>
                <a:spcPts val="0"/>
              </a:spcBef>
              <a:spcAft>
                <a:spcPts val="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a:p>
            <a:pPr indent="-304800" lvl="0" marL="457200" marR="0" rtl="0" algn="l">
              <a:lnSpc>
                <a:spcPct val="90000"/>
              </a:lnSpc>
              <a:spcBef>
                <a:spcPts val="0"/>
              </a:spcBef>
              <a:spcAft>
                <a:spcPts val="0"/>
              </a:spcAft>
              <a:buClr>
                <a:schemeClr val="dk1"/>
              </a:buClr>
              <a:buSzPts val="1200"/>
              <a:buFont typeface="Roboto"/>
              <a:buAutoNum type="arabicPeriod"/>
            </a:pPr>
            <a:r>
              <a:rPr b="0" i="0" lang="en" sz="1200" u="none" cap="none" strike="noStrike">
                <a:solidFill>
                  <a:schemeClr val="dk1"/>
                </a:solidFill>
                <a:latin typeface="Roboto"/>
                <a:ea typeface="Roboto"/>
                <a:cs typeface="Roboto"/>
                <a:sym typeface="Roboto"/>
              </a:rPr>
              <a:t>Step 2 (curr = 2):</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Store next = curr.next → next = 3</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Reverse link: 2.next = 1</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Move prev = 2, curr = 3</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1200"/>
              </a:spcBef>
              <a:spcAft>
                <a:spcPts val="1200"/>
              </a:spcAft>
              <a:buClr>
                <a:srgbClr val="000000"/>
              </a:buClr>
              <a:buSzPts val="1200"/>
              <a:buFont typeface="Arial"/>
              <a:buNone/>
            </a:pPr>
            <a:r>
              <a:t/>
            </a:r>
            <a:endParaRPr b="0" i="0" sz="1200" u="none" cap="none" strike="noStrike">
              <a:solidFill>
                <a:schemeClr val="dk1"/>
              </a:solidFill>
              <a:latin typeface="Roboto"/>
              <a:ea typeface="Roboto"/>
              <a:cs typeface="Roboto"/>
              <a:sym typeface="Roboto"/>
            </a:endParaRPr>
          </a:p>
        </p:txBody>
      </p:sp>
      <p:sp>
        <p:nvSpPr>
          <p:cNvPr id="180" name="Google Shape;180;p25"/>
          <p:cNvSpPr txBox="1"/>
          <p:nvPr/>
        </p:nvSpPr>
        <p:spPr>
          <a:xfrm>
            <a:off x="5167675" y="1449450"/>
            <a:ext cx="3721200" cy="3038400"/>
          </a:xfrm>
          <a:prstGeom prst="rect">
            <a:avLst/>
          </a:prstGeom>
          <a:noFill/>
          <a:ln>
            <a:noFill/>
          </a:ln>
        </p:spPr>
        <p:txBody>
          <a:bodyPr anchorCtr="0" anchor="t" bIns="91425" lIns="91425" spcFirstLastPara="1" rIns="91425" wrap="square" tIns="91425">
            <a:spAutoFit/>
          </a:bodyPr>
          <a:lstStyle/>
          <a:p>
            <a:pPr indent="-304800" lvl="0" marL="457200" marR="0" rtl="0" algn="l">
              <a:lnSpc>
                <a:spcPct val="90000"/>
              </a:lnSpc>
              <a:spcBef>
                <a:spcPts val="0"/>
              </a:spcBef>
              <a:spcAft>
                <a:spcPts val="0"/>
              </a:spcAft>
              <a:buClr>
                <a:schemeClr val="dk1"/>
              </a:buClr>
              <a:buSzPts val="1200"/>
              <a:buFont typeface="Roboto"/>
              <a:buAutoNum type="arabicPeriod" startAt="4"/>
            </a:pPr>
            <a:r>
              <a:rPr b="0" i="0" lang="en" sz="1200" u="none" cap="none" strike="noStrike">
                <a:solidFill>
                  <a:schemeClr val="dk1"/>
                </a:solidFill>
                <a:latin typeface="Roboto"/>
                <a:ea typeface="Roboto"/>
                <a:cs typeface="Roboto"/>
                <a:sym typeface="Roboto"/>
              </a:rPr>
              <a:t>Step 3 (curr = 3):</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Store next = 4</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Reverse link: 3.next = 2</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Move prev = 3, curr = 4</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0" marL="457200" marR="0" rtl="0" algn="l">
              <a:lnSpc>
                <a:spcPct val="90000"/>
              </a:lnSpc>
              <a:spcBef>
                <a:spcPts val="0"/>
              </a:spcBef>
              <a:spcAft>
                <a:spcPts val="0"/>
              </a:spcAft>
              <a:buClr>
                <a:schemeClr val="dk1"/>
              </a:buClr>
              <a:buSzPts val="1200"/>
              <a:buFont typeface="Roboto"/>
              <a:buAutoNum type="arabicPeriod" startAt="4"/>
            </a:pPr>
            <a:r>
              <a:rPr b="0" i="0" lang="en" sz="1200" u="none" cap="none" strike="noStrike">
                <a:solidFill>
                  <a:schemeClr val="dk1"/>
                </a:solidFill>
                <a:latin typeface="Roboto"/>
                <a:ea typeface="Roboto"/>
                <a:cs typeface="Roboto"/>
                <a:sym typeface="Roboto"/>
              </a:rPr>
              <a:t>Step 4 (curr = 4):</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Store next = null</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Reverse link: 4.next = 3</a:t>
            </a: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Move prev = 4, curr = null (loop ends)</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0" marL="457200" marR="0" rtl="0" algn="l">
              <a:lnSpc>
                <a:spcPct val="90000"/>
              </a:lnSpc>
              <a:spcBef>
                <a:spcPts val="0"/>
              </a:spcBef>
              <a:spcAft>
                <a:spcPts val="0"/>
              </a:spcAft>
              <a:buClr>
                <a:schemeClr val="dk1"/>
              </a:buClr>
              <a:buSzPts val="1200"/>
              <a:buFont typeface="Roboto"/>
              <a:buAutoNum type="arabicPeriod" startAt="4"/>
            </a:pPr>
            <a:r>
              <a:rPr b="0" i="0" lang="en" sz="1200" u="none" cap="none" strike="noStrike">
                <a:solidFill>
                  <a:schemeClr val="dk1"/>
                </a:solidFill>
                <a:latin typeface="Roboto"/>
                <a:ea typeface="Roboto"/>
                <a:cs typeface="Roboto"/>
                <a:sym typeface="Roboto"/>
              </a:rPr>
              <a:t>After loop ends:</a:t>
            </a:r>
            <a:br>
              <a:rPr b="0" i="0" lang="en" sz="1200" u="none" cap="none" strike="noStrike">
                <a:solidFill>
                  <a:schemeClr val="dk1"/>
                </a:solidFill>
                <a:latin typeface="Roboto"/>
                <a:ea typeface="Roboto"/>
                <a:cs typeface="Roboto"/>
                <a:sym typeface="Roboto"/>
              </a:rPr>
            </a:br>
            <a:endParaRPr b="0" i="0" sz="1200" u="none" cap="none" strike="noStrike">
              <a:solidFill>
                <a:schemeClr val="dk1"/>
              </a:solidFill>
              <a:latin typeface="Roboto"/>
              <a:ea typeface="Roboto"/>
              <a:cs typeface="Roboto"/>
              <a:sym typeface="Roboto"/>
            </a:endParaRPr>
          </a:p>
          <a:p>
            <a:pPr indent="-304800" lvl="1" marL="914400" marR="0" rtl="0" algn="l">
              <a:lnSpc>
                <a:spcPct val="90000"/>
              </a:lnSpc>
              <a:spcBef>
                <a:spcPts val="0"/>
              </a:spcBef>
              <a:spcAft>
                <a:spcPts val="0"/>
              </a:spcAft>
              <a:buClr>
                <a:schemeClr val="dk1"/>
              </a:buClr>
              <a:buSzPts val="1200"/>
              <a:buFont typeface="Roboto"/>
              <a:buChar char="○"/>
            </a:pPr>
            <a:r>
              <a:rPr b="0" i="0" lang="en" sz="1200" u="none" cap="none" strike="noStrike">
                <a:solidFill>
                  <a:schemeClr val="dk1"/>
                </a:solidFill>
                <a:latin typeface="Roboto"/>
                <a:ea typeface="Roboto"/>
                <a:cs typeface="Roboto"/>
                <a:sym typeface="Roboto"/>
              </a:rPr>
              <a:t>prev points to the new head → node with data 4</a:t>
            </a:r>
            <a:endParaRPr b="0" i="0" sz="1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1400"/>
              <a:buFont typeface="Arial"/>
              <a:buNone/>
            </a:pPr>
            <a:r>
              <a:t/>
            </a:r>
            <a:endParaRPr b="1" i="0" sz="1400" u="none" cap="none" strike="noStrike">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6"/>
          <p:cNvSpPr txBox="1"/>
          <p:nvPr/>
        </p:nvSpPr>
        <p:spPr>
          <a:xfrm>
            <a:off x="161100" y="421750"/>
            <a:ext cx="68427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700" u="none" cap="none" strike="noStrike">
                <a:solidFill>
                  <a:srgbClr val="8181EF"/>
                </a:solidFill>
                <a:latin typeface="Roboto"/>
                <a:ea typeface="Roboto"/>
                <a:cs typeface="Roboto"/>
                <a:sym typeface="Roboto"/>
              </a:rPr>
              <a:t>Algorithm (Iterative Method)</a:t>
            </a:r>
            <a:r>
              <a:rPr b="1" lang="en" sz="1700">
                <a:solidFill>
                  <a:srgbClr val="8181EF"/>
                </a:solidFill>
                <a:latin typeface="Roboto"/>
                <a:ea typeface="Roboto"/>
                <a:cs typeface="Roboto"/>
                <a:sym typeface="Roboto"/>
              </a:rPr>
              <a:t> </a:t>
            </a:r>
            <a:r>
              <a:rPr b="1" lang="en" sz="1700">
                <a:solidFill>
                  <a:srgbClr val="807FEC"/>
                </a:solidFill>
                <a:latin typeface="Roboto"/>
                <a:ea typeface="Roboto"/>
                <a:cs typeface="Roboto"/>
                <a:sym typeface="Roboto"/>
              </a:rPr>
              <a:t>– Reverse Linked List</a:t>
            </a:r>
            <a:endParaRPr sz="1700">
              <a:solidFill>
                <a:srgbClr val="807FEC"/>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sz="1700">
              <a:solidFill>
                <a:srgbClr val="8181EF"/>
              </a:solidFill>
              <a:latin typeface="Roboto"/>
              <a:ea typeface="Roboto"/>
              <a:cs typeface="Roboto"/>
              <a:sym typeface="Roboto"/>
            </a:endParaRPr>
          </a:p>
        </p:txBody>
      </p:sp>
      <p:sp>
        <p:nvSpPr>
          <p:cNvPr id="186" name="Google Shape;186;p26"/>
          <p:cNvSpPr/>
          <p:nvPr/>
        </p:nvSpPr>
        <p:spPr>
          <a:xfrm>
            <a:off x="333075" y="856725"/>
            <a:ext cx="2580300" cy="1842000"/>
          </a:xfrm>
          <a:prstGeom prst="wedgeRectCallout">
            <a:avLst>
              <a:gd fmla="val -20833" name="adj1"/>
              <a:gd fmla="val 62500" name="adj2"/>
            </a:avLst>
          </a:prstGeom>
          <a:solidFill>
            <a:srgbClr val="8181EF">
              <a:alpha val="47470"/>
            </a:srgbClr>
          </a:solid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chemeClr val="dk1"/>
              </a:buClr>
              <a:buSzPts val="1400"/>
              <a:buFont typeface="Roboto"/>
              <a:buAutoNum type="arabicPeriod"/>
            </a:pPr>
            <a:r>
              <a:rPr b="0" i="0" lang="en" sz="1400" u="none" cap="none" strike="noStrike">
                <a:solidFill>
                  <a:schemeClr val="dk1"/>
                </a:solidFill>
                <a:latin typeface="Roboto"/>
                <a:ea typeface="Roboto"/>
                <a:cs typeface="Roboto"/>
                <a:sym typeface="Roboto"/>
              </a:rPr>
              <a:t>Initialize three pointers:</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prev = null</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curr = head</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next = null</a:t>
            </a:r>
            <a:br>
              <a:rPr b="0" i="0" lang="en" sz="1400" u="none" cap="none" strike="noStrike">
                <a:solidFill>
                  <a:schemeClr val="dk1"/>
                </a:solidFill>
                <a:latin typeface="Roboto"/>
                <a:ea typeface="Roboto"/>
                <a:cs typeface="Roboto"/>
                <a:sym typeface="Roboto"/>
              </a:rPr>
            </a:br>
            <a:endParaRPr b="0" i="0" sz="1400" u="none" cap="none" strike="noStrike">
              <a:solidFill>
                <a:srgbClr val="000000"/>
              </a:solidFill>
              <a:latin typeface="Roboto"/>
              <a:ea typeface="Roboto"/>
              <a:cs typeface="Roboto"/>
              <a:sym typeface="Roboto"/>
            </a:endParaRPr>
          </a:p>
        </p:txBody>
      </p:sp>
      <p:sp>
        <p:nvSpPr>
          <p:cNvPr id="187" name="Google Shape;187;p26"/>
          <p:cNvSpPr/>
          <p:nvPr/>
        </p:nvSpPr>
        <p:spPr>
          <a:xfrm>
            <a:off x="3113788" y="856725"/>
            <a:ext cx="2841000" cy="3767400"/>
          </a:xfrm>
          <a:prstGeom prst="wedgeRectCallout">
            <a:avLst>
              <a:gd fmla="val -20833" name="adj1"/>
              <a:gd fmla="val 62500" name="adj2"/>
            </a:avLst>
          </a:prstGeom>
          <a:solidFill>
            <a:schemeClr val="lt1"/>
          </a:solidFill>
          <a:ln cap="flat" cmpd="sng" w="38100">
            <a:solidFill>
              <a:srgbClr val="8181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2.   Traverse the list while curr is       not null:</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Save the next node: next = curr.next</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Reverse the link: curr.next = prev</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Move prev and curr one step forward:</a:t>
            </a:r>
            <a:br>
              <a:rPr b="0" i="0" lang="en" sz="1400" u="none" cap="none" strike="noStrike">
                <a:solidFill>
                  <a:schemeClr val="dk1"/>
                </a:solidFill>
                <a:latin typeface="Roboto"/>
                <a:ea typeface="Roboto"/>
                <a:cs typeface="Roboto"/>
                <a:sym typeface="Roboto"/>
              </a:rPr>
            </a:br>
            <a:r>
              <a:rPr b="0" i="0" lang="en" sz="1400" u="none" cap="none" strike="noStrike">
                <a:solidFill>
                  <a:schemeClr val="dk1"/>
                </a:solidFill>
                <a:latin typeface="Roboto"/>
                <a:ea typeface="Roboto"/>
                <a:cs typeface="Roboto"/>
                <a:sym typeface="Roboto"/>
              </a:rPr>
              <a:t> prev = curr, curr = next</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88" name="Google Shape;188;p26"/>
          <p:cNvSpPr/>
          <p:nvPr/>
        </p:nvSpPr>
        <p:spPr>
          <a:xfrm>
            <a:off x="6155200" y="2698725"/>
            <a:ext cx="2580300" cy="1911300"/>
          </a:xfrm>
          <a:prstGeom prst="wedgeRectCallout">
            <a:avLst>
              <a:gd fmla="val -20833" name="adj1"/>
              <a:gd fmla="val 62500" name="adj2"/>
            </a:avLst>
          </a:prstGeom>
          <a:solidFill>
            <a:srgbClr val="8181EF">
              <a:alpha val="47470"/>
            </a:srgbClr>
          </a:solidFill>
          <a:ln cap="flat" cmpd="sng" w="38100">
            <a:solidFill>
              <a:srgbClr val="8181EF"/>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3.    After the loop, set head = prev </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45720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Roboto"/>
                <a:ea typeface="Roboto"/>
                <a:cs typeface="Roboto"/>
                <a:sym typeface="Roboto"/>
              </a:rPr>
              <a:t>(new head of reversed list)</a:t>
            </a:r>
            <a:endParaRPr b="1" i="0" sz="14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nvSpPr>
        <p:spPr>
          <a:xfrm>
            <a:off x="161075" y="369625"/>
            <a:ext cx="5522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 sz="1700" u="none" cap="none" strike="noStrike">
                <a:solidFill>
                  <a:srgbClr val="8181EF"/>
                </a:solidFill>
                <a:latin typeface="Roboto"/>
                <a:ea typeface="Roboto"/>
                <a:cs typeface="Roboto"/>
                <a:sym typeface="Roboto"/>
              </a:rPr>
              <a:t>Pseudocode</a:t>
            </a:r>
            <a:r>
              <a:rPr b="1" lang="en" sz="1700">
                <a:solidFill>
                  <a:srgbClr val="8181EF"/>
                </a:solidFill>
                <a:latin typeface="Roboto"/>
                <a:ea typeface="Roboto"/>
                <a:cs typeface="Roboto"/>
                <a:sym typeface="Roboto"/>
              </a:rPr>
              <a:t> </a:t>
            </a:r>
            <a:r>
              <a:rPr b="1" lang="en" sz="1700">
                <a:solidFill>
                  <a:srgbClr val="807FEC"/>
                </a:solidFill>
                <a:latin typeface="Roboto"/>
                <a:ea typeface="Roboto"/>
                <a:cs typeface="Roboto"/>
                <a:sym typeface="Roboto"/>
              </a:rPr>
              <a:t>– Reverse Linked List</a:t>
            </a:r>
            <a:endParaRPr sz="1700">
              <a:solidFill>
                <a:srgbClr val="807FEC"/>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sz="1700">
              <a:solidFill>
                <a:srgbClr val="8181EF"/>
              </a:solidFill>
              <a:latin typeface="Roboto"/>
              <a:ea typeface="Roboto"/>
              <a:cs typeface="Roboto"/>
              <a:sym typeface="Roboto"/>
            </a:endParaRPr>
          </a:p>
        </p:txBody>
      </p:sp>
      <p:sp>
        <p:nvSpPr>
          <p:cNvPr id="194" name="Google Shape;194;p27"/>
          <p:cNvSpPr/>
          <p:nvPr/>
        </p:nvSpPr>
        <p:spPr>
          <a:xfrm>
            <a:off x="2633550" y="1009775"/>
            <a:ext cx="3101700" cy="3744600"/>
          </a:xfrm>
          <a:prstGeom prst="foldedCorner">
            <a:avLst>
              <a:gd fmla="val 16667" name="adj"/>
            </a:avLst>
          </a:prstGeom>
          <a:solidFill>
            <a:srgbClr val="8181EF">
              <a:alpha val="47470"/>
            </a:srgbClr>
          </a:solid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Function reverseLinkedList(head):</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prev ← null</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curr ← head</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while curr ≠ null:</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next ← curr.next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curr.next ← prev</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prev ← curr</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curr ← next</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head ← prev</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rPr b="0" i="0" lang="en" sz="1400" u="none" cap="none" strike="noStrike">
                <a:solidFill>
                  <a:schemeClr val="dk1"/>
                </a:solidFill>
                <a:latin typeface="Roboto"/>
                <a:ea typeface="Roboto"/>
                <a:cs typeface="Roboto"/>
                <a:sym typeface="Roboto"/>
              </a:rPr>
              <a:t>    return head</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1" i="0" sz="140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95" name="Google Shape;195;p27"/>
          <p:cNvSpPr/>
          <p:nvPr/>
        </p:nvSpPr>
        <p:spPr>
          <a:xfrm>
            <a:off x="6439025" y="804575"/>
            <a:ext cx="1155600" cy="721200"/>
          </a:xfrm>
          <a:prstGeom prst="cloudCallout">
            <a:avLst>
              <a:gd fmla="val -20833" name="adj1"/>
              <a:gd fmla="val 62500" name="adj2"/>
            </a:avLst>
          </a:prstGeom>
          <a:solidFill>
            <a:srgbClr val="19A3EB">
              <a:alpha val="398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96" name="Google Shape;196;p27"/>
          <p:cNvSpPr/>
          <p:nvPr/>
        </p:nvSpPr>
        <p:spPr>
          <a:xfrm>
            <a:off x="593725" y="3828000"/>
            <a:ext cx="1231800" cy="721200"/>
          </a:xfrm>
          <a:prstGeom prst="cloudCallout">
            <a:avLst>
              <a:gd fmla="val -20833" name="adj1"/>
              <a:gd fmla="val 62500" name="adj2"/>
            </a:avLst>
          </a:prstGeom>
          <a:solidFill>
            <a:srgbClr val="19A3EB">
              <a:alpha val="45570"/>
            </a:srgbClr>
          </a:solidFill>
          <a:ln cap="flat" cmpd="sng" w="285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nvSpPr>
        <p:spPr>
          <a:xfrm>
            <a:off x="307525" y="756750"/>
            <a:ext cx="3612000" cy="4494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import java.util.Scanner;</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class Node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int data;</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Node next;</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r>
              <a:rPr b="0" i="0" lang="en" u="none" cap="none" strike="noStrike">
                <a:solidFill>
                  <a:schemeClr val="dk1"/>
                </a:solidFill>
                <a:latin typeface="Roboto"/>
                <a:ea typeface="Roboto"/>
                <a:cs typeface="Roboto"/>
                <a:sym typeface="Roboto"/>
              </a:rPr>
              <a:t>Node(int data)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this.data = data;</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this.next = null;</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public class ReverseLinkedList {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r>
              <a:rPr b="0" i="0" lang="en" u="none" cap="none" strike="noStrike">
                <a:solidFill>
                  <a:schemeClr val="dk1"/>
                </a:solidFill>
                <a:latin typeface="Roboto"/>
                <a:ea typeface="Roboto"/>
                <a:cs typeface="Roboto"/>
                <a:sym typeface="Roboto"/>
              </a:rPr>
              <a:t> </a:t>
            </a:r>
            <a:r>
              <a:rPr b="0" i="0" lang="en" u="none" cap="none" strike="noStrike">
                <a:solidFill>
                  <a:schemeClr val="dk1"/>
                </a:solidFill>
                <a:latin typeface="Roboto"/>
                <a:ea typeface="Roboto"/>
                <a:cs typeface="Roboto"/>
                <a:sym typeface="Roboto"/>
              </a:rPr>
              <a:t>static void printList(Node head)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Node temp = head;</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while (temp != null)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System.out.print(temp.data + "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temp = temp.next;</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System.out.println();</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p:txBody>
      </p:sp>
      <p:sp>
        <p:nvSpPr>
          <p:cNvPr id="202" name="Google Shape;202;p28"/>
          <p:cNvSpPr txBox="1"/>
          <p:nvPr/>
        </p:nvSpPr>
        <p:spPr>
          <a:xfrm>
            <a:off x="4572000" y="541350"/>
            <a:ext cx="3459900" cy="4710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static Node reverse(Node head)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Node prev = null;</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Node current = head;</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Node next = null;</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while (current != null)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next = current.next;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current.next = prev;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prev = current;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current = next;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return prev;</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public static void main(String[] args)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Scanner sc = new Scanner(System.in);</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Node head = null, tail = null;</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System.out.print("Enter number of elements in the list: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int n = sc.nextInt();</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p:txBody>
      </p:sp>
      <p:sp>
        <p:nvSpPr>
          <p:cNvPr id="203" name="Google Shape;203;p28"/>
          <p:cNvSpPr txBox="1"/>
          <p:nvPr/>
        </p:nvSpPr>
        <p:spPr>
          <a:xfrm>
            <a:off x="178450" y="326175"/>
            <a:ext cx="55221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lang="en" sz="1700">
                <a:solidFill>
                  <a:srgbClr val="807FEC"/>
                </a:solidFill>
                <a:latin typeface="Roboto"/>
                <a:ea typeface="Roboto"/>
                <a:cs typeface="Roboto"/>
                <a:sym typeface="Roboto"/>
              </a:rPr>
              <a:t>Reverse Linked List Program</a:t>
            </a:r>
            <a:endParaRPr sz="1700">
              <a:solidFill>
                <a:srgbClr val="807FEC"/>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1" sz="1700">
              <a:solidFill>
                <a:srgbClr val="8181EF"/>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9"/>
          <p:cNvSpPr txBox="1"/>
          <p:nvPr/>
        </p:nvSpPr>
        <p:spPr>
          <a:xfrm>
            <a:off x="533400" y="687775"/>
            <a:ext cx="4479000" cy="50334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System.out.println("Enter " + n + " elements:");</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for (int i = 0; i &lt; n; i++)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int data = sc.nextInt();</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Node newNode = new Node(data);</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if (head == null)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head = newNode;</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tail = newNode;</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 else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tail.next = newNode;</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tail = newNode;</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System.out.print("Original Linked List: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printList(head);</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head = reverse(head);</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System.out.print("Reversed Linked List: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printList(head);</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sc.close();</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t/>
            </a:r>
            <a:endParaRPr b="0" i="0" u="none" cap="none" strike="noStrike">
              <a:solidFill>
                <a:schemeClr val="dk1"/>
              </a:solidFill>
              <a:latin typeface="Roboto"/>
              <a:ea typeface="Roboto"/>
              <a:cs typeface="Roboto"/>
              <a:sym typeface="Roboto"/>
            </a:endParaRPr>
          </a:p>
          <a:p>
            <a:pPr indent="0" lvl="0" marL="0" marR="0" rtl="0" algn="l">
              <a:lnSpc>
                <a:spcPct val="90000"/>
              </a:lnSpc>
              <a:spcBef>
                <a:spcPts val="0"/>
              </a:spcBef>
              <a:spcAft>
                <a:spcPts val="0"/>
              </a:spcAft>
              <a:buClr>
                <a:srgbClr val="000000"/>
              </a:buClr>
              <a:buSzPts val="1200"/>
              <a:buFont typeface="Arial"/>
              <a:buNone/>
            </a:pPr>
            <a:r>
              <a:rPr b="0" i="0" lang="en" u="none" cap="none" strike="noStrike">
                <a:solidFill>
                  <a:schemeClr val="dk1"/>
                </a:solidFill>
                <a:latin typeface="Roboto"/>
                <a:ea typeface="Roboto"/>
                <a:cs typeface="Roboto"/>
                <a:sym typeface="Roboto"/>
              </a:rPr>
              <a:t>  </a:t>
            </a:r>
            <a:endParaRPr b="0" i="0" u="none" cap="none" strike="noStrike">
              <a:solidFill>
                <a:schemeClr val="dk1"/>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0"/>
          <p:cNvSpPr/>
          <p:nvPr/>
        </p:nvSpPr>
        <p:spPr>
          <a:xfrm>
            <a:off x="339800" y="1157475"/>
            <a:ext cx="4161600" cy="3544800"/>
          </a:xfrm>
          <a:prstGeom prst="star6">
            <a:avLst>
              <a:gd fmla="val 28868" name="adj"/>
              <a:gd fmla="val 115470" name="hf"/>
            </a:avLst>
          </a:prstGeom>
          <a:solidFill>
            <a:srgbClr val="8181EF">
              <a:alpha val="47470"/>
            </a:srgbClr>
          </a:solid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Arial"/>
              <a:buNone/>
            </a:pPr>
            <a:r>
              <a:rPr b="1" i="0" lang="en" u="none" cap="none" strike="noStrike">
                <a:solidFill>
                  <a:schemeClr val="dk1"/>
                </a:solidFill>
                <a:latin typeface="Roboto"/>
                <a:ea typeface="Roboto"/>
                <a:cs typeface="Roboto"/>
                <a:sym typeface="Roboto"/>
              </a:rPr>
              <a:t>Input:</a:t>
            </a:r>
            <a:endParaRPr b="1" i="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200"/>
              <a:buFont typeface="Arial"/>
              <a:buNone/>
            </a:pPr>
            <a:r>
              <a:rPr b="0" i="0" lang="en" u="none" cap="none" strike="noStrike">
                <a:solidFill>
                  <a:schemeClr val="dk1"/>
                </a:solidFill>
                <a:latin typeface="Roboto"/>
                <a:ea typeface="Roboto"/>
                <a:cs typeface="Roboto"/>
                <a:sym typeface="Roboto"/>
              </a:rPr>
              <a:t>Enter number of elements in the list: 4</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200"/>
              <a:buFont typeface="Arial"/>
              <a:buNone/>
            </a:pPr>
            <a:r>
              <a:rPr b="0" i="0" lang="en" u="none" cap="none" strike="noStrike">
                <a:solidFill>
                  <a:schemeClr val="dk1"/>
                </a:solidFill>
                <a:latin typeface="Roboto"/>
                <a:ea typeface="Roboto"/>
                <a:cs typeface="Roboto"/>
                <a:sym typeface="Roboto"/>
              </a:rPr>
              <a:t>Enter 4 elements:</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200"/>
              <a:buFont typeface="Arial"/>
              <a:buNone/>
            </a:pPr>
            <a:r>
              <a:rPr b="0" i="0" lang="en" u="none" cap="none" strike="noStrike">
                <a:solidFill>
                  <a:schemeClr val="dk1"/>
                </a:solidFill>
                <a:latin typeface="Roboto"/>
                <a:ea typeface="Roboto"/>
                <a:cs typeface="Roboto"/>
                <a:sym typeface="Roboto"/>
              </a:rPr>
              <a:t>10 20 30 40</a:t>
            </a:r>
            <a:endParaRPr b="0" i="0" u="none" cap="none" strike="noStrike">
              <a:solidFill>
                <a:schemeClr val="dk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u="none" cap="none" strike="noStrike">
              <a:solidFill>
                <a:srgbClr val="000000"/>
              </a:solidFill>
              <a:latin typeface="Roboto"/>
              <a:ea typeface="Roboto"/>
              <a:cs typeface="Roboto"/>
              <a:sym typeface="Roboto"/>
            </a:endParaRPr>
          </a:p>
        </p:txBody>
      </p:sp>
      <p:sp>
        <p:nvSpPr>
          <p:cNvPr id="214" name="Google Shape;214;p30"/>
          <p:cNvSpPr/>
          <p:nvPr/>
        </p:nvSpPr>
        <p:spPr>
          <a:xfrm>
            <a:off x="5066275" y="1157475"/>
            <a:ext cx="3727200" cy="3336300"/>
          </a:xfrm>
          <a:prstGeom prst="star6">
            <a:avLst>
              <a:gd fmla="val 28868" name="adj"/>
              <a:gd fmla="val 115470" name="hf"/>
            </a:avLst>
          </a:prstGeom>
          <a:solidFill>
            <a:schemeClr val="lt1"/>
          </a:solidFill>
          <a:ln cap="flat" cmpd="sng" w="38100">
            <a:solidFill>
              <a:srgbClr val="8181E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800"/>
              </a:spcBef>
              <a:spcAft>
                <a:spcPts val="0"/>
              </a:spcAft>
              <a:buClr>
                <a:schemeClr val="dk1"/>
              </a:buClr>
              <a:buSzPts val="1200"/>
              <a:buFont typeface="Arial"/>
              <a:buNone/>
            </a:pPr>
            <a:r>
              <a:rPr b="1" i="0" lang="en" u="none" cap="none" strike="noStrike">
                <a:solidFill>
                  <a:schemeClr val="dk1"/>
                </a:solidFill>
                <a:latin typeface="Roboto"/>
                <a:ea typeface="Roboto"/>
                <a:cs typeface="Roboto"/>
                <a:sym typeface="Roboto"/>
              </a:rPr>
              <a:t>Output:</a:t>
            </a:r>
            <a:endParaRPr b="1" i="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200"/>
              <a:buFont typeface="Arial"/>
              <a:buNone/>
            </a:pPr>
            <a:r>
              <a:rPr b="0" i="0" lang="en" u="none" cap="none" strike="noStrike">
                <a:solidFill>
                  <a:schemeClr val="dk1"/>
                </a:solidFill>
                <a:latin typeface="Roboto"/>
                <a:ea typeface="Roboto"/>
                <a:cs typeface="Roboto"/>
                <a:sym typeface="Roboto"/>
              </a:rPr>
              <a:t>Original Linked List: 10 20 30 40</a:t>
            </a:r>
            <a:endParaRPr b="0" i="0" u="none" cap="none" strike="noStrike">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chemeClr val="dk1"/>
              </a:buClr>
              <a:buSzPts val="1200"/>
              <a:buFont typeface="Arial"/>
              <a:buNone/>
            </a:pPr>
            <a:r>
              <a:rPr b="0" i="0" lang="en" u="none" cap="none" strike="noStrike">
                <a:solidFill>
                  <a:schemeClr val="dk1"/>
                </a:solidFill>
                <a:latin typeface="Roboto"/>
                <a:ea typeface="Roboto"/>
                <a:cs typeface="Roboto"/>
                <a:sym typeface="Roboto"/>
              </a:rPr>
              <a:t>Reversed Linked List: 40 30 20 10</a:t>
            </a:r>
            <a:endParaRPr b="0" i="0" u="none" cap="none" strike="noStrike">
              <a:solidFill>
                <a:schemeClr val="dk1"/>
              </a:solidFill>
              <a:latin typeface="Roboto"/>
              <a:ea typeface="Roboto"/>
              <a:cs typeface="Roboto"/>
              <a:sym typeface="Roboto"/>
            </a:endParaRPr>
          </a:p>
          <a:p>
            <a:pPr indent="0" lvl="0" marL="0" marR="0" rtl="0" algn="ctr">
              <a:lnSpc>
                <a:spcPct val="100000"/>
              </a:lnSpc>
              <a:spcBef>
                <a:spcPts val="800"/>
              </a:spcBef>
              <a:spcAft>
                <a:spcPts val="0"/>
              </a:spcAft>
              <a:buClr>
                <a:srgbClr val="000000"/>
              </a:buClr>
              <a:buSzPts val="1400"/>
              <a:buFont typeface="Arial"/>
              <a:buNone/>
            </a:pPr>
            <a:r>
              <a:t/>
            </a:r>
            <a:endParaRPr b="0" i="0" u="none" cap="none" strike="noStrike">
              <a:solidFill>
                <a:srgbClr val="000000"/>
              </a:solidFill>
              <a:latin typeface="Roboto"/>
              <a:ea typeface="Roboto"/>
              <a:cs typeface="Roboto"/>
              <a:sym typeface="Roboto"/>
            </a:endParaRPr>
          </a:p>
        </p:txBody>
      </p:sp>
      <p:sp>
        <p:nvSpPr>
          <p:cNvPr id="215" name="Google Shape;215;p30"/>
          <p:cNvSpPr txBox="1"/>
          <p:nvPr/>
        </p:nvSpPr>
        <p:spPr>
          <a:xfrm>
            <a:off x="234575" y="503950"/>
            <a:ext cx="63783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 sz="1700">
                <a:solidFill>
                  <a:srgbClr val="807FEC"/>
                </a:solidFill>
                <a:latin typeface="Roboto"/>
                <a:ea typeface="Roboto"/>
                <a:cs typeface="Roboto"/>
                <a:sym typeface="Roboto"/>
              </a:rPr>
              <a:t>Sample Input and Output </a:t>
            </a:r>
            <a:r>
              <a:rPr b="1" lang="en" sz="1700">
                <a:solidFill>
                  <a:srgbClr val="807FEC"/>
                </a:solidFill>
                <a:latin typeface="Roboto"/>
                <a:ea typeface="Roboto"/>
                <a:cs typeface="Roboto"/>
                <a:sym typeface="Roboto"/>
              </a:rPr>
              <a:t>– Reverse Linked List</a:t>
            </a:r>
            <a:endParaRPr sz="1700">
              <a:solidFill>
                <a:srgbClr val="807FEC"/>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1"/>
          <p:cNvSpPr txBox="1"/>
          <p:nvPr/>
        </p:nvSpPr>
        <p:spPr>
          <a:xfrm>
            <a:off x="304800" y="321475"/>
            <a:ext cx="8118000" cy="4359000"/>
          </a:xfrm>
          <a:prstGeom prst="rect">
            <a:avLst/>
          </a:prstGeom>
          <a:noFill/>
          <a:ln>
            <a:noFill/>
          </a:ln>
        </p:spPr>
        <p:txBody>
          <a:bodyPr anchorCtr="0" anchor="t" bIns="91425" lIns="91425" spcFirstLastPara="1" rIns="91425" wrap="square" tIns="91425">
            <a:spAutoFit/>
          </a:bodyPr>
          <a:lstStyle/>
          <a:p>
            <a:pPr indent="0" lvl="0" marL="0" marR="0" rtl="0" algn="l">
              <a:lnSpc>
                <a:spcPct val="80000"/>
              </a:lnSpc>
              <a:spcBef>
                <a:spcPts val="0"/>
              </a:spcBef>
              <a:spcAft>
                <a:spcPts val="0"/>
              </a:spcAft>
              <a:buClr>
                <a:srgbClr val="000000"/>
              </a:buClr>
              <a:buSzPts val="1400"/>
              <a:buFont typeface="Arial"/>
              <a:buNone/>
            </a:pPr>
            <a:r>
              <a:t/>
            </a:r>
            <a:endParaRPr b="1">
              <a:solidFill>
                <a:srgbClr val="807FEC"/>
              </a:solidFill>
              <a:latin typeface="Roboto"/>
              <a:ea typeface="Roboto"/>
              <a:cs typeface="Roboto"/>
              <a:sym typeface="Roboto"/>
            </a:endParaRPr>
          </a:p>
          <a:p>
            <a:pPr indent="0" lvl="0" marL="0" marR="0" rtl="0" algn="l">
              <a:lnSpc>
                <a:spcPct val="80000"/>
              </a:lnSpc>
              <a:spcBef>
                <a:spcPts val="0"/>
              </a:spcBef>
              <a:spcAft>
                <a:spcPts val="0"/>
              </a:spcAft>
              <a:buClr>
                <a:srgbClr val="000000"/>
              </a:buClr>
              <a:buSzPts val="1400"/>
              <a:buFont typeface="Arial"/>
              <a:buNone/>
            </a:pPr>
            <a:r>
              <a:rPr b="1" i="0" lang="en" sz="1700" u="none" cap="none" strike="noStrike">
                <a:solidFill>
                  <a:srgbClr val="807FEC"/>
                </a:solidFill>
                <a:latin typeface="Roboto"/>
                <a:ea typeface="Roboto"/>
                <a:cs typeface="Roboto"/>
                <a:sym typeface="Roboto"/>
              </a:rPr>
              <a:t>Code Explanation</a:t>
            </a:r>
            <a:r>
              <a:rPr b="1" lang="en" sz="1700">
                <a:solidFill>
                  <a:srgbClr val="807FEC"/>
                </a:solidFill>
                <a:latin typeface="Roboto"/>
                <a:ea typeface="Roboto"/>
                <a:cs typeface="Roboto"/>
                <a:sym typeface="Roboto"/>
              </a:rPr>
              <a:t> </a:t>
            </a:r>
            <a:r>
              <a:rPr b="1" lang="en" sz="1700">
                <a:solidFill>
                  <a:srgbClr val="807FEC"/>
                </a:solidFill>
                <a:latin typeface="Roboto"/>
                <a:ea typeface="Roboto"/>
                <a:cs typeface="Roboto"/>
                <a:sym typeface="Roboto"/>
              </a:rPr>
              <a:t>– Reverse Linked List</a:t>
            </a:r>
            <a:endParaRPr b="1" sz="1700">
              <a:solidFill>
                <a:srgbClr val="807FEC"/>
              </a:solidFill>
              <a:latin typeface="Roboto"/>
              <a:ea typeface="Roboto"/>
              <a:cs typeface="Roboto"/>
              <a:sym typeface="Roboto"/>
            </a:endParaRPr>
          </a:p>
          <a:p>
            <a:pPr indent="0" lvl="0" marL="0" marR="0" rtl="0" algn="l">
              <a:lnSpc>
                <a:spcPct val="80000"/>
              </a:lnSpc>
              <a:spcBef>
                <a:spcPts val="0"/>
              </a:spcBef>
              <a:spcAft>
                <a:spcPts val="0"/>
              </a:spcAft>
              <a:buClr>
                <a:srgbClr val="000000"/>
              </a:buClr>
              <a:buSzPts val="1400"/>
              <a:buFont typeface="Arial"/>
              <a:buNone/>
            </a:pPr>
            <a:r>
              <a:t/>
            </a:r>
            <a:endParaRPr b="1">
              <a:solidFill>
                <a:schemeClr val="dk1"/>
              </a:solidFill>
              <a:latin typeface="Roboto"/>
              <a:ea typeface="Roboto"/>
              <a:cs typeface="Roboto"/>
              <a:sym typeface="Roboto"/>
            </a:endParaRPr>
          </a:p>
          <a:p>
            <a:pPr indent="0" lvl="0" marL="0" marR="0" rtl="0" algn="l">
              <a:lnSpc>
                <a:spcPct val="80000"/>
              </a:lnSpc>
              <a:spcBef>
                <a:spcPts val="0"/>
              </a:spcBef>
              <a:spcAft>
                <a:spcPts val="0"/>
              </a:spcAft>
              <a:buClr>
                <a:srgbClr val="000000"/>
              </a:buClr>
              <a:buSzPts val="1200"/>
              <a:buFont typeface="Arial"/>
              <a:buNone/>
            </a:pPr>
            <a:r>
              <a:t/>
            </a:r>
            <a:endParaRPr b="1" i="0" u="none" cap="none" strike="noStrike">
              <a:solidFill>
                <a:schemeClr val="dk1"/>
              </a:solidFill>
              <a:latin typeface="Roboto"/>
              <a:ea typeface="Roboto"/>
              <a:cs typeface="Roboto"/>
              <a:sym typeface="Roboto"/>
            </a:endParaRPr>
          </a:p>
          <a:p>
            <a:pPr indent="-317500" lvl="0" marL="457200" marR="0" rtl="0" algn="l">
              <a:lnSpc>
                <a:spcPct val="80000"/>
              </a:lnSpc>
              <a:spcBef>
                <a:spcPts val="0"/>
              </a:spcBef>
              <a:spcAft>
                <a:spcPts val="0"/>
              </a:spcAft>
              <a:buClr>
                <a:schemeClr val="dk1"/>
              </a:buClr>
              <a:buSzPts val="1400"/>
              <a:buFont typeface="Roboto"/>
              <a:buAutoNum type="arabicPeriod"/>
            </a:pPr>
            <a:r>
              <a:rPr i="0" lang="en" u="none" cap="none" strike="noStrike">
                <a:solidFill>
                  <a:schemeClr val="dk1"/>
                </a:solidFill>
                <a:latin typeface="Roboto"/>
                <a:ea typeface="Roboto"/>
                <a:cs typeface="Roboto"/>
                <a:sym typeface="Roboto"/>
              </a:rPr>
              <a:t>Node Class Definition:</a:t>
            </a: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i="0" lang="en" u="none" cap="none" strike="noStrike">
                <a:solidFill>
                  <a:schemeClr val="dk1"/>
                </a:solidFill>
                <a:latin typeface="Roboto"/>
                <a:ea typeface="Roboto"/>
                <a:cs typeface="Roboto"/>
                <a:sym typeface="Roboto"/>
              </a:rPr>
              <a:t>A class Node is created with two members:</a:t>
            </a: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317500" lvl="2" marL="1371600" marR="0" rtl="0" algn="l">
              <a:lnSpc>
                <a:spcPct val="80000"/>
              </a:lnSpc>
              <a:spcBef>
                <a:spcPts val="0"/>
              </a:spcBef>
              <a:spcAft>
                <a:spcPts val="0"/>
              </a:spcAft>
              <a:buClr>
                <a:schemeClr val="dk1"/>
              </a:buClr>
              <a:buSzPts val="1400"/>
              <a:buFont typeface="Roboto"/>
              <a:buChar char="■"/>
            </a:pPr>
            <a:r>
              <a:rPr i="0" lang="en" u="none" cap="none" strike="noStrike">
                <a:solidFill>
                  <a:schemeClr val="dk1"/>
                </a:solidFill>
                <a:latin typeface="Roboto"/>
                <a:ea typeface="Roboto"/>
                <a:cs typeface="Roboto"/>
                <a:sym typeface="Roboto"/>
              </a:rPr>
              <a:t>int data: stores the value.</a:t>
            </a: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317500" lvl="2" marL="1371600" marR="0" rtl="0" algn="l">
              <a:lnSpc>
                <a:spcPct val="80000"/>
              </a:lnSpc>
              <a:spcBef>
                <a:spcPts val="0"/>
              </a:spcBef>
              <a:spcAft>
                <a:spcPts val="0"/>
              </a:spcAft>
              <a:buClr>
                <a:schemeClr val="dk1"/>
              </a:buClr>
              <a:buSzPts val="1400"/>
              <a:buFont typeface="Roboto"/>
              <a:buChar char="■"/>
            </a:pPr>
            <a:r>
              <a:rPr i="0" lang="en" u="none" cap="none" strike="noStrike">
                <a:solidFill>
                  <a:schemeClr val="dk1"/>
                </a:solidFill>
                <a:latin typeface="Roboto"/>
                <a:ea typeface="Roboto"/>
                <a:cs typeface="Roboto"/>
                <a:sym typeface="Roboto"/>
              </a:rPr>
              <a:t>Node next: points to the next node.</a:t>
            </a: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i="0" lang="en" u="none" cap="none" strike="noStrike">
                <a:solidFill>
                  <a:schemeClr val="dk1"/>
                </a:solidFill>
                <a:latin typeface="Roboto"/>
                <a:ea typeface="Roboto"/>
                <a:cs typeface="Roboto"/>
                <a:sym typeface="Roboto"/>
              </a:rPr>
              <a:t>A constructor initializes these fields.</a:t>
            </a:r>
            <a:endParaRPr i="0" u="none" cap="none" strike="noStrike">
              <a:solidFill>
                <a:schemeClr val="dk1"/>
              </a:solidFill>
              <a:latin typeface="Roboto"/>
              <a:ea typeface="Roboto"/>
              <a:cs typeface="Roboto"/>
              <a:sym typeface="Roboto"/>
            </a:endParaRPr>
          </a:p>
          <a:p>
            <a:pPr indent="0" lvl="0" marL="914400" marR="0" rtl="0" algn="l">
              <a:lnSpc>
                <a:spcPct val="80000"/>
              </a:lnSpc>
              <a:spcBef>
                <a:spcPts val="0"/>
              </a:spcBef>
              <a:spcAft>
                <a:spcPts val="0"/>
              </a:spcAft>
              <a:buNone/>
            </a:pP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317500" lvl="0" marL="457200" marR="0" rtl="0" algn="l">
              <a:lnSpc>
                <a:spcPct val="80000"/>
              </a:lnSpc>
              <a:spcBef>
                <a:spcPts val="0"/>
              </a:spcBef>
              <a:spcAft>
                <a:spcPts val="0"/>
              </a:spcAft>
              <a:buClr>
                <a:schemeClr val="dk1"/>
              </a:buClr>
              <a:buSzPts val="1400"/>
              <a:buFont typeface="Roboto"/>
              <a:buAutoNum type="arabicPeriod"/>
            </a:pPr>
            <a:r>
              <a:rPr i="0" lang="en" u="none" cap="none" strike="noStrike">
                <a:solidFill>
                  <a:schemeClr val="dk1"/>
                </a:solidFill>
                <a:latin typeface="Roboto"/>
                <a:ea typeface="Roboto"/>
                <a:cs typeface="Roboto"/>
                <a:sym typeface="Roboto"/>
              </a:rPr>
              <a:t>User Input Using Scanner:</a:t>
            </a: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i="0" lang="en" u="none" cap="none" strike="noStrike">
                <a:solidFill>
                  <a:schemeClr val="dk1"/>
                </a:solidFill>
                <a:latin typeface="Roboto"/>
                <a:ea typeface="Roboto"/>
                <a:cs typeface="Roboto"/>
                <a:sym typeface="Roboto"/>
              </a:rPr>
              <a:t>A Scanner object is created to read input from the user.</a:t>
            </a: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i="0" lang="en" u="none" cap="none" strike="noStrike">
                <a:solidFill>
                  <a:schemeClr val="dk1"/>
                </a:solidFill>
                <a:latin typeface="Roboto"/>
                <a:ea typeface="Roboto"/>
                <a:cs typeface="Roboto"/>
                <a:sym typeface="Roboto"/>
              </a:rPr>
              <a:t>The user is asked to enter the number of nodes (n).</a:t>
            </a: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i="0" lang="en" u="none" cap="none" strike="noStrike">
                <a:solidFill>
                  <a:schemeClr val="dk1"/>
                </a:solidFill>
                <a:latin typeface="Roboto"/>
                <a:ea typeface="Roboto"/>
                <a:cs typeface="Roboto"/>
                <a:sym typeface="Roboto"/>
              </a:rPr>
              <a:t>A loop runs n times to read node values.</a:t>
            </a:r>
            <a:br>
              <a:rPr i="0" lang="en" u="none" cap="none" strike="noStrike">
                <a:solidFill>
                  <a:schemeClr val="dk1"/>
                </a:solidFill>
                <a:latin typeface="Roboto"/>
                <a:ea typeface="Roboto"/>
                <a:cs typeface="Roboto"/>
                <a:sym typeface="Roboto"/>
              </a:rPr>
            </a:br>
            <a:endParaRPr i="0" u="none" cap="none" strike="noStrike">
              <a:solidFill>
                <a:schemeClr val="dk1"/>
              </a:solidFill>
              <a:latin typeface="Roboto"/>
              <a:ea typeface="Roboto"/>
              <a:cs typeface="Roboto"/>
              <a:sym typeface="Roboto"/>
            </a:endParaRPr>
          </a:p>
          <a:p>
            <a:pPr indent="0" lvl="0" marL="0" marR="0" rtl="0" algn="l">
              <a:lnSpc>
                <a:spcPct val="80000"/>
              </a:lnSpc>
              <a:spcBef>
                <a:spcPts val="0"/>
              </a:spcBef>
              <a:spcAft>
                <a:spcPts val="0"/>
              </a:spcAft>
              <a:buNone/>
            </a:pPr>
            <a:r>
              <a:t/>
            </a:r>
            <a:endParaRPr i="0" u="none" cap="none" strike="noStrike">
              <a:solidFill>
                <a:srgbClr val="0000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2"/>
          <p:cNvSpPr txBox="1"/>
          <p:nvPr/>
        </p:nvSpPr>
        <p:spPr>
          <a:xfrm>
            <a:off x="358925" y="612900"/>
            <a:ext cx="8118000" cy="48393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a:solidFill>
                  <a:schemeClr val="dk1"/>
                </a:solidFill>
                <a:latin typeface="Roboto"/>
                <a:ea typeface="Roboto"/>
                <a:cs typeface="Roboto"/>
                <a:sym typeface="Roboto"/>
              </a:rPr>
              <a:t>   3.        </a:t>
            </a:r>
            <a:r>
              <a:rPr lang="en">
                <a:solidFill>
                  <a:schemeClr val="dk1"/>
                </a:solidFill>
                <a:latin typeface="Roboto"/>
                <a:ea typeface="Roboto"/>
                <a:cs typeface="Roboto"/>
                <a:sym typeface="Roboto"/>
              </a:rPr>
              <a:t>Linked List Creation:</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For each input value:</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2" marL="13716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A new Node object is created.</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2" marL="13716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If it’s the first node, it becomes both head and tail.</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2" marL="13716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Otherwise, it is added at the end (tail.next = newNode) and tail is updated.</a:t>
            </a:r>
            <a:endParaRPr>
              <a:solidFill>
                <a:schemeClr val="dk1"/>
              </a:solidFill>
              <a:latin typeface="Roboto"/>
              <a:ea typeface="Roboto"/>
              <a:cs typeface="Roboto"/>
              <a:sym typeface="Roboto"/>
            </a:endParaRPr>
          </a:p>
          <a:p>
            <a:pPr indent="0" lvl="0" marL="1371600" rtl="0" algn="l">
              <a:lnSpc>
                <a:spcPct val="80000"/>
              </a:lnSpc>
              <a:spcBef>
                <a:spcPts val="0"/>
              </a:spcBef>
              <a:spcAft>
                <a:spcPts val="0"/>
              </a:spcAft>
              <a:buNone/>
            </a:pPr>
            <a:r>
              <a:t/>
            </a:r>
            <a:endParaRPr>
              <a:solidFill>
                <a:schemeClr val="dk1"/>
              </a:solidFill>
              <a:latin typeface="Roboto"/>
              <a:ea typeface="Roboto"/>
              <a:cs typeface="Roboto"/>
              <a:sym typeface="Roboto"/>
            </a:endParaRPr>
          </a:p>
          <a:p>
            <a:pPr indent="0" lvl="0" marL="0" marR="0" rtl="0" algn="l">
              <a:lnSpc>
                <a:spcPct val="80000"/>
              </a:lnSpc>
              <a:spcBef>
                <a:spcPts val="0"/>
              </a:spcBef>
              <a:spcAft>
                <a:spcPts val="0"/>
              </a:spcAft>
              <a:buNone/>
            </a:pPr>
            <a:r>
              <a:rPr lang="en">
                <a:solidFill>
                  <a:schemeClr val="dk1"/>
                </a:solidFill>
                <a:latin typeface="Roboto"/>
                <a:ea typeface="Roboto"/>
                <a:cs typeface="Roboto"/>
                <a:sym typeface="Roboto"/>
              </a:rPr>
              <a:t>    4.        </a:t>
            </a:r>
            <a:r>
              <a:rPr b="0" i="0" lang="en" u="none" cap="none" strike="noStrike">
                <a:solidFill>
                  <a:schemeClr val="dk1"/>
                </a:solidFill>
                <a:latin typeface="Roboto"/>
                <a:ea typeface="Roboto"/>
                <a:cs typeface="Roboto"/>
                <a:sym typeface="Roboto"/>
              </a:rPr>
              <a:t>Printing the Original List:</a:t>
            </a:r>
            <a:br>
              <a:rPr b="0" i="0" lang="en" u="none" cap="none" strike="noStrike">
                <a:solidFill>
                  <a:schemeClr val="dk1"/>
                </a:solidFill>
                <a:latin typeface="Roboto"/>
                <a:ea typeface="Roboto"/>
                <a:cs typeface="Roboto"/>
                <a:sym typeface="Roboto"/>
              </a:rPr>
            </a:br>
            <a:endParaRPr b="0"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b="0" i="0" lang="en" u="none" cap="none" strike="noStrike">
                <a:solidFill>
                  <a:schemeClr val="dk1"/>
                </a:solidFill>
                <a:latin typeface="Roboto"/>
                <a:ea typeface="Roboto"/>
                <a:cs typeface="Roboto"/>
                <a:sym typeface="Roboto"/>
              </a:rPr>
              <a:t>The printList() method is used to display the list.</a:t>
            </a:r>
            <a:br>
              <a:rPr b="0" i="0" lang="en" u="none" cap="none" strike="noStrike">
                <a:solidFill>
                  <a:schemeClr val="dk1"/>
                </a:solidFill>
                <a:latin typeface="Roboto"/>
                <a:ea typeface="Roboto"/>
                <a:cs typeface="Roboto"/>
                <a:sym typeface="Roboto"/>
              </a:rPr>
            </a:br>
            <a:endParaRPr b="0"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b="0" i="0" lang="en" u="none" cap="none" strike="noStrike">
                <a:solidFill>
                  <a:schemeClr val="dk1"/>
                </a:solidFill>
                <a:latin typeface="Roboto"/>
                <a:ea typeface="Roboto"/>
                <a:cs typeface="Roboto"/>
                <a:sym typeface="Roboto"/>
              </a:rPr>
              <a:t>It traverses from head and prints each node's data.</a:t>
            </a:r>
            <a:endParaRPr b="0" i="0" u="none" cap="none" strike="noStrike">
              <a:solidFill>
                <a:schemeClr val="dk1"/>
              </a:solidFill>
              <a:latin typeface="Roboto"/>
              <a:ea typeface="Roboto"/>
              <a:cs typeface="Roboto"/>
              <a:sym typeface="Roboto"/>
            </a:endParaRPr>
          </a:p>
          <a:p>
            <a:pPr indent="0" lvl="0" marL="914400" marR="0" rtl="0" algn="l">
              <a:lnSpc>
                <a:spcPct val="80000"/>
              </a:lnSpc>
              <a:spcBef>
                <a:spcPts val="0"/>
              </a:spcBef>
              <a:spcAft>
                <a:spcPts val="0"/>
              </a:spcAft>
              <a:buNone/>
            </a:pPr>
            <a:r>
              <a:t/>
            </a:r>
            <a:endParaRPr>
              <a:solidFill>
                <a:schemeClr val="dk1"/>
              </a:solidFill>
              <a:latin typeface="Roboto"/>
              <a:ea typeface="Roboto"/>
              <a:cs typeface="Roboto"/>
              <a:sym typeface="Roboto"/>
            </a:endParaRPr>
          </a:p>
          <a:p>
            <a:pPr indent="0" lvl="0" marL="0" marR="0" rtl="0" algn="l">
              <a:lnSpc>
                <a:spcPct val="80000"/>
              </a:lnSpc>
              <a:spcBef>
                <a:spcPts val="0"/>
              </a:spcBef>
              <a:spcAft>
                <a:spcPts val="0"/>
              </a:spcAft>
              <a:buNone/>
            </a:pPr>
            <a:r>
              <a:rPr lang="en">
                <a:solidFill>
                  <a:schemeClr val="dk1"/>
                </a:solidFill>
                <a:latin typeface="Roboto"/>
                <a:ea typeface="Roboto"/>
                <a:cs typeface="Roboto"/>
                <a:sym typeface="Roboto"/>
              </a:rPr>
              <a:t>    5.     </a:t>
            </a:r>
            <a:r>
              <a:rPr lang="en">
                <a:solidFill>
                  <a:schemeClr val="dk1"/>
                </a:solidFill>
                <a:latin typeface="Roboto"/>
                <a:ea typeface="Roboto"/>
                <a:cs typeface="Roboto"/>
                <a:sym typeface="Roboto"/>
              </a:rPr>
              <a:t>Reversing the Linked List:</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The reverse() method is called with head as input.</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It uses three pointers:</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80000"/>
              </a:lnSpc>
              <a:spcBef>
                <a:spcPts val="0"/>
              </a:spcBef>
              <a:spcAft>
                <a:spcPts val="0"/>
              </a:spcAft>
              <a:buNone/>
            </a:pP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marR="0" rtl="0" algn="l">
              <a:lnSpc>
                <a:spcPct val="80000"/>
              </a:lnSpc>
              <a:spcBef>
                <a:spcPts val="0"/>
              </a:spcBef>
              <a:spcAft>
                <a:spcPts val="0"/>
              </a:spcAft>
              <a:buNone/>
            </a:pPr>
            <a:r>
              <a:t/>
            </a:r>
            <a:endParaRPr b="0" i="0" u="none" cap="none" strike="noStrike">
              <a:solidFill>
                <a:schemeClr val="dk1"/>
              </a:solidFill>
              <a:latin typeface="Roboto"/>
              <a:ea typeface="Roboto"/>
              <a:cs typeface="Roboto"/>
              <a:sym typeface="Roboto"/>
            </a:endParaRPr>
          </a:p>
          <a:p>
            <a:pPr indent="0" lvl="0" marL="457200" marR="0" rtl="0" algn="l">
              <a:lnSpc>
                <a:spcPct val="80000"/>
              </a:lnSpc>
              <a:spcBef>
                <a:spcPts val="0"/>
              </a:spcBef>
              <a:spcAft>
                <a:spcPts val="0"/>
              </a:spcAft>
              <a:buClr>
                <a:srgbClr val="000000"/>
              </a:buClr>
              <a:buSzPts val="1200"/>
              <a:buFont typeface="Arial"/>
              <a:buNone/>
            </a:pPr>
            <a:r>
              <a:t/>
            </a:r>
            <a:endParaRPr b="0" i="0" u="none" cap="none" strike="noStrike">
              <a:solidFill>
                <a:schemeClr val="dk1"/>
              </a:solidFill>
              <a:latin typeface="Roboto"/>
              <a:ea typeface="Roboto"/>
              <a:cs typeface="Roboto"/>
              <a:sym typeface="Roboto"/>
            </a:endParaRPr>
          </a:p>
          <a:p>
            <a:pPr indent="0" lvl="0" marL="0" marR="0" rtl="0" algn="l">
              <a:lnSpc>
                <a:spcPct val="80000"/>
              </a:lnSpc>
              <a:spcBef>
                <a:spcPts val="0"/>
              </a:spcBef>
              <a:spcAft>
                <a:spcPts val="0"/>
              </a:spcAft>
              <a:buClr>
                <a:srgbClr val="000000"/>
              </a:buClr>
              <a:buSzPts val="1200"/>
              <a:buFont typeface="Arial"/>
              <a:buNone/>
            </a:pPr>
            <a:r>
              <a:t/>
            </a:r>
            <a:endParaRPr b="1" i="0" u="none" cap="none" strike="noStrike">
              <a:solidFill>
                <a:schemeClr val="dk1"/>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3"/>
          <p:cNvSpPr txBox="1"/>
          <p:nvPr/>
        </p:nvSpPr>
        <p:spPr>
          <a:xfrm>
            <a:off x="1384150" y="238350"/>
            <a:ext cx="8118000" cy="4666800"/>
          </a:xfrm>
          <a:prstGeom prst="rect">
            <a:avLst/>
          </a:prstGeom>
          <a:noFill/>
          <a:ln>
            <a:noFill/>
          </a:ln>
        </p:spPr>
        <p:txBody>
          <a:bodyPr anchorCtr="0" anchor="t" bIns="91425" lIns="91425" spcFirstLastPara="1" rIns="91425" wrap="square" tIns="91425">
            <a:spAutoFit/>
          </a:bodyPr>
          <a:lstStyle/>
          <a:p>
            <a:pPr indent="0" lvl="0" marL="0" rtl="0" algn="l">
              <a:lnSpc>
                <a:spcPct val="80000"/>
              </a:lnSpc>
              <a:spcBef>
                <a:spcPts val="0"/>
              </a:spcBef>
              <a:spcAft>
                <a:spcPts val="0"/>
              </a:spcAft>
              <a:buNone/>
            </a:pPr>
            <a:r>
              <a:rPr lang="en">
                <a:solidFill>
                  <a:schemeClr val="dk1"/>
                </a:solidFill>
                <a:latin typeface="Roboto"/>
                <a:ea typeface="Roboto"/>
                <a:cs typeface="Roboto"/>
                <a:sym typeface="Roboto"/>
              </a:rPr>
              <a:t>                                     </a:t>
            </a:r>
            <a:r>
              <a:rPr lang="en">
                <a:solidFill>
                  <a:schemeClr val="dk1"/>
                </a:solidFill>
                <a:latin typeface="Roboto"/>
                <a:ea typeface="Roboto"/>
                <a:cs typeface="Roboto"/>
                <a:sym typeface="Roboto"/>
              </a:rPr>
              <a:t>prev (initially null)</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1371600" rtl="0" algn="l">
              <a:lnSpc>
                <a:spcPct val="80000"/>
              </a:lnSpc>
              <a:spcBef>
                <a:spcPts val="0"/>
              </a:spcBef>
              <a:spcAft>
                <a:spcPts val="0"/>
              </a:spcAft>
              <a:buNone/>
            </a:pPr>
            <a:r>
              <a:rPr lang="en">
                <a:solidFill>
                  <a:schemeClr val="dk1"/>
                </a:solidFill>
                <a:latin typeface="Roboto"/>
                <a:ea typeface="Roboto"/>
                <a:cs typeface="Roboto"/>
                <a:sym typeface="Roboto"/>
              </a:rPr>
              <a:t>current (starts from head)</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80000"/>
              </a:lnSpc>
              <a:spcBef>
                <a:spcPts val="0"/>
              </a:spcBef>
              <a:spcAft>
                <a:spcPts val="0"/>
              </a:spcAft>
              <a:buNone/>
            </a:pPr>
            <a:r>
              <a:rPr lang="en">
                <a:solidFill>
                  <a:schemeClr val="dk1"/>
                </a:solidFill>
                <a:latin typeface="Roboto"/>
                <a:ea typeface="Roboto"/>
                <a:cs typeface="Roboto"/>
                <a:sym typeface="Roboto"/>
              </a:rPr>
              <a:t>                                next (to temporarily hold the next node)</a:t>
            </a:r>
            <a:br>
              <a:rPr lang="en">
                <a:solidFill>
                  <a:schemeClr val="dk1"/>
                </a:solidFill>
                <a:latin typeface="Roboto"/>
                <a:ea typeface="Roboto"/>
                <a:cs typeface="Roboto"/>
                <a:sym typeface="Roboto"/>
              </a:rPr>
            </a:br>
            <a:r>
              <a:rPr lang="en">
                <a:solidFill>
                  <a:schemeClr val="dk1"/>
                </a:solidFill>
                <a:latin typeface="Roboto"/>
                <a:ea typeface="Roboto"/>
                <a:cs typeface="Roboto"/>
                <a:sym typeface="Roboto"/>
              </a:rPr>
              <a:t>   </a:t>
            </a:r>
            <a:r>
              <a:rPr lang="en">
                <a:solidFill>
                  <a:schemeClr val="dk1"/>
                </a:solidFill>
                <a:latin typeface="Roboto"/>
                <a:ea typeface="Roboto"/>
                <a:cs typeface="Roboto"/>
                <a:sym typeface="Roboto"/>
              </a:rPr>
              <a:t>          </a:t>
            </a:r>
            <a:r>
              <a:rPr lang="en">
                <a:solidFill>
                  <a:schemeClr val="dk1"/>
                </a:solidFill>
                <a:latin typeface="Roboto"/>
                <a:ea typeface="Roboto"/>
                <a:cs typeface="Roboto"/>
                <a:sym typeface="Roboto"/>
              </a:rPr>
              <a:t>For each node:</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next stores the original next node.</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current.next is set to prev (reversing the link).</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lnSpc>
                <a:spcPct val="80000"/>
              </a:lnSpc>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Move prev and current forward.</a:t>
            </a:r>
            <a:endParaRPr>
              <a:solidFill>
                <a:schemeClr val="dk1"/>
              </a:solidFill>
              <a:latin typeface="Roboto"/>
              <a:ea typeface="Roboto"/>
              <a:cs typeface="Roboto"/>
              <a:sym typeface="Roboto"/>
            </a:endParaRPr>
          </a:p>
          <a:p>
            <a:pPr indent="0" lvl="0" marL="914400" rtl="0" algn="l">
              <a:lnSpc>
                <a:spcPct val="80000"/>
              </a:lnSpc>
              <a:spcBef>
                <a:spcPts val="0"/>
              </a:spcBef>
              <a:spcAft>
                <a:spcPts val="0"/>
              </a:spcAft>
              <a:buNone/>
            </a:pP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0" rtl="0" algn="l">
              <a:lnSpc>
                <a:spcPct val="80000"/>
              </a:lnSpc>
              <a:spcBef>
                <a:spcPts val="0"/>
              </a:spcBef>
              <a:spcAft>
                <a:spcPts val="0"/>
              </a:spcAft>
              <a:buNone/>
            </a:pPr>
            <a:r>
              <a:rPr lang="en">
                <a:solidFill>
                  <a:schemeClr val="dk1"/>
                </a:solidFill>
                <a:latin typeface="Roboto"/>
                <a:ea typeface="Roboto"/>
                <a:cs typeface="Roboto"/>
                <a:sym typeface="Roboto"/>
              </a:rPr>
              <a:t>   6.      At the end, prev becomes the new head and is returned.</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0" lvl="0" marL="457200" rtl="0" algn="l">
              <a:lnSpc>
                <a:spcPct val="80000"/>
              </a:lnSpc>
              <a:spcBef>
                <a:spcPts val="0"/>
              </a:spcBef>
              <a:spcAft>
                <a:spcPts val="0"/>
              </a:spcAft>
              <a:buNone/>
            </a:pPr>
            <a:r>
              <a:t/>
            </a:r>
            <a:endParaRPr>
              <a:solidFill>
                <a:schemeClr val="dk1"/>
              </a:solidFill>
              <a:latin typeface="Roboto"/>
              <a:ea typeface="Roboto"/>
              <a:cs typeface="Roboto"/>
              <a:sym typeface="Roboto"/>
            </a:endParaRPr>
          </a:p>
          <a:p>
            <a:pPr indent="-317500" lvl="0" marL="457200" marR="0" rtl="0" algn="l">
              <a:lnSpc>
                <a:spcPct val="80000"/>
              </a:lnSpc>
              <a:spcBef>
                <a:spcPts val="0"/>
              </a:spcBef>
              <a:spcAft>
                <a:spcPts val="0"/>
              </a:spcAft>
              <a:buClr>
                <a:schemeClr val="dk1"/>
              </a:buClr>
              <a:buSzPts val="1400"/>
              <a:buFont typeface="Roboto"/>
              <a:buAutoNum type="arabicPeriod" startAt="6"/>
            </a:pPr>
            <a:r>
              <a:rPr b="0" i="0" lang="en" u="none" cap="none" strike="noStrike">
                <a:solidFill>
                  <a:schemeClr val="dk1"/>
                </a:solidFill>
                <a:latin typeface="Roboto"/>
                <a:ea typeface="Roboto"/>
                <a:cs typeface="Roboto"/>
                <a:sym typeface="Roboto"/>
              </a:rPr>
              <a:t>Printing the Reversed List:</a:t>
            </a:r>
            <a:br>
              <a:rPr b="0" i="0" lang="en" u="none" cap="none" strike="noStrike">
                <a:solidFill>
                  <a:schemeClr val="dk1"/>
                </a:solidFill>
                <a:latin typeface="Roboto"/>
                <a:ea typeface="Roboto"/>
                <a:cs typeface="Roboto"/>
                <a:sym typeface="Roboto"/>
              </a:rPr>
            </a:br>
            <a:endParaRPr b="0"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b="0" i="0" lang="en" u="none" cap="none" strike="noStrike">
                <a:solidFill>
                  <a:schemeClr val="dk1"/>
                </a:solidFill>
                <a:latin typeface="Roboto"/>
                <a:ea typeface="Roboto"/>
                <a:cs typeface="Roboto"/>
                <a:sym typeface="Roboto"/>
              </a:rPr>
              <a:t>The new head (from reverse() method) is assigned to head.</a:t>
            </a:r>
            <a:br>
              <a:rPr b="0" i="0" lang="en" u="none" cap="none" strike="noStrike">
                <a:solidFill>
                  <a:schemeClr val="dk1"/>
                </a:solidFill>
                <a:latin typeface="Roboto"/>
                <a:ea typeface="Roboto"/>
                <a:cs typeface="Roboto"/>
                <a:sym typeface="Roboto"/>
              </a:rPr>
            </a:br>
            <a:endParaRPr b="0"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b="0" i="0" lang="en" u="none" cap="none" strike="noStrike">
                <a:solidFill>
                  <a:schemeClr val="dk1"/>
                </a:solidFill>
                <a:latin typeface="Roboto"/>
                <a:ea typeface="Roboto"/>
                <a:cs typeface="Roboto"/>
                <a:sym typeface="Roboto"/>
              </a:rPr>
              <a:t>The printList() method is used again to display the reversed list.</a:t>
            </a:r>
            <a:br>
              <a:rPr b="0" i="0" lang="en" u="none" cap="none" strike="noStrike">
                <a:solidFill>
                  <a:schemeClr val="dk1"/>
                </a:solidFill>
                <a:latin typeface="Roboto"/>
                <a:ea typeface="Roboto"/>
                <a:cs typeface="Roboto"/>
                <a:sym typeface="Roboto"/>
              </a:rPr>
            </a:br>
            <a:endParaRPr b="0" i="0" u="none" cap="none" strike="noStrike">
              <a:solidFill>
                <a:schemeClr val="dk1"/>
              </a:solidFill>
              <a:latin typeface="Roboto"/>
              <a:ea typeface="Roboto"/>
              <a:cs typeface="Roboto"/>
              <a:sym typeface="Roboto"/>
            </a:endParaRPr>
          </a:p>
          <a:p>
            <a:pPr indent="-317500" lvl="0" marL="457200" marR="0" rtl="0" algn="l">
              <a:lnSpc>
                <a:spcPct val="80000"/>
              </a:lnSpc>
              <a:spcBef>
                <a:spcPts val="0"/>
              </a:spcBef>
              <a:spcAft>
                <a:spcPts val="0"/>
              </a:spcAft>
              <a:buClr>
                <a:schemeClr val="dk1"/>
              </a:buClr>
              <a:buSzPts val="1400"/>
              <a:buFont typeface="Roboto"/>
              <a:buAutoNum type="arabicPeriod" startAt="6"/>
            </a:pPr>
            <a:r>
              <a:rPr b="0" i="0" lang="en" u="none" cap="none" strike="noStrike">
                <a:solidFill>
                  <a:schemeClr val="dk1"/>
                </a:solidFill>
                <a:latin typeface="Roboto"/>
                <a:ea typeface="Roboto"/>
                <a:cs typeface="Roboto"/>
                <a:sym typeface="Roboto"/>
              </a:rPr>
              <a:t>Closing Scanner:</a:t>
            </a:r>
            <a:br>
              <a:rPr b="0" i="0" lang="en" u="none" cap="none" strike="noStrike">
                <a:solidFill>
                  <a:schemeClr val="dk1"/>
                </a:solidFill>
                <a:latin typeface="Roboto"/>
                <a:ea typeface="Roboto"/>
                <a:cs typeface="Roboto"/>
                <a:sym typeface="Roboto"/>
              </a:rPr>
            </a:br>
            <a:endParaRPr b="0" i="0" u="none" cap="none" strike="noStrike">
              <a:solidFill>
                <a:schemeClr val="dk1"/>
              </a:solidFill>
              <a:latin typeface="Roboto"/>
              <a:ea typeface="Roboto"/>
              <a:cs typeface="Roboto"/>
              <a:sym typeface="Roboto"/>
            </a:endParaRPr>
          </a:p>
          <a:p>
            <a:pPr indent="-317500" lvl="1" marL="914400" marR="0" rtl="0" algn="l">
              <a:lnSpc>
                <a:spcPct val="80000"/>
              </a:lnSpc>
              <a:spcBef>
                <a:spcPts val="0"/>
              </a:spcBef>
              <a:spcAft>
                <a:spcPts val="0"/>
              </a:spcAft>
              <a:buClr>
                <a:schemeClr val="dk1"/>
              </a:buClr>
              <a:buSzPts val="1400"/>
              <a:buFont typeface="Roboto"/>
              <a:buChar char="○"/>
            </a:pPr>
            <a:r>
              <a:rPr b="0" i="0" lang="en" u="none" cap="none" strike="noStrike">
                <a:solidFill>
                  <a:schemeClr val="dk1"/>
                </a:solidFill>
                <a:latin typeface="Roboto"/>
                <a:ea typeface="Roboto"/>
                <a:cs typeface="Roboto"/>
                <a:sym typeface="Roboto"/>
              </a:rPr>
              <a:t>The Scanner object is closed to free system resources.</a:t>
            </a:r>
            <a:endParaRPr b="0" i="0" u="none" cap="none" strike="noStrike">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4"/>
          <p:cNvSpPr/>
          <p:nvPr/>
        </p:nvSpPr>
        <p:spPr>
          <a:xfrm>
            <a:off x="409300" y="1127500"/>
            <a:ext cx="3840300" cy="3513900"/>
          </a:xfrm>
          <a:prstGeom prst="rect">
            <a:avLst/>
          </a:prstGeom>
          <a:solidFill>
            <a:schemeClr val="lt1"/>
          </a:solid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rgbClr val="6332DF"/>
                </a:solidFill>
                <a:highlight>
                  <a:schemeClr val="lt1"/>
                </a:highlight>
                <a:latin typeface="Roboto"/>
                <a:ea typeface="Roboto"/>
                <a:cs typeface="Roboto"/>
                <a:sym typeface="Roboto"/>
              </a:rPr>
              <a:t>Time Complexity:</a:t>
            </a:r>
            <a:endParaRPr b="1">
              <a:solidFill>
                <a:srgbClr val="6332DF"/>
              </a:solidFill>
              <a:highlight>
                <a:schemeClr val="lt1"/>
              </a:highlight>
              <a:latin typeface="Roboto"/>
              <a:ea typeface="Roboto"/>
              <a:cs typeface="Roboto"/>
              <a:sym typeface="Roboto"/>
            </a:endParaRPr>
          </a:p>
          <a:p>
            <a:pPr indent="0" lvl="0" marL="0" rtl="0" algn="l">
              <a:spcBef>
                <a:spcPts val="1400"/>
              </a:spcBef>
              <a:spcAft>
                <a:spcPts val="0"/>
              </a:spcAft>
              <a:buClr>
                <a:schemeClr val="dk1"/>
              </a:buClr>
              <a:buSzPts val="1100"/>
              <a:buFont typeface="Arial"/>
              <a:buNone/>
            </a:pPr>
            <a:r>
              <a:t/>
            </a:r>
            <a:endParaRPr b="1">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b="1" lang="en">
                <a:solidFill>
                  <a:schemeClr val="dk1"/>
                </a:solidFill>
                <a:latin typeface="Roboto"/>
                <a:ea typeface="Roboto"/>
                <a:cs typeface="Roboto"/>
                <a:sym typeface="Roboto"/>
              </a:rPr>
              <a:t>🔸 O(n) — Linear Time</a:t>
            </a:r>
            <a:endParaRPr b="1">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b="1" lang="en">
                <a:solidFill>
                  <a:schemeClr val="dk1"/>
                </a:solidFill>
                <a:latin typeface="Roboto"/>
                <a:ea typeface="Roboto"/>
                <a:cs typeface="Roboto"/>
                <a:sym typeface="Roboto"/>
              </a:rPr>
              <a:t>Building the List</a:t>
            </a:r>
            <a:r>
              <a:rPr lang="en">
                <a:solidFill>
                  <a:schemeClr val="dk1"/>
                </a:solidFill>
                <a:latin typeface="Roboto"/>
                <a:ea typeface="Roboto"/>
                <a:cs typeface="Roboto"/>
                <a:sym typeface="Roboto"/>
              </a:rPr>
              <a:t>:</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Each of the n inputs is inserted once ⇒ O(n)</a:t>
            </a: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b="1" lang="en">
                <a:solidFill>
                  <a:schemeClr val="dk1"/>
                </a:solidFill>
                <a:latin typeface="Roboto"/>
                <a:ea typeface="Roboto"/>
                <a:cs typeface="Roboto"/>
                <a:sym typeface="Roboto"/>
              </a:rPr>
              <a:t>Reversing the List</a:t>
            </a:r>
            <a:r>
              <a:rPr lang="en">
                <a:solidFill>
                  <a:schemeClr val="dk1"/>
                </a:solidFill>
                <a:latin typeface="Roboto"/>
                <a:ea typeface="Roboto"/>
                <a:cs typeface="Roboto"/>
                <a:sym typeface="Roboto"/>
              </a:rPr>
              <a:t>:</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Each node is visited once and links are reversed ⇒ O(n)</a:t>
            </a:r>
            <a:endParaRPr>
              <a:solidFill>
                <a:schemeClr val="dk1"/>
              </a:solidFill>
              <a:latin typeface="Roboto"/>
              <a:ea typeface="Roboto"/>
              <a:cs typeface="Roboto"/>
              <a:sym typeface="Roboto"/>
            </a:endParaRPr>
          </a:p>
          <a:p>
            <a:pPr indent="0" lvl="0" marL="0" rtl="0" algn="ctr">
              <a:spcBef>
                <a:spcPts val="0"/>
              </a:spcBef>
              <a:spcAft>
                <a:spcPts val="0"/>
              </a:spcAft>
              <a:buClr>
                <a:schemeClr val="dk1"/>
              </a:buClr>
              <a:buSzPts val="1400"/>
              <a:buFont typeface="Arial"/>
              <a:buNone/>
            </a:pPr>
            <a:r>
              <a:t/>
            </a:r>
            <a:endParaRPr>
              <a:solidFill>
                <a:schemeClr val="dk1"/>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236" name="Google Shape;236;p34"/>
          <p:cNvSpPr/>
          <p:nvPr/>
        </p:nvSpPr>
        <p:spPr>
          <a:xfrm>
            <a:off x="4572000" y="1127500"/>
            <a:ext cx="3718500" cy="3513900"/>
          </a:xfrm>
          <a:prstGeom prst="rect">
            <a:avLst/>
          </a:prstGeom>
          <a:solidFill>
            <a:schemeClr val="lt1"/>
          </a:solidFill>
          <a:ln cap="flat" cmpd="sng" w="38100">
            <a:solidFill>
              <a:srgbClr val="807F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1400"/>
              </a:spcBef>
              <a:spcAft>
                <a:spcPts val="0"/>
              </a:spcAft>
              <a:buClr>
                <a:schemeClr val="dk1"/>
              </a:buClr>
              <a:buSzPts val="1100"/>
              <a:buFont typeface="Arial"/>
              <a:buNone/>
            </a:pPr>
            <a:r>
              <a:rPr b="1" lang="en">
                <a:solidFill>
                  <a:srgbClr val="6332DF"/>
                </a:solidFill>
                <a:highlight>
                  <a:schemeClr val="lt1"/>
                </a:highlight>
                <a:latin typeface="Roboto"/>
                <a:ea typeface="Roboto"/>
                <a:cs typeface="Roboto"/>
                <a:sym typeface="Roboto"/>
              </a:rPr>
              <a:t>Space Complexity:</a:t>
            </a:r>
            <a:endParaRPr b="1">
              <a:solidFill>
                <a:srgbClr val="6332DF"/>
              </a:solidFill>
              <a:highlight>
                <a:schemeClr val="lt1"/>
              </a:highlight>
              <a:latin typeface="Roboto"/>
              <a:ea typeface="Roboto"/>
              <a:cs typeface="Roboto"/>
              <a:sym typeface="Roboto"/>
            </a:endParaRPr>
          </a:p>
          <a:p>
            <a:pPr indent="0" lvl="0" marL="0" rtl="0" algn="l">
              <a:spcBef>
                <a:spcPts val="1200"/>
              </a:spcBef>
              <a:spcAft>
                <a:spcPts val="0"/>
              </a:spcAft>
              <a:buNone/>
            </a:pPr>
            <a:r>
              <a:t/>
            </a:r>
            <a:endParaRPr b="1">
              <a:solidFill>
                <a:schemeClr val="dk1"/>
              </a:solidFill>
              <a:latin typeface="Roboto"/>
              <a:ea typeface="Roboto"/>
              <a:cs typeface="Roboto"/>
              <a:sym typeface="Roboto"/>
            </a:endParaRPr>
          </a:p>
          <a:p>
            <a:pPr indent="0" lvl="0" marL="0" rtl="0" algn="l">
              <a:spcBef>
                <a:spcPts val="1200"/>
              </a:spcBef>
              <a:spcAft>
                <a:spcPts val="0"/>
              </a:spcAft>
              <a:buClr>
                <a:schemeClr val="dk1"/>
              </a:buClr>
              <a:buSzPts val="1100"/>
              <a:buFont typeface="Arial"/>
              <a:buNone/>
            </a:pPr>
            <a:r>
              <a:rPr b="1" lang="en">
                <a:solidFill>
                  <a:schemeClr val="dk1"/>
                </a:solidFill>
                <a:latin typeface="Roboto"/>
                <a:ea typeface="Roboto"/>
                <a:cs typeface="Roboto"/>
                <a:sym typeface="Roboto"/>
              </a:rPr>
              <a:t>🔸 O(1) — Constant Space (excluding input)</a:t>
            </a:r>
            <a:endParaRPr b="1">
              <a:solidFill>
                <a:schemeClr val="dk1"/>
              </a:solidFill>
              <a:latin typeface="Roboto"/>
              <a:ea typeface="Roboto"/>
              <a:cs typeface="Roboto"/>
              <a:sym typeface="Roboto"/>
            </a:endParaRPr>
          </a:p>
          <a:p>
            <a:pPr indent="-317500" lvl="0" marL="457200" rtl="0" algn="l">
              <a:spcBef>
                <a:spcPts val="1200"/>
              </a:spcBef>
              <a:spcAft>
                <a:spcPts val="0"/>
              </a:spcAft>
              <a:buClr>
                <a:schemeClr val="dk1"/>
              </a:buClr>
              <a:buSzPts val="1400"/>
              <a:buFont typeface="Roboto"/>
              <a:buChar char="●"/>
            </a:pPr>
            <a:r>
              <a:rPr lang="en">
                <a:solidFill>
                  <a:schemeClr val="dk1"/>
                </a:solidFill>
                <a:latin typeface="Roboto"/>
                <a:ea typeface="Roboto"/>
                <a:cs typeface="Roboto"/>
                <a:sym typeface="Roboto"/>
              </a:rPr>
              <a:t>The reversal is done </a:t>
            </a:r>
            <a:r>
              <a:rPr b="1" lang="en">
                <a:solidFill>
                  <a:schemeClr val="dk1"/>
                </a:solidFill>
                <a:latin typeface="Roboto"/>
                <a:ea typeface="Roboto"/>
                <a:cs typeface="Roboto"/>
                <a:sym typeface="Roboto"/>
              </a:rPr>
              <a:t>in-place</a:t>
            </a:r>
            <a:r>
              <a:rPr lang="en">
                <a:solidFill>
                  <a:schemeClr val="dk1"/>
                </a:solidFill>
                <a:latin typeface="Roboto"/>
                <a:ea typeface="Roboto"/>
                <a:cs typeface="Roboto"/>
                <a:sym typeface="Roboto"/>
              </a:rPr>
              <a:t>, meaning:</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1" marL="9144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Only 3 pointers (prev, current, next) are used during reversal.</a:t>
            </a:r>
            <a:br>
              <a:rPr lang="en">
                <a:solidFill>
                  <a:schemeClr val="dk1"/>
                </a:solidFill>
                <a:latin typeface="Roboto"/>
                <a:ea typeface="Roboto"/>
                <a:cs typeface="Roboto"/>
                <a:sym typeface="Roboto"/>
              </a:rPr>
            </a:br>
            <a:endParaRPr>
              <a:solidFill>
                <a:schemeClr val="dk1"/>
              </a:solidFill>
              <a:latin typeface="Roboto"/>
              <a:ea typeface="Roboto"/>
              <a:cs typeface="Roboto"/>
              <a:sym typeface="Roboto"/>
            </a:endParaRPr>
          </a:p>
          <a:p>
            <a:pPr indent="-317500" lvl="0" marL="457200" rtl="0" algn="l">
              <a:spcBef>
                <a:spcPts val="0"/>
              </a:spcBef>
              <a:spcAft>
                <a:spcPts val="0"/>
              </a:spcAft>
              <a:buClr>
                <a:schemeClr val="dk1"/>
              </a:buClr>
              <a:buSzPts val="1400"/>
              <a:buFont typeface="Roboto"/>
              <a:buChar char="●"/>
            </a:pPr>
            <a:r>
              <a:rPr lang="en">
                <a:solidFill>
                  <a:schemeClr val="dk1"/>
                </a:solidFill>
                <a:latin typeface="Roboto"/>
                <a:ea typeface="Roboto"/>
                <a:cs typeface="Roboto"/>
                <a:sym typeface="Roboto"/>
              </a:rPr>
              <a:t>No extra memory or data structures (like arrays or stacks) are used.</a:t>
            </a:r>
            <a:endParaRPr>
              <a:solidFill>
                <a:schemeClr val="dk1"/>
              </a:solidFill>
              <a:latin typeface="Roboto"/>
              <a:ea typeface="Roboto"/>
              <a:cs typeface="Roboto"/>
              <a:sym typeface="Roboto"/>
            </a:endParaRPr>
          </a:p>
          <a:p>
            <a:pPr indent="0" lvl="0" marL="0" rtl="0" algn="l">
              <a:lnSpc>
                <a:spcPct val="80000"/>
              </a:lnSpc>
              <a:spcBef>
                <a:spcPts val="1200"/>
              </a:spcBef>
              <a:spcAft>
                <a:spcPts val="0"/>
              </a:spcAft>
              <a:buClr>
                <a:schemeClr val="dk1"/>
              </a:buClr>
              <a:buSzPts val="1200"/>
              <a:buFont typeface="Arial"/>
              <a:buNone/>
            </a:pPr>
            <a:r>
              <a:t/>
            </a:r>
            <a:endParaRPr>
              <a:solidFill>
                <a:schemeClr val="dk1"/>
              </a:solidFill>
              <a:latin typeface="Roboto"/>
              <a:ea typeface="Roboto"/>
              <a:cs typeface="Roboto"/>
              <a:sym typeface="Roboto"/>
            </a:endParaRPr>
          </a:p>
          <a:p>
            <a:pPr indent="0" lvl="0" marL="0" rtl="0" algn="ctr">
              <a:spcBef>
                <a:spcPts val="0"/>
              </a:spcBef>
              <a:spcAft>
                <a:spcPts val="0"/>
              </a:spcAft>
              <a:buClr>
                <a:schemeClr val="dk1"/>
              </a:buClr>
              <a:buSzPts val="1400"/>
              <a:buFont typeface="Arial"/>
              <a:buNone/>
            </a:pPr>
            <a:r>
              <a:t/>
            </a:r>
            <a:endParaRPr>
              <a:solidFill>
                <a:schemeClr val="dk1"/>
              </a:solidFill>
              <a:latin typeface="Roboto"/>
              <a:ea typeface="Roboto"/>
              <a:cs typeface="Roboto"/>
              <a:sym typeface="Roboto"/>
            </a:endParaRPr>
          </a:p>
          <a:p>
            <a:pPr indent="0" lvl="0" marL="0" rtl="0" algn="ctr">
              <a:spcBef>
                <a:spcPts val="0"/>
              </a:spcBef>
              <a:spcAft>
                <a:spcPts val="0"/>
              </a:spcAft>
              <a:buNone/>
            </a:pPr>
            <a:r>
              <a:t/>
            </a:r>
            <a:endParaRPr>
              <a:latin typeface="Roboto"/>
              <a:ea typeface="Roboto"/>
              <a:cs typeface="Roboto"/>
              <a:sym typeface="Roboto"/>
            </a:endParaRPr>
          </a:p>
        </p:txBody>
      </p:sp>
      <p:sp>
        <p:nvSpPr>
          <p:cNvPr id="237" name="Google Shape;237;p34"/>
          <p:cNvSpPr txBox="1"/>
          <p:nvPr/>
        </p:nvSpPr>
        <p:spPr>
          <a:xfrm>
            <a:off x="291550" y="419000"/>
            <a:ext cx="7332900" cy="44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solidFill>
                  <a:srgbClr val="8181EF"/>
                </a:solidFill>
                <a:latin typeface="Roboto"/>
                <a:ea typeface="Roboto"/>
                <a:cs typeface="Roboto"/>
                <a:sym typeface="Roboto"/>
              </a:rPr>
              <a:t>Time and Space Complexity</a:t>
            </a:r>
            <a:endParaRPr b="1" sz="1700">
              <a:solidFill>
                <a:srgbClr val="8181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5"/>
          <p:cNvSpPr txBox="1"/>
          <p:nvPr/>
        </p:nvSpPr>
        <p:spPr>
          <a:xfrm>
            <a:off x="228600" y="702475"/>
            <a:ext cx="7922100" cy="3943500"/>
          </a:xfrm>
          <a:prstGeom prst="rect">
            <a:avLst/>
          </a:prstGeom>
          <a:solidFill>
            <a:srgbClr val="CFE2F3">
              <a:alpha val="54430"/>
            </a:srgbClr>
          </a:solidFill>
          <a:ln cap="flat" cmpd="sng" w="38100">
            <a:solidFill>
              <a:srgbClr val="807FE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1400"/>
              </a:spcBef>
              <a:spcAft>
                <a:spcPts val="0"/>
              </a:spcAft>
              <a:buClr>
                <a:schemeClr val="dk1"/>
              </a:buClr>
              <a:buSzPts val="1100"/>
              <a:buFont typeface="Arial"/>
              <a:buNone/>
            </a:pPr>
            <a:r>
              <a:rPr b="1" i="0" lang="en" sz="1700" u="none" cap="none" strike="noStrike">
                <a:solidFill>
                  <a:srgbClr val="807FEC"/>
                </a:solidFill>
                <a:latin typeface="Roboto"/>
                <a:ea typeface="Roboto"/>
                <a:cs typeface="Roboto"/>
                <a:sym typeface="Roboto"/>
              </a:rPr>
              <a:t>Advantages -</a:t>
            </a:r>
            <a:r>
              <a:rPr b="1" lang="en" sz="1700">
                <a:solidFill>
                  <a:srgbClr val="807FEC"/>
                </a:solidFill>
                <a:latin typeface="Roboto"/>
                <a:ea typeface="Roboto"/>
                <a:cs typeface="Roboto"/>
                <a:sym typeface="Roboto"/>
              </a:rPr>
              <a:t> </a:t>
            </a:r>
            <a:r>
              <a:rPr b="1" lang="en" sz="1700">
                <a:solidFill>
                  <a:srgbClr val="807FEC"/>
                </a:solidFill>
                <a:latin typeface="Roboto"/>
                <a:ea typeface="Roboto"/>
                <a:cs typeface="Roboto"/>
                <a:sym typeface="Roboto"/>
              </a:rPr>
              <a:t>Reverse Linked List</a:t>
            </a:r>
            <a:endParaRPr b="1" sz="1700">
              <a:solidFill>
                <a:srgbClr val="807FEC"/>
              </a:solidFill>
              <a:latin typeface="Roboto"/>
              <a:ea typeface="Roboto"/>
              <a:cs typeface="Roboto"/>
              <a:sym typeface="Roboto"/>
            </a:endParaRPr>
          </a:p>
          <a:p>
            <a:pPr indent="-317500" lvl="0" marL="457200" marR="0" rtl="0" algn="l">
              <a:lnSpc>
                <a:spcPct val="100000"/>
              </a:lnSpc>
              <a:spcBef>
                <a:spcPts val="1200"/>
              </a:spcBef>
              <a:spcAft>
                <a:spcPts val="0"/>
              </a:spcAft>
              <a:buClr>
                <a:schemeClr val="dk1"/>
              </a:buClr>
              <a:buSzPts val="1400"/>
              <a:buFont typeface="Roboto"/>
              <a:buAutoNum type="arabicPeriod"/>
            </a:pPr>
            <a:r>
              <a:rPr b="1" i="0" lang="en" sz="1400" u="none" cap="none" strike="noStrike">
                <a:solidFill>
                  <a:schemeClr val="dk1"/>
                </a:solidFill>
                <a:latin typeface="Roboto"/>
                <a:ea typeface="Roboto"/>
                <a:cs typeface="Roboto"/>
                <a:sym typeface="Roboto"/>
              </a:rPr>
              <a:t>Dynamic User Input</a:t>
            </a:r>
            <a:br>
              <a:rPr b="1" i="0" lang="en" sz="1400" u="none" cap="none" strike="noStrike">
                <a:solidFill>
                  <a:schemeClr val="dk1"/>
                </a:solidFill>
                <a:latin typeface="Roboto"/>
                <a:ea typeface="Roboto"/>
                <a:cs typeface="Roboto"/>
                <a:sym typeface="Roboto"/>
              </a:rPr>
            </a:br>
            <a:endParaRPr b="1"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The use of the Scanner class allows the user to build the linked list interactively at runtime.</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Roboto"/>
              <a:buAutoNum type="arabicPeriod"/>
            </a:pPr>
            <a:r>
              <a:rPr b="1" i="0" lang="en" sz="1400" u="none" cap="none" strike="noStrike">
                <a:solidFill>
                  <a:schemeClr val="dk1"/>
                </a:solidFill>
                <a:latin typeface="Roboto"/>
                <a:ea typeface="Roboto"/>
                <a:cs typeface="Roboto"/>
                <a:sym typeface="Roboto"/>
              </a:rPr>
              <a:t>In-place Reversal</a:t>
            </a:r>
            <a:br>
              <a:rPr b="1" i="0" lang="en" sz="1400" u="none" cap="none" strike="noStrike">
                <a:solidFill>
                  <a:schemeClr val="dk1"/>
                </a:solidFill>
                <a:latin typeface="Roboto"/>
                <a:ea typeface="Roboto"/>
                <a:cs typeface="Roboto"/>
                <a:sym typeface="Roboto"/>
              </a:rPr>
            </a:br>
            <a:endParaRPr b="1"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The linked list is reversed without using any extra memory (only three pointers are used), making it </a:t>
            </a:r>
            <a:r>
              <a:rPr b="1" i="0" lang="en" sz="1400" u="none" cap="none" strike="noStrike">
                <a:solidFill>
                  <a:schemeClr val="dk1"/>
                </a:solidFill>
                <a:latin typeface="Roboto"/>
                <a:ea typeface="Roboto"/>
                <a:cs typeface="Roboto"/>
                <a:sym typeface="Roboto"/>
              </a:rPr>
              <a:t>space-efficient (O(1))</a:t>
            </a:r>
            <a:r>
              <a:rPr b="0" i="0" lang="en" sz="1400" u="none" cap="none" strike="noStrike">
                <a:solidFill>
                  <a:schemeClr val="dk1"/>
                </a:solidFill>
                <a:latin typeface="Roboto"/>
                <a:ea typeface="Roboto"/>
                <a:cs typeface="Roboto"/>
                <a:sym typeface="Roboto"/>
              </a:rPr>
              <a:t>.</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Roboto"/>
              <a:buAutoNum type="arabicPeriod"/>
            </a:pPr>
            <a:r>
              <a:rPr b="1" i="0" lang="en" sz="1400" u="none" cap="none" strike="noStrike">
                <a:solidFill>
                  <a:schemeClr val="dk1"/>
                </a:solidFill>
                <a:latin typeface="Roboto"/>
                <a:ea typeface="Roboto"/>
                <a:cs typeface="Roboto"/>
                <a:sym typeface="Roboto"/>
              </a:rPr>
              <a:t>Modular Design</a:t>
            </a:r>
            <a:br>
              <a:rPr b="1" i="0" lang="en" sz="1400" u="none" cap="none" strike="noStrike">
                <a:solidFill>
                  <a:schemeClr val="dk1"/>
                </a:solidFill>
                <a:latin typeface="Roboto"/>
                <a:ea typeface="Roboto"/>
                <a:cs typeface="Roboto"/>
                <a:sym typeface="Roboto"/>
              </a:rPr>
            </a:br>
            <a:endParaRPr b="1"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The logic is cleanly separated into methods like reverse() and printList() which improves readability and reusability.</a:t>
            </a:r>
            <a:endParaRPr b="0" i="0" sz="1400" u="none" cap="none" strike="noStrike">
              <a:solidFill>
                <a:schemeClr val="dk1"/>
              </a:solidFill>
              <a:latin typeface="Roboto"/>
              <a:ea typeface="Roboto"/>
              <a:cs typeface="Roboto"/>
              <a:sym typeface="Roboto"/>
            </a:endParaRPr>
          </a:p>
          <a:p>
            <a:pPr indent="0" lvl="0" marL="0" marR="0" rtl="0" algn="l">
              <a:lnSpc>
                <a:spcPct val="80000"/>
              </a:lnSpc>
              <a:spcBef>
                <a:spcPts val="1200"/>
              </a:spcBef>
              <a:spcAft>
                <a:spcPts val="0"/>
              </a:spcAft>
              <a:buClr>
                <a:srgbClr val="000000"/>
              </a:buClr>
              <a:buSzPts val="1200"/>
              <a:buFont typeface="Arial"/>
              <a:buNone/>
            </a:pPr>
            <a:r>
              <a:t/>
            </a:r>
            <a:endParaRPr b="1" i="0" sz="1400" u="none" cap="none" strike="noStrike">
              <a:solidFill>
                <a:schemeClr val="dk1"/>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6"/>
          <p:cNvSpPr txBox="1"/>
          <p:nvPr/>
        </p:nvSpPr>
        <p:spPr>
          <a:xfrm>
            <a:off x="228600" y="702475"/>
            <a:ext cx="7861200" cy="3943500"/>
          </a:xfrm>
          <a:prstGeom prst="rect">
            <a:avLst/>
          </a:prstGeom>
          <a:solidFill>
            <a:srgbClr val="F4CCCC">
              <a:alpha val="34180"/>
            </a:srgbClr>
          </a:solidFill>
          <a:ln cap="flat" cmpd="sng" w="38100">
            <a:solidFill>
              <a:srgbClr val="807FEC"/>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1400"/>
              </a:spcBef>
              <a:spcAft>
                <a:spcPts val="0"/>
              </a:spcAft>
              <a:buClr>
                <a:schemeClr val="dk1"/>
              </a:buClr>
              <a:buSzPts val="1100"/>
              <a:buFont typeface="Arial"/>
              <a:buNone/>
            </a:pPr>
            <a:r>
              <a:rPr b="1" i="0" lang="en" sz="1700" u="none" cap="none" strike="noStrike">
                <a:solidFill>
                  <a:srgbClr val="8181EF"/>
                </a:solidFill>
                <a:latin typeface="Roboto"/>
                <a:ea typeface="Roboto"/>
                <a:cs typeface="Roboto"/>
                <a:sym typeface="Roboto"/>
              </a:rPr>
              <a:t>Disadvantages </a:t>
            </a:r>
            <a:r>
              <a:rPr b="1" lang="en" sz="1700">
                <a:solidFill>
                  <a:srgbClr val="807FEC"/>
                </a:solidFill>
                <a:latin typeface="Roboto"/>
                <a:ea typeface="Roboto"/>
                <a:cs typeface="Roboto"/>
                <a:sym typeface="Roboto"/>
              </a:rPr>
              <a:t>- </a:t>
            </a:r>
            <a:r>
              <a:rPr b="1" lang="en" sz="1700">
                <a:solidFill>
                  <a:srgbClr val="807FEC"/>
                </a:solidFill>
                <a:latin typeface="Roboto"/>
                <a:ea typeface="Roboto"/>
                <a:cs typeface="Roboto"/>
                <a:sym typeface="Roboto"/>
              </a:rPr>
              <a:t>Reverse Linked List</a:t>
            </a:r>
            <a:endParaRPr b="1" sz="1700">
              <a:solidFill>
                <a:srgbClr val="8181EF"/>
              </a:solidFill>
              <a:latin typeface="Roboto"/>
              <a:ea typeface="Roboto"/>
              <a:cs typeface="Roboto"/>
              <a:sym typeface="Roboto"/>
            </a:endParaRPr>
          </a:p>
          <a:p>
            <a:pPr indent="-317500" lvl="0" marL="457200" marR="0" rtl="0" algn="l">
              <a:lnSpc>
                <a:spcPct val="100000"/>
              </a:lnSpc>
              <a:spcBef>
                <a:spcPts val="1200"/>
              </a:spcBef>
              <a:spcAft>
                <a:spcPts val="0"/>
              </a:spcAft>
              <a:buClr>
                <a:schemeClr val="dk1"/>
              </a:buClr>
              <a:buSzPts val="1400"/>
              <a:buFont typeface="Roboto"/>
              <a:buAutoNum type="arabicPeriod"/>
            </a:pPr>
            <a:r>
              <a:rPr b="1" i="0" lang="en" sz="1400" u="none" cap="none" strike="noStrike">
                <a:solidFill>
                  <a:schemeClr val="dk1"/>
                </a:solidFill>
                <a:latin typeface="Roboto"/>
                <a:ea typeface="Roboto"/>
                <a:cs typeface="Roboto"/>
                <a:sym typeface="Roboto"/>
              </a:rPr>
              <a:t>Only Works for Singly Linked Lists</a:t>
            </a:r>
            <a:br>
              <a:rPr b="1" i="0" lang="en" sz="1400" u="none" cap="none" strike="noStrike">
                <a:solidFill>
                  <a:schemeClr val="dk1"/>
                </a:solidFill>
                <a:latin typeface="Roboto"/>
                <a:ea typeface="Roboto"/>
                <a:cs typeface="Roboto"/>
                <a:sym typeface="Roboto"/>
              </a:rPr>
            </a:br>
            <a:endParaRPr b="1"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The program is limited to singly linked lists; it does not support doubly or circular linked lists.</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Roboto"/>
              <a:buAutoNum type="arabicPeriod"/>
            </a:pPr>
            <a:r>
              <a:rPr b="1" i="0" lang="en" sz="1400" u="none" cap="none" strike="noStrike">
                <a:solidFill>
                  <a:schemeClr val="dk1"/>
                </a:solidFill>
                <a:latin typeface="Roboto"/>
                <a:ea typeface="Roboto"/>
                <a:cs typeface="Roboto"/>
                <a:sym typeface="Roboto"/>
              </a:rPr>
              <a:t>No Error Handling for Invalid Input</a:t>
            </a:r>
            <a:br>
              <a:rPr b="1" i="0" lang="en" sz="1400" u="none" cap="none" strike="noStrike">
                <a:solidFill>
                  <a:schemeClr val="dk1"/>
                </a:solidFill>
                <a:latin typeface="Roboto"/>
                <a:ea typeface="Roboto"/>
                <a:cs typeface="Roboto"/>
                <a:sym typeface="Roboto"/>
              </a:rPr>
            </a:br>
            <a:endParaRPr b="1"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The program assumes correct input (like integers). It does not handle exceptions like non-integer input or negative node counts.</a:t>
            </a:r>
            <a:br>
              <a:rPr b="0" i="0" lang="en" sz="1400" u="none" cap="none" strike="noStrike">
                <a:solidFill>
                  <a:schemeClr val="dk1"/>
                </a:solidFill>
                <a:latin typeface="Roboto"/>
                <a:ea typeface="Roboto"/>
                <a:cs typeface="Roboto"/>
                <a:sym typeface="Roboto"/>
              </a:rPr>
            </a:br>
            <a:endParaRPr b="0" i="0" sz="1400" u="none" cap="none" strike="noStrike">
              <a:solidFill>
                <a:schemeClr val="dk1"/>
              </a:solidFill>
              <a:latin typeface="Roboto"/>
              <a:ea typeface="Roboto"/>
              <a:cs typeface="Roboto"/>
              <a:sym typeface="Roboto"/>
            </a:endParaRPr>
          </a:p>
          <a:p>
            <a:pPr indent="-317500" lvl="0" marL="457200" marR="0" rtl="0" algn="l">
              <a:lnSpc>
                <a:spcPct val="100000"/>
              </a:lnSpc>
              <a:spcBef>
                <a:spcPts val="0"/>
              </a:spcBef>
              <a:spcAft>
                <a:spcPts val="0"/>
              </a:spcAft>
              <a:buClr>
                <a:schemeClr val="dk1"/>
              </a:buClr>
              <a:buSzPts val="1400"/>
              <a:buFont typeface="Roboto"/>
              <a:buAutoNum type="arabicPeriod"/>
            </a:pPr>
            <a:r>
              <a:rPr b="1" i="0" lang="en" sz="1400" u="none" cap="none" strike="noStrike">
                <a:solidFill>
                  <a:schemeClr val="dk1"/>
                </a:solidFill>
                <a:latin typeface="Roboto"/>
                <a:ea typeface="Roboto"/>
                <a:cs typeface="Roboto"/>
                <a:sym typeface="Roboto"/>
              </a:rPr>
              <a:t>No Recursion Option</a:t>
            </a:r>
            <a:br>
              <a:rPr b="1" i="0" lang="en" sz="1400" u="none" cap="none" strike="noStrike">
                <a:solidFill>
                  <a:schemeClr val="dk1"/>
                </a:solidFill>
                <a:latin typeface="Roboto"/>
                <a:ea typeface="Roboto"/>
                <a:cs typeface="Roboto"/>
                <a:sym typeface="Roboto"/>
              </a:rPr>
            </a:br>
            <a:endParaRPr b="1" i="0" sz="1400" u="none" cap="none" strike="noStrike">
              <a:solidFill>
                <a:schemeClr val="dk1"/>
              </a:solidFill>
              <a:latin typeface="Roboto"/>
              <a:ea typeface="Roboto"/>
              <a:cs typeface="Roboto"/>
              <a:sym typeface="Roboto"/>
            </a:endParaRPr>
          </a:p>
          <a:p>
            <a:pPr indent="-317500" lvl="1" marL="914400" marR="0" rtl="0" algn="l">
              <a:lnSpc>
                <a:spcPct val="100000"/>
              </a:lnSpc>
              <a:spcBef>
                <a:spcPts val="0"/>
              </a:spcBef>
              <a:spcAft>
                <a:spcPts val="0"/>
              </a:spcAft>
              <a:buClr>
                <a:schemeClr val="dk1"/>
              </a:buClr>
              <a:buSzPts val="1400"/>
              <a:buFont typeface="Roboto"/>
              <a:buChar char="○"/>
            </a:pPr>
            <a:r>
              <a:rPr b="0" i="0" lang="en" sz="1400" u="none" cap="none" strike="noStrike">
                <a:solidFill>
                  <a:schemeClr val="dk1"/>
                </a:solidFill>
                <a:latin typeface="Roboto"/>
                <a:ea typeface="Roboto"/>
                <a:cs typeface="Roboto"/>
                <a:sym typeface="Roboto"/>
              </a:rPr>
              <a:t>It lacks a recursive reversal method, which could be educational for understanding alternative approaches.</a:t>
            </a:r>
            <a:endParaRPr b="0" i="0" sz="1400" u="none" cap="none" strike="noStrike">
              <a:solidFill>
                <a:schemeClr val="dk1"/>
              </a:solidFill>
              <a:latin typeface="Roboto"/>
              <a:ea typeface="Roboto"/>
              <a:cs typeface="Roboto"/>
              <a:sym typeface="Roboto"/>
            </a:endParaRPr>
          </a:p>
          <a:p>
            <a:pPr indent="0" lvl="0" marL="0" marR="0" rtl="0" algn="l">
              <a:lnSpc>
                <a:spcPct val="80000"/>
              </a:lnSpc>
              <a:spcBef>
                <a:spcPts val="1200"/>
              </a:spcBef>
              <a:spcAft>
                <a:spcPts val="0"/>
              </a:spcAft>
              <a:buClr>
                <a:srgbClr val="000000"/>
              </a:buClr>
              <a:buSzPts val="1200"/>
              <a:buFont typeface="Arial"/>
              <a:buNone/>
            </a:pPr>
            <a:r>
              <a:t/>
            </a:r>
            <a:endParaRPr b="1" i="0" sz="1400" u="none" cap="none" strike="noStrike">
              <a:solidFill>
                <a:schemeClr val="dk1"/>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7"/>
          <p:cNvSpPr txBox="1"/>
          <p:nvPr>
            <p:ph type="title"/>
          </p:nvPr>
        </p:nvSpPr>
        <p:spPr>
          <a:xfrm>
            <a:off x="220300" y="430247"/>
            <a:ext cx="7886700" cy="5622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800"/>
              </a:spcBef>
              <a:spcAft>
                <a:spcPts val="0"/>
              </a:spcAft>
              <a:buClr>
                <a:schemeClr val="dk1"/>
              </a:buClr>
              <a:buSzPts val="990"/>
              <a:buFont typeface="Arial"/>
              <a:buNone/>
            </a:pPr>
            <a:r>
              <a:rPr b="1" lang="en" sz="1730">
                <a:solidFill>
                  <a:srgbClr val="8181EF"/>
                </a:solidFill>
              </a:rPr>
              <a:t>Real Time Applications of Reverse Linked List</a:t>
            </a:r>
            <a:endParaRPr b="1" sz="1730">
              <a:solidFill>
                <a:srgbClr val="8181EF"/>
              </a:solidFill>
            </a:endParaRPr>
          </a:p>
          <a:p>
            <a:pPr indent="0" lvl="0" marL="0" rtl="0" algn="l">
              <a:lnSpc>
                <a:spcPct val="90000"/>
              </a:lnSpc>
              <a:spcBef>
                <a:spcPts val="400"/>
              </a:spcBef>
              <a:spcAft>
                <a:spcPts val="0"/>
              </a:spcAft>
              <a:buSzPts val="990"/>
              <a:buNone/>
            </a:pPr>
            <a:r>
              <a:t/>
            </a:r>
            <a:endParaRPr b="1" sz="1730">
              <a:solidFill>
                <a:srgbClr val="8181EF"/>
              </a:solidFill>
            </a:endParaRPr>
          </a:p>
        </p:txBody>
      </p:sp>
      <p:sp>
        <p:nvSpPr>
          <p:cNvPr id="253" name="Google Shape;253;p37"/>
          <p:cNvSpPr/>
          <p:nvPr/>
        </p:nvSpPr>
        <p:spPr>
          <a:xfrm>
            <a:off x="643900" y="844700"/>
            <a:ext cx="4396200" cy="3796800"/>
          </a:xfrm>
          <a:prstGeom prst="rightArrowCallout">
            <a:avLst>
              <a:gd fmla="val 25000" name="adj1"/>
              <a:gd fmla="val 25000" name="adj2"/>
              <a:gd fmla="val 25000" name="adj3"/>
              <a:gd fmla="val 64977" name="adj4"/>
            </a:avLst>
          </a:prstGeom>
          <a:solidFill>
            <a:srgbClr val="8181EF"/>
          </a:solidFill>
          <a:ln cap="flat" cmpd="sng" w="38100">
            <a:solidFill>
              <a:srgbClr val="6332DF"/>
            </a:solidFill>
            <a:prstDash val="solid"/>
            <a:round/>
            <a:headEnd len="sm" w="sm" type="none"/>
            <a:tailEnd len="sm" w="sm" type="none"/>
          </a:ln>
        </p:spPr>
        <p:txBody>
          <a:bodyPr anchorCtr="0" anchor="ctr" bIns="91425" lIns="91425" spcFirstLastPara="1" rIns="91425" wrap="square" tIns="91425">
            <a:noAutofit/>
          </a:bodyPr>
          <a:lstStyle/>
          <a:p>
            <a:pPr indent="-317500" lvl="0" marL="457200" marR="0" rtl="0" algn="l">
              <a:lnSpc>
                <a:spcPct val="115000"/>
              </a:lnSpc>
              <a:spcBef>
                <a:spcPts val="1200"/>
              </a:spcBef>
              <a:spcAft>
                <a:spcPts val="0"/>
              </a:spcAft>
              <a:buClr>
                <a:schemeClr val="lt1"/>
              </a:buClr>
              <a:buSzPts val="1400"/>
              <a:buChar char="●"/>
            </a:pPr>
            <a:r>
              <a:t/>
            </a:r>
            <a:endParaRPr b="1">
              <a:solidFill>
                <a:schemeClr val="lt1"/>
              </a:solidFill>
              <a:latin typeface="Roboto"/>
              <a:ea typeface="Roboto"/>
              <a:cs typeface="Roboto"/>
              <a:sym typeface="Roboto"/>
            </a:endParaRPr>
          </a:p>
          <a:p>
            <a:pPr indent="-317500" lvl="0" marL="457200" marR="0" rtl="0" algn="l">
              <a:lnSpc>
                <a:spcPct val="115000"/>
              </a:lnSpc>
              <a:spcBef>
                <a:spcPts val="120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Browser Back Navigation</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Undo Operation in Text Editors</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Music Playlist Previous Navigation</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Train Route Return Systems</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GPS Route Backtracking</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Call History Management</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Social Media Feed Traversal</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Memory Management in Operating Systems</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Char char="●"/>
            </a:pPr>
            <a:r>
              <a:rPr b="1" i="0" lang="en" sz="1400" u="none" cap="none" strike="noStrike">
                <a:solidFill>
                  <a:schemeClr val="lt1"/>
                </a:solidFill>
                <a:latin typeface="Roboto"/>
                <a:ea typeface="Roboto"/>
                <a:cs typeface="Roboto"/>
                <a:sym typeface="Roboto"/>
              </a:rPr>
              <a:t>Data Packet Route Tracing</a:t>
            </a:r>
            <a:endParaRPr b="1" i="0" sz="1400" u="none" cap="none" strike="noStrike">
              <a:solidFill>
                <a:schemeClr val="lt1"/>
              </a:solidFill>
              <a:latin typeface="Roboto"/>
              <a:ea typeface="Roboto"/>
              <a:cs typeface="Roboto"/>
              <a:sym typeface="Roboto"/>
            </a:endParaRPr>
          </a:p>
          <a:p>
            <a:pPr indent="0" lvl="0" marL="457200" marR="0" rtl="0" algn="l">
              <a:lnSpc>
                <a:spcPct val="90000"/>
              </a:lnSpc>
              <a:spcBef>
                <a:spcPts val="1200"/>
              </a:spcBef>
              <a:spcAft>
                <a:spcPts val="0"/>
              </a:spcAft>
              <a:buClr>
                <a:schemeClr val="dk1"/>
              </a:buClr>
              <a:buSzPts val="1100"/>
              <a:buFont typeface="Arial"/>
              <a:buNone/>
            </a:pPr>
            <a:r>
              <a:t/>
            </a:r>
            <a:endParaRPr b="1" i="0" sz="14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Roboto"/>
              <a:ea typeface="Roboto"/>
              <a:cs typeface="Roboto"/>
              <a:sym typeface="Roboto"/>
            </a:endParaRPr>
          </a:p>
        </p:txBody>
      </p:sp>
      <p:sp>
        <p:nvSpPr>
          <p:cNvPr id="254" name="Google Shape;254;p37"/>
          <p:cNvSpPr/>
          <p:nvPr/>
        </p:nvSpPr>
        <p:spPr>
          <a:xfrm>
            <a:off x="3684875" y="844700"/>
            <a:ext cx="4544100" cy="3837600"/>
          </a:xfrm>
          <a:prstGeom prst="leftArrowCallout">
            <a:avLst>
              <a:gd fmla="val 25000" name="adj1"/>
              <a:gd fmla="val 25000" name="adj2"/>
              <a:gd fmla="val 25000" name="adj3"/>
              <a:gd fmla="val 64977" name="adj4"/>
            </a:avLst>
          </a:prstGeom>
          <a:solidFill>
            <a:srgbClr val="807FEC"/>
          </a:solidFill>
          <a:ln cap="flat" cmpd="sng" w="38100">
            <a:solidFill>
              <a:srgbClr val="6332DF"/>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1200"/>
              </a:spcBef>
              <a:spcAft>
                <a:spcPts val="0"/>
              </a:spcAft>
              <a:buClr>
                <a:srgbClr val="000000"/>
              </a:buClr>
              <a:buSzPts val="1400"/>
              <a:buFont typeface="Arial"/>
              <a:buNone/>
            </a:pPr>
            <a:r>
              <a:t/>
            </a:r>
            <a:endParaRPr b="1" i="0" sz="1400" u="none" cap="none" strike="noStrike">
              <a:solidFill>
                <a:schemeClr val="lt1"/>
              </a:solidFill>
              <a:latin typeface="Roboto"/>
              <a:ea typeface="Roboto"/>
              <a:cs typeface="Roboto"/>
              <a:sym typeface="Roboto"/>
            </a:endParaRPr>
          </a:p>
          <a:p>
            <a:pPr indent="0" lvl="0" marL="457200" marR="0" rtl="0" algn="l">
              <a:lnSpc>
                <a:spcPct val="115000"/>
              </a:lnSpc>
              <a:spcBef>
                <a:spcPts val="1200"/>
              </a:spcBef>
              <a:spcAft>
                <a:spcPts val="0"/>
              </a:spcAft>
              <a:buNone/>
            </a:pPr>
            <a:r>
              <a:t/>
            </a:r>
            <a:endParaRPr b="1">
              <a:solidFill>
                <a:schemeClr val="lt1"/>
              </a:solidFill>
              <a:latin typeface="Roboto"/>
              <a:ea typeface="Roboto"/>
              <a:cs typeface="Roboto"/>
              <a:sym typeface="Roboto"/>
            </a:endParaRPr>
          </a:p>
          <a:p>
            <a:pPr indent="-317500" lvl="0" marL="457200" marR="0" rtl="0" algn="l">
              <a:lnSpc>
                <a:spcPct val="115000"/>
              </a:lnSpc>
              <a:spcBef>
                <a:spcPts val="1200"/>
              </a:spcBef>
              <a:spcAft>
                <a:spcPts val="0"/>
              </a:spcAft>
              <a:buClr>
                <a:schemeClr val="lt1"/>
              </a:buClr>
              <a:buSzPts val="1400"/>
              <a:buFont typeface="Roboto"/>
              <a:buChar char="●"/>
            </a:pPr>
            <a:r>
              <a:rPr b="1" i="0" lang="en" sz="1400" u="none" cap="none" strike="noStrike">
                <a:solidFill>
                  <a:schemeClr val="lt1"/>
                </a:solidFill>
                <a:latin typeface="Roboto"/>
                <a:ea typeface="Roboto"/>
                <a:cs typeface="Roboto"/>
                <a:sym typeface="Roboto"/>
              </a:rPr>
              <a:t>Blockchain Transaction Traversal</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Font typeface="Roboto"/>
              <a:buChar char="●"/>
            </a:pPr>
            <a:r>
              <a:rPr b="1" i="0" lang="en" sz="1400" u="none" cap="none" strike="noStrike">
                <a:solidFill>
                  <a:schemeClr val="lt1"/>
                </a:solidFill>
                <a:latin typeface="Roboto"/>
                <a:ea typeface="Roboto"/>
                <a:cs typeface="Roboto"/>
                <a:sym typeface="Roboto"/>
              </a:rPr>
              <a:t>Web Page History Tracking</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Font typeface="Roboto"/>
              <a:buChar char="●"/>
            </a:pPr>
            <a:r>
              <a:rPr b="1" i="0" lang="en" sz="1400" u="none" cap="none" strike="noStrike">
                <a:solidFill>
                  <a:schemeClr val="lt1"/>
                </a:solidFill>
                <a:latin typeface="Roboto"/>
                <a:ea typeface="Roboto"/>
                <a:cs typeface="Roboto"/>
                <a:sym typeface="Roboto"/>
              </a:rPr>
              <a:t>Navigation Stack Management</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Font typeface="Roboto"/>
              <a:buChar char="●"/>
            </a:pPr>
            <a:r>
              <a:rPr b="1" i="0" lang="en" sz="1400" u="none" cap="none" strike="noStrike">
                <a:solidFill>
                  <a:schemeClr val="lt1"/>
                </a:solidFill>
                <a:latin typeface="Roboto"/>
                <a:ea typeface="Roboto"/>
                <a:cs typeface="Roboto"/>
                <a:sym typeface="Roboto"/>
              </a:rPr>
              <a:t>Recent Files Access Systems</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Font typeface="Roboto"/>
              <a:buChar char="●"/>
            </a:pPr>
            <a:r>
              <a:rPr b="1" i="0" lang="en" sz="1400" u="none" cap="none" strike="noStrike">
                <a:solidFill>
                  <a:schemeClr val="lt1"/>
                </a:solidFill>
                <a:latin typeface="Roboto"/>
                <a:ea typeface="Roboto"/>
                <a:cs typeface="Roboto"/>
                <a:sym typeface="Roboto"/>
              </a:rPr>
              <a:t>Compiler Syntax Processing</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Font typeface="Roboto"/>
              <a:buChar char="●"/>
            </a:pPr>
            <a:r>
              <a:rPr b="1" i="0" lang="en" sz="1400" u="none" cap="none" strike="noStrike">
                <a:solidFill>
                  <a:schemeClr val="lt1"/>
                </a:solidFill>
                <a:latin typeface="Roboto"/>
                <a:ea typeface="Roboto"/>
                <a:cs typeface="Roboto"/>
                <a:sym typeface="Roboto"/>
              </a:rPr>
              <a:t>Cache Management Systems</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Font typeface="Roboto"/>
              <a:buChar char="●"/>
            </a:pPr>
            <a:r>
              <a:rPr b="1" i="0" lang="en" sz="1400" u="none" cap="none" strike="noStrike">
                <a:solidFill>
                  <a:schemeClr val="lt1"/>
                </a:solidFill>
                <a:latin typeface="Roboto"/>
                <a:ea typeface="Roboto"/>
                <a:cs typeface="Roboto"/>
                <a:sym typeface="Roboto"/>
              </a:rPr>
              <a:t>Task Scheduling Systems</a:t>
            </a:r>
            <a:endParaRPr b="1" i="0" sz="1400" u="none" cap="none" strike="noStrike">
              <a:solidFill>
                <a:schemeClr val="lt1"/>
              </a:solidFill>
              <a:latin typeface="Roboto"/>
              <a:ea typeface="Roboto"/>
              <a:cs typeface="Roboto"/>
              <a:sym typeface="Roboto"/>
            </a:endParaRPr>
          </a:p>
          <a:p>
            <a:pPr indent="-317500" lvl="0" marL="457200" marR="0" rtl="0" algn="l">
              <a:lnSpc>
                <a:spcPct val="115000"/>
              </a:lnSpc>
              <a:spcBef>
                <a:spcPts val="0"/>
              </a:spcBef>
              <a:spcAft>
                <a:spcPts val="0"/>
              </a:spcAft>
              <a:buClr>
                <a:schemeClr val="lt1"/>
              </a:buClr>
              <a:buSzPts val="1400"/>
              <a:buFont typeface="Roboto"/>
              <a:buChar char="●"/>
            </a:pPr>
            <a:r>
              <a:rPr b="1" i="0" lang="en" sz="1400" u="none" cap="none" strike="noStrike">
                <a:solidFill>
                  <a:schemeClr val="lt1"/>
                </a:solidFill>
                <a:latin typeface="Roboto"/>
                <a:ea typeface="Roboto"/>
                <a:cs typeface="Roboto"/>
                <a:sym typeface="Roboto"/>
              </a:rPr>
              <a:t>Railway Reservation Route Handling</a:t>
            </a:r>
            <a:endParaRPr b="1" i="0" sz="1400" u="none" cap="none" strike="noStrike">
              <a:solidFill>
                <a:schemeClr val="lt1"/>
              </a:solidFill>
              <a:latin typeface="Roboto"/>
              <a:ea typeface="Roboto"/>
              <a:cs typeface="Roboto"/>
              <a:sym typeface="Roboto"/>
            </a:endParaRPr>
          </a:p>
          <a:p>
            <a:pPr indent="0" lvl="0" marL="0" marR="0" rtl="0" algn="l">
              <a:lnSpc>
                <a:spcPct val="90000"/>
              </a:lnSpc>
              <a:spcBef>
                <a:spcPts val="1200"/>
              </a:spcBef>
              <a:spcAft>
                <a:spcPts val="0"/>
              </a:spcAft>
              <a:buClr>
                <a:schemeClr val="dk1"/>
              </a:buClr>
              <a:buSzPts val="1100"/>
              <a:buFont typeface="Arial"/>
              <a:buNone/>
            </a:pPr>
            <a:r>
              <a:t/>
            </a:r>
            <a:endParaRPr b="1" i="0" sz="1400" u="none" cap="none" strike="noStrike">
              <a:solidFill>
                <a:schemeClr val="lt1"/>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chemeClr val="lt1"/>
              </a:solidFill>
              <a:latin typeface="Roboto"/>
              <a:ea typeface="Roboto"/>
              <a:cs typeface="Roboto"/>
              <a:sym typeface="Roboto"/>
            </a:endParaRPr>
          </a:p>
        </p:txBody>
      </p:sp>
      <p:sp>
        <p:nvSpPr>
          <p:cNvPr id="255" name="Google Shape;255;p37"/>
          <p:cNvSpPr/>
          <p:nvPr/>
        </p:nvSpPr>
        <p:spPr>
          <a:xfrm>
            <a:off x="4067100" y="2426600"/>
            <a:ext cx="642900" cy="633000"/>
          </a:xfrm>
          <a:prstGeom prst="diamond">
            <a:avLst/>
          </a:prstGeom>
          <a:solidFill>
            <a:srgbClr val="FFFFFF"/>
          </a:solidFill>
          <a:ln cap="flat" cmpd="sng" w="38100">
            <a:solidFill>
              <a:srgbClr val="8181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256" name="Google Shape;256;p37"/>
          <p:cNvCxnSpPr/>
          <p:nvPr/>
        </p:nvCxnSpPr>
        <p:spPr>
          <a:xfrm>
            <a:off x="4353700" y="2069750"/>
            <a:ext cx="703800" cy="695100"/>
          </a:xfrm>
          <a:prstGeom prst="straightConnector1">
            <a:avLst/>
          </a:prstGeom>
          <a:noFill/>
          <a:ln cap="flat" cmpd="sng" w="38100">
            <a:solidFill>
              <a:srgbClr val="6332DF"/>
            </a:solidFill>
            <a:prstDash val="solid"/>
            <a:round/>
            <a:headEnd len="med" w="med" type="none"/>
            <a:tailEnd len="med" w="med" type="none"/>
          </a:ln>
        </p:spPr>
      </p:cxnSp>
      <p:cxnSp>
        <p:nvCxnSpPr>
          <p:cNvPr id="257" name="Google Shape;257;p37"/>
          <p:cNvCxnSpPr/>
          <p:nvPr/>
        </p:nvCxnSpPr>
        <p:spPr>
          <a:xfrm flipH="1" rot="10800000">
            <a:off x="4353700" y="2756125"/>
            <a:ext cx="703800" cy="686400"/>
          </a:xfrm>
          <a:prstGeom prst="straightConnector1">
            <a:avLst/>
          </a:prstGeom>
          <a:noFill/>
          <a:ln cap="flat" cmpd="sng" w="38100">
            <a:solidFill>
              <a:srgbClr val="6332DF"/>
            </a:solidFill>
            <a:prstDash val="solid"/>
            <a:round/>
            <a:headEnd len="med" w="med" type="none"/>
            <a:tailEnd len="med" w="med" type="none"/>
          </a:ln>
        </p:spPr>
      </p:cxnSp>
      <p:cxnSp>
        <p:nvCxnSpPr>
          <p:cNvPr id="258" name="Google Shape;258;p37"/>
          <p:cNvCxnSpPr>
            <a:stCxn id="254" idx="1"/>
          </p:cNvCxnSpPr>
          <p:nvPr/>
        </p:nvCxnSpPr>
        <p:spPr>
          <a:xfrm flipH="1" rot="10800000">
            <a:off x="3684875" y="2090300"/>
            <a:ext cx="666600" cy="673200"/>
          </a:xfrm>
          <a:prstGeom prst="straightConnector1">
            <a:avLst/>
          </a:prstGeom>
          <a:noFill/>
          <a:ln cap="flat" cmpd="sng" w="38100">
            <a:solidFill>
              <a:srgbClr val="6332DF"/>
            </a:solidFill>
            <a:prstDash val="solid"/>
            <a:round/>
            <a:headEnd len="med" w="med" type="none"/>
            <a:tailEnd len="med" w="med" type="none"/>
          </a:ln>
        </p:spPr>
      </p:cxnSp>
      <p:cxnSp>
        <p:nvCxnSpPr>
          <p:cNvPr id="259" name="Google Shape;259;p37"/>
          <p:cNvCxnSpPr>
            <a:stCxn id="254" idx="1"/>
          </p:cNvCxnSpPr>
          <p:nvPr/>
        </p:nvCxnSpPr>
        <p:spPr>
          <a:xfrm>
            <a:off x="3684875" y="2763500"/>
            <a:ext cx="660300" cy="678900"/>
          </a:xfrm>
          <a:prstGeom prst="straightConnector1">
            <a:avLst/>
          </a:prstGeom>
          <a:noFill/>
          <a:ln cap="flat" cmpd="sng" w="38100">
            <a:solidFill>
              <a:srgbClr val="6332DF"/>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8"/>
          <p:cNvSpPr txBox="1"/>
          <p:nvPr>
            <p:ph type="title"/>
          </p:nvPr>
        </p:nvSpPr>
        <p:spPr>
          <a:xfrm>
            <a:off x="272425" y="369424"/>
            <a:ext cx="7886700" cy="7794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115000"/>
              </a:lnSpc>
              <a:spcBef>
                <a:spcPts val="0"/>
              </a:spcBef>
              <a:spcAft>
                <a:spcPts val="0"/>
              </a:spcAft>
              <a:buClr>
                <a:schemeClr val="dk1"/>
              </a:buClr>
              <a:buSzPct val="100000"/>
              <a:buFont typeface="Arial"/>
              <a:buNone/>
            </a:pPr>
            <a:r>
              <a:rPr b="1" lang="en" sz="2800">
                <a:solidFill>
                  <a:srgbClr val="8181EF"/>
                </a:solidFill>
              </a:rPr>
              <a:t>Interview questions</a:t>
            </a:r>
            <a:endParaRPr b="1" sz="2800"/>
          </a:p>
          <a:p>
            <a:pPr indent="0" lvl="0" marL="0" rtl="0" algn="l">
              <a:lnSpc>
                <a:spcPct val="90000"/>
              </a:lnSpc>
              <a:spcBef>
                <a:spcPts val="0"/>
              </a:spcBef>
              <a:spcAft>
                <a:spcPts val="0"/>
              </a:spcAft>
              <a:buSzPct val="47138"/>
              <a:buNone/>
            </a:pPr>
            <a:r>
              <a:t/>
            </a:r>
            <a:endParaRPr/>
          </a:p>
        </p:txBody>
      </p:sp>
      <p:sp>
        <p:nvSpPr>
          <p:cNvPr id="265" name="Google Shape;265;p38"/>
          <p:cNvSpPr txBox="1"/>
          <p:nvPr>
            <p:ph idx="1" type="body"/>
          </p:nvPr>
        </p:nvSpPr>
        <p:spPr>
          <a:xfrm>
            <a:off x="194700" y="1004323"/>
            <a:ext cx="7886700" cy="21024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SzPts val="1400"/>
              <a:buNone/>
            </a:pPr>
            <a:r>
              <a:rPr b="1" lang="en" sz="1400"/>
              <a:t>Question                                                                                                                       </a:t>
            </a:r>
            <a:br>
              <a:rPr b="1" lang="en" sz="1400"/>
            </a:br>
            <a:r>
              <a:rPr lang="en" sz="1400"/>
              <a:t> What is the major disadvantage of recursive linked list reversal?</a:t>
            </a:r>
            <a:endParaRPr sz="1400"/>
          </a:p>
          <a:p>
            <a:pPr indent="0" lvl="0" marL="0" rtl="0" algn="l">
              <a:lnSpc>
                <a:spcPct val="115000"/>
              </a:lnSpc>
              <a:spcBef>
                <a:spcPts val="1200"/>
              </a:spcBef>
              <a:spcAft>
                <a:spcPts val="0"/>
              </a:spcAft>
              <a:buClr>
                <a:schemeClr val="dk1"/>
              </a:buClr>
              <a:buSzPts val="1100"/>
              <a:buFont typeface="Arial"/>
              <a:buNone/>
            </a:pPr>
            <a:r>
              <a:rPr lang="en" sz="1400"/>
              <a:t>A) Incorrect reversal</a:t>
            </a:r>
            <a:br>
              <a:rPr lang="en" sz="1400"/>
            </a:br>
            <a:r>
              <a:rPr lang="en" sz="1400"/>
              <a:t> B) Extra stack space usage</a:t>
            </a:r>
            <a:br>
              <a:rPr lang="en" sz="1400"/>
            </a:br>
            <a:r>
              <a:rPr lang="en" sz="1400"/>
              <a:t> C) Infinite loop</a:t>
            </a:r>
            <a:br>
              <a:rPr lang="en" sz="1400"/>
            </a:br>
            <a:r>
              <a:rPr lang="en" sz="1400"/>
              <a:t> D) Data corruption</a:t>
            </a:r>
            <a:endParaRPr sz="1400"/>
          </a:p>
          <a:p>
            <a:pPr indent="0" lvl="0" marL="0" rtl="0" algn="l">
              <a:lnSpc>
                <a:spcPct val="90000"/>
              </a:lnSpc>
              <a:spcBef>
                <a:spcPts val="1200"/>
              </a:spcBef>
              <a:spcAft>
                <a:spcPts val="0"/>
              </a:spcAft>
              <a:buSzPts val="1400"/>
              <a:buNone/>
            </a:pPr>
            <a:r>
              <a:t/>
            </a:r>
            <a:endParaRPr b="1" sz="1400"/>
          </a:p>
        </p:txBody>
      </p:sp>
      <p:sp>
        <p:nvSpPr>
          <p:cNvPr id="266" name="Google Shape;266;p38"/>
          <p:cNvSpPr txBox="1"/>
          <p:nvPr/>
        </p:nvSpPr>
        <p:spPr>
          <a:xfrm>
            <a:off x="272425" y="3275500"/>
            <a:ext cx="83193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Answer:</a:t>
            </a:r>
            <a:r>
              <a:rPr lang="en">
                <a:solidFill>
                  <a:schemeClr val="dk1"/>
                </a:solidFill>
                <a:latin typeface="Roboto"/>
                <a:ea typeface="Roboto"/>
                <a:cs typeface="Roboto"/>
                <a:sym typeface="Roboto"/>
              </a:rPr>
              <a:t> B) Extra stack space usage</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Explanation: </a:t>
            </a:r>
            <a:r>
              <a:rPr lang="en">
                <a:solidFill>
                  <a:schemeClr val="dk1"/>
                </a:solidFill>
                <a:latin typeface="Roboto"/>
                <a:ea typeface="Roboto"/>
                <a:cs typeface="Roboto"/>
                <a:sym typeface="Roboto"/>
              </a:rPr>
              <a:t>Each recursive call consumes stack memory.</a:t>
            </a:r>
            <a:endParaRPr>
              <a:solidFill>
                <a:schemeClr val="dk1"/>
              </a:solidFill>
              <a:latin typeface="Roboto"/>
              <a:ea typeface="Roboto"/>
              <a:cs typeface="Roboto"/>
              <a:sym typeface="Roboto"/>
            </a:endParaRPr>
          </a:p>
        </p:txBody>
      </p:sp>
      <p:sp>
        <p:nvSpPr>
          <p:cNvPr id="267" name="Google Shape;267;p38"/>
          <p:cNvSpPr txBox="1"/>
          <p:nvPr/>
        </p:nvSpPr>
        <p:spPr>
          <a:xfrm>
            <a:off x="5926300" y="1096650"/>
            <a:ext cx="2155200" cy="460500"/>
          </a:xfrm>
          <a:prstGeom prst="rect">
            <a:avLst/>
          </a:prstGeom>
          <a:noFill/>
          <a:ln cap="flat" cmpd="sng" w="38100">
            <a:solidFill>
              <a:srgbClr val="807F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400"/>
              <a:buFont typeface="Arial"/>
              <a:buNone/>
            </a:pPr>
            <a:r>
              <a:rPr b="1" lang="en">
                <a:solidFill>
                  <a:schemeClr val="dk1"/>
                </a:solidFill>
                <a:latin typeface="Roboto"/>
                <a:ea typeface="Roboto"/>
                <a:cs typeface="Roboto"/>
                <a:sym typeface="Roboto"/>
              </a:rPr>
              <a:t>Asked in Google 2025</a:t>
            </a:r>
            <a:endParaRPr sz="21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39"/>
          <p:cNvSpPr txBox="1"/>
          <p:nvPr>
            <p:ph type="title"/>
          </p:nvPr>
        </p:nvSpPr>
        <p:spPr>
          <a:xfrm>
            <a:off x="168175" y="375023"/>
            <a:ext cx="7886700" cy="6696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115000"/>
              </a:lnSpc>
              <a:spcBef>
                <a:spcPts val="0"/>
              </a:spcBef>
              <a:spcAft>
                <a:spcPts val="0"/>
              </a:spcAft>
              <a:buSzPct val="55556"/>
              <a:buNone/>
            </a:pPr>
            <a:r>
              <a:t/>
            </a:r>
            <a:endParaRPr b="1" sz="2800">
              <a:solidFill>
                <a:srgbClr val="8181EF"/>
              </a:solidFill>
            </a:endParaRPr>
          </a:p>
          <a:p>
            <a:pPr indent="0" lvl="0" marL="0" rtl="0" algn="l">
              <a:lnSpc>
                <a:spcPct val="115000"/>
              </a:lnSpc>
              <a:spcBef>
                <a:spcPts val="0"/>
              </a:spcBef>
              <a:spcAft>
                <a:spcPts val="0"/>
              </a:spcAft>
              <a:buSzPct val="55556"/>
              <a:buNone/>
            </a:pPr>
            <a:r>
              <a:t/>
            </a:r>
            <a:endParaRPr b="1" sz="2800">
              <a:solidFill>
                <a:srgbClr val="8181EF"/>
              </a:solidFill>
            </a:endParaRPr>
          </a:p>
          <a:p>
            <a:pPr indent="0" lvl="0" marL="0" rtl="0" algn="l">
              <a:lnSpc>
                <a:spcPct val="115000"/>
              </a:lnSpc>
              <a:spcBef>
                <a:spcPts val="0"/>
              </a:spcBef>
              <a:spcAft>
                <a:spcPts val="0"/>
              </a:spcAft>
              <a:buClr>
                <a:schemeClr val="dk1"/>
              </a:buClr>
              <a:buSzPct val="39286"/>
              <a:buFont typeface="Arial"/>
              <a:buNone/>
            </a:pPr>
            <a:r>
              <a:rPr b="1" lang="en" sz="2800">
                <a:solidFill>
                  <a:srgbClr val="8181EF"/>
                </a:solidFill>
              </a:rPr>
              <a:t>Interview questions</a:t>
            </a:r>
            <a:endParaRPr b="1" sz="2800"/>
          </a:p>
          <a:p>
            <a:pPr indent="0" lvl="0" marL="0" rtl="0" algn="l">
              <a:lnSpc>
                <a:spcPct val="90000"/>
              </a:lnSpc>
              <a:spcBef>
                <a:spcPts val="0"/>
              </a:spcBef>
              <a:spcAft>
                <a:spcPts val="0"/>
              </a:spcAft>
              <a:buClr>
                <a:schemeClr val="dk1"/>
              </a:buClr>
              <a:buSzPct val="33333"/>
              <a:buFont typeface="Arial"/>
              <a:buNone/>
            </a:pPr>
            <a:r>
              <a:t/>
            </a:r>
            <a:endParaRPr/>
          </a:p>
          <a:p>
            <a:pPr indent="0" lvl="0" marL="0" rtl="0" algn="l">
              <a:lnSpc>
                <a:spcPct val="90000"/>
              </a:lnSpc>
              <a:spcBef>
                <a:spcPts val="0"/>
              </a:spcBef>
              <a:spcAft>
                <a:spcPts val="0"/>
              </a:spcAft>
              <a:buSzPct val="47138"/>
              <a:buNone/>
            </a:pPr>
            <a:r>
              <a:t/>
            </a:r>
            <a:endParaRPr/>
          </a:p>
        </p:txBody>
      </p:sp>
      <p:sp>
        <p:nvSpPr>
          <p:cNvPr id="273" name="Google Shape;273;p39"/>
          <p:cNvSpPr txBox="1"/>
          <p:nvPr>
            <p:ph idx="1" type="body"/>
          </p:nvPr>
        </p:nvSpPr>
        <p:spPr>
          <a:xfrm>
            <a:off x="498325" y="1134623"/>
            <a:ext cx="7886700" cy="2137200"/>
          </a:xfrm>
          <a:prstGeom prst="rect">
            <a:avLst/>
          </a:prstGeom>
          <a:noFill/>
          <a:ln>
            <a:noFill/>
          </a:ln>
        </p:spPr>
        <p:txBody>
          <a:bodyPr anchorCtr="0" anchor="t" bIns="34275" lIns="68575" spcFirstLastPara="1" rIns="68575" wrap="square" tIns="34275">
            <a:normAutofit lnSpcReduction="20000"/>
          </a:bodyPr>
          <a:lstStyle/>
          <a:p>
            <a:pPr indent="0" lvl="0" marL="0" rtl="0" algn="l">
              <a:lnSpc>
                <a:spcPct val="115000"/>
              </a:lnSpc>
              <a:spcBef>
                <a:spcPts val="1200"/>
              </a:spcBef>
              <a:spcAft>
                <a:spcPts val="0"/>
              </a:spcAft>
              <a:buSzPts val="1400"/>
              <a:buNone/>
            </a:pPr>
            <a:r>
              <a:rPr b="1" lang="en" sz="1400"/>
              <a:t>Question:                                                                                                                </a:t>
            </a:r>
            <a:br>
              <a:rPr b="1" lang="en" sz="1400">
                <a:highlight>
                  <a:srgbClr val="ABC856"/>
                </a:highlight>
              </a:rPr>
            </a:br>
            <a:r>
              <a:rPr lang="en" sz="1400"/>
              <a:t> </a:t>
            </a:r>
            <a:endParaRPr sz="1400"/>
          </a:p>
          <a:p>
            <a:pPr indent="0" lvl="0" marL="0" rtl="0" algn="l">
              <a:lnSpc>
                <a:spcPct val="115000"/>
              </a:lnSpc>
              <a:spcBef>
                <a:spcPts val="1200"/>
              </a:spcBef>
              <a:spcAft>
                <a:spcPts val="0"/>
              </a:spcAft>
              <a:buClr>
                <a:schemeClr val="dk1"/>
              </a:buClr>
              <a:buSzPts val="1100"/>
              <a:buFont typeface="Arial"/>
              <a:buNone/>
            </a:pPr>
            <a:r>
              <a:rPr lang="en" sz="1400"/>
              <a:t>What happens when a linked list with one node is reversed?</a:t>
            </a:r>
            <a:endParaRPr sz="1400"/>
          </a:p>
          <a:p>
            <a:pPr indent="0" lvl="0" marL="0" rtl="0" algn="l">
              <a:lnSpc>
                <a:spcPct val="115000"/>
              </a:lnSpc>
              <a:spcBef>
                <a:spcPts val="1200"/>
              </a:spcBef>
              <a:spcAft>
                <a:spcPts val="0"/>
              </a:spcAft>
              <a:buClr>
                <a:schemeClr val="dk1"/>
              </a:buClr>
              <a:buSzPts val="1100"/>
              <a:buFont typeface="Arial"/>
              <a:buNone/>
            </a:pPr>
            <a:r>
              <a:rPr lang="en" sz="1400"/>
              <a:t>A) Node becomes null</a:t>
            </a:r>
            <a:br>
              <a:rPr lang="en" sz="1400"/>
            </a:br>
            <a:r>
              <a:rPr lang="en" sz="1400"/>
              <a:t> B) Runtime error occurs</a:t>
            </a:r>
            <a:br>
              <a:rPr lang="en" sz="1400"/>
            </a:br>
            <a:r>
              <a:rPr lang="en" sz="1400"/>
              <a:t> C) List remains unchanged</a:t>
            </a:r>
            <a:br>
              <a:rPr lang="en" sz="1400"/>
            </a:br>
            <a:r>
              <a:rPr lang="en" sz="1400"/>
              <a:t> D) New node is created</a:t>
            </a:r>
            <a:endParaRPr sz="1400"/>
          </a:p>
          <a:p>
            <a:pPr indent="0" lvl="0" marL="0" rtl="0" algn="l">
              <a:lnSpc>
                <a:spcPct val="90000"/>
              </a:lnSpc>
              <a:spcBef>
                <a:spcPts val="1200"/>
              </a:spcBef>
              <a:spcAft>
                <a:spcPts val="0"/>
              </a:spcAft>
              <a:buSzPts val="1400"/>
              <a:buNone/>
            </a:pPr>
            <a:r>
              <a:t/>
            </a:r>
            <a:endParaRPr sz="1400"/>
          </a:p>
        </p:txBody>
      </p:sp>
      <p:sp>
        <p:nvSpPr>
          <p:cNvPr id="274" name="Google Shape;274;p39"/>
          <p:cNvSpPr txBox="1"/>
          <p:nvPr/>
        </p:nvSpPr>
        <p:spPr>
          <a:xfrm>
            <a:off x="498325" y="3449500"/>
            <a:ext cx="73974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Answer:</a:t>
            </a:r>
            <a:r>
              <a:rPr lang="en">
                <a:solidFill>
                  <a:schemeClr val="dk1"/>
                </a:solidFill>
                <a:latin typeface="Roboto"/>
                <a:ea typeface="Roboto"/>
                <a:cs typeface="Roboto"/>
                <a:sym typeface="Roboto"/>
              </a:rPr>
              <a:t> C) List remains unchanged</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Explanation: </a:t>
            </a:r>
            <a:r>
              <a:rPr lang="en">
                <a:solidFill>
                  <a:schemeClr val="dk1"/>
                </a:solidFill>
                <a:latin typeface="Roboto"/>
                <a:ea typeface="Roboto"/>
                <a:cs typeface="Roboto"/>
                <a:sym typeface="Roboto"/>
              </a:rPr>
              <a:t> Single-node list reversal does not change structure.</a:t>
            </a:r>
            <a:endParaRPr>
              <a:solidFill>
                <a:schemeClr val="dk1"/>
              </a:solidFill>
              <a:latin typeface="Roboto"/>
              <a:ea typeface="Roboto"/>
              <a:cs typeface="Roboto"/>
              <a:sym typeface="Roboto"/>
            </a:endParaRPr>
          </a:p>
        </p:txBody>
      </p:sp>
      <p:sp>
        <p:nvSpPr>
          <p:cNvPr id="275" name="Google Shape;275;p39"/>
          <p:cNvSpPr txBox="1"/>
          <p:nvPr/>
        </p:nvSpPr>
        <p:spPr>
          <a:xfrm>
            <a:off x="6273950" y="1134625"/>
            <a:ext cx="2346000" cy="434400"/>
          </a:xfrm>
          <a:prstGeom prst="rect">
            <a:avLst/>
          </a:prstGeom>
          <a:noFill/>
          <a:ln cap="flat" cmpd="sng" w="38100">
            <a:solidFill>
              <a:srgbClr val="807F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400"/>
              <a:buFont typeface="Arial"/>
              <a:buNone/>
            </a:pPr>
            <a:r>
              <a:rPr b="1" lang="en">
                <a:solidFill>
                  <a:schemeClr val="dk1"/>
                </a:solidFill>
                <a:latin typeface="Roboto"/>
                <a:ea typeface="Roboto"/>
                <a:cs typeface="Roboto"/>
                <a:sym typeface="Roboto"/>
              </a:rPr>
              <a:t>Asked in Microsoft 2024</a:t>
            </a:r>
            <a:endParaRPr sz="21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40"/>
          <p:cNvSpPr txBox="1"/>
          <p:nvPr>
            <p:ph type="title"/>
          </p:nvPr>
        </p:nvSpPr>
        <p:spPr>
          <a:xfrm>
            <a:off x="133425" y="453198"/>
            <a:ext cx="7886700" cy="6870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115000"/>
              </a:lnSpc>
              <a:spcBef>
                <a:spcPts val="0"/>
              </a:spcBef>
              <a:spcAft>
                <a:spcPts val="0"/>
              </a:spcAft>
              <a:buClr>
                <a:schemeClr val="dk1"/>
              </a:buClr>
              <a:buSzPct val="39286"/>
              <a:buFont typeface="Arial"/>
              <a:buNone/>
            </a:pPr>
            <a:r>
              <a:t/>
            </a:r>
            <a:endParaRPr b="1" sz="2800">
              <a:solidFill>
                <a:srgbClr val="8181EF"/>
              </a:solidFill>
            </a:endParaRPr>
          </a:p>
          <a:p>
            <a:pPr indent="0" lvl="0" marL="0" rtl="0" algn="l">
              <a:lnSpc>
                <a:spcPct val="115000"/>
              </a:lnSpc>
              <a:spcBef>
                <a:spcPts val="0"/>
              </a:spcBef>
              <a:spcAft>
                <a:spcPts val="0"/>
              </a:spcAft>
              <a:buClr>
                <a:schemeClr val="dk1"/>
              </a:buClr>
              <a:buSzPct val="39286"/>
              <a:buFont typeface="Arial"/>
              <a:buNone/>
            </a:pPr>
            <a:r>
              <a:t/>
            </a:r>
            <a:endParaRPr b="1" sz="2800">
              <a:solidFill>
                <a:srgbClr val="8181EF"/>
              </a:solidFill>
            </a:endParaRPr>
          </a:p>
          <a:p>
            <a:pPr indent="0" lvl="0" marL="0" rtl="0" algn="l">
              <a:lnSpc>
                <a:spcPct val="115000"/>
              </a:lnSpc>
              <a:spcBef>
                <a:spcPts val="0"/>
              </a:spcBef>
              <a:spcAft>
                <a:spcPts val="0"/>
              </a:spcAft>
              <a:buClr>
                <a:schemeClr val="dk1"/>
              </a:buClr>
              <a:buSzPct val="39286"/>
              <a:buFont typeface="Arial"/>
              <a:buNone/>
            </a:pPr>
            <a:r>
              <a:rPr b="1" lang="en" sz="2800">
                <a:solidFill>
                  <a:srgbClr val="8181EF"/>
                </a:solidFill>
              </a:rPr>
              <a:t>Interview questions</a:t>
            </a:r>
            <a:endParaRPr b="1" sz="2800"/>
          </a:p>
          <a:p>
            <a:pPr indent="0" lvl="0" marL="0" rtl="0" algn="l">
              <a:lnSpc>
                <a:spcPct val="90000"/>
              </a:lnSpc>
              <a:spcBef>
                <a:spcPts val="0"/>
              </a:spcBef>
              <a:spcAft>
                <a:spcPts val="0"/>
              </a:spcAft>
              <a:buClr>
                <a:schemeClr val="dk1"/>
              </a:buClr>
              <a:buSzPct val="33333"/>
              <a:buFont typeface="Arial"/>
              <a:buNone/>
            </a:pPr>
            <a:r>
              <a:t/>
            </a:r>
            <a:endParaRPr/>
          </a:p>
          <a:p>
            <a:pPr indent="0" lvl="0" marL="0" rtl="0" algn="l">
              <a:lnSpc>
                <a:spcPct val="90000"/>
              </a:lnSpc>
              <a:spcBef>
                <a:spcPts val="0"/>
              </a:spcBef>
              <a:spcAft>
                <a:spcPts val="0"/>
              </a:spcAft>
              <a:buClr>
                <a:schemeClr val="dk1"/>
              </a:buClr>
              <a:buSzPct val="33333"/>
              <a:buFont typeface="Arial"/>
              <a:buNone/>
            </a:pPr>
            <a:r>
              <a:t/>
            </a:r>
            <a:endParaRPr/>
          </a:p>
          <a:p>
            <a:pPr indent="0" lvl="0" marL="0" rtl="0" algn="l">
              <a:lnSpc>
                <a:spcPct val="90000"/>
              </a:lnSpc>
              <a:spcBef>
                <a:spcPts val="0"/>
              </a:spcBef>
              <a:spcAft>
                <a:spcPts val="0"/>
              </a:spcAft>
              <a:buSzPct val="47138"/>
              <a:buNone/>
            </a:pPr>
            <a:r>
              <a:t/>
            </a:r>
            <a:endParaRPr/>
          </a:p>
        </p:txBody>
      </p:sp>
      <p:sp>
        <p:nvSpPr>
          <p:cNvPr id="281" name="Google Shape;281;p40"/>
          <p:cNvSpPr txBox="1"/>
          <p:nvPr>
            <p:ph idx="1" type="body"/>
          </p:nvPr>
        </p:nvSpPr>
        <p:spPr>
          <a:xfrm>
            <a:off x="133425" y="1282323"/>
            <a:ext cx="7886700" cy="2157300"/>
          </a:xfrm>
          <a:prstGeom prst="rect">
            <a:avLst/>
          </a:prstGeom>
          <a:noFill/>
          <a:ln>
            <a:noFill/>
          </a:ln>
        </p:spPr>
        <p:txBody>
          <a:bodyPr anchorCtr="0" anchor="t" bIns="34275" lIns="68575" spcFirstLastPara="1" rIns="68575" wrap="square" tIns="34275">
            <a:noAutofit/>
          </a:bodyPr>
          <a:lstStyle/>
          <a:p>
            <a:pPr indent="0" lvl="0" marL="0" rtl="0" algn="l">
              <a:lnSpc>
                <a:spcPct val="115000"/>
              </a:lnSpc>
              <a:spcBef>
                <a:spcPts val="1200"/>
              </a:spcBef>
              <a:spcAft>
                <a:spcPts val="0"/>
              </a:spcAft>
              <a:buSzPts val="1400"/>
              <a:buNone/>
            </a:pPr>
            <a:r>
              <a:rPr b="1" lang="en" sz="1400"/>
              <a:t>Question:                                                                                                                           </a:t>
            </a:r>
            <a:br>
              <a:rPr b="1" lang="en" sz="1400"/>
            </a:br>
            <a:r>
              <a:rPr lang="en" sz="1400"/>
              <a:t> Which traversal is possible in a singly linked list?</a:t>
            </a:r>
            <a:endParaRPr sz="1400"/>
          </a:p>
          <a:p>
            <a:pPr indent="0" lvl="0" marL="0" rtl="0" algn="l">
              <a:lnSpc>
                <a:spcPct val="115000"/>
              </a:lnSpc>
              <a:spcBef>
                <a:spcPts val="1200"/>
              </a:spcBef>
              <a:spcAft>
                <a:spcPts val="0"/>
              </a:spcAft>
              <a:buClr>
                <a:schemeClr val="dk1"/>
              </a:buClr>
              <a:buSzPts val="1100"/>
              <a:buFont typeface="Arial"/>
              <a:buNone/>
            </a:pPr>
            <a:r>
              <a:rPr lang="en" sz="1400"/>
              <a:t>A) Forward only</a:t>
            </a:r>
            <a:br>
              <a:rPr lang="en" sz="1400"/>
            </a:br>
            <a:r>
              <a:rPr lang="en" sz="1400"/>
              <a:t> B) Backward only</a:t>
            </a:r>
            <a:br>
              <a:rPr lang="en" sz="1400"/>
            </a:br>
            <a:r>
              <a:rPr lang="en" sz="1400"/>
              <a:t> C) Both forward and backward</a:t>
            </a:r>
            <a:br>
              <a:rPr lang="en" sz="1400"/>
            </a:br>
            <a:r>
              <a:rPr lang="en" sz="1400"/>
              <a:t> D) Circular traversal only</a:t>
            </a:r>
            <a:endParaRPr sz="1400"/>
          </a:p>
          <a:p>
            <a:pPr indent="0" lvl="0" marL="0" rtl="0" algn="l">
              <a:spcBef>
                <a:spcPts val="1200"/>
              </a:spcBef>
              <a:spcAft>
                <a:spcPts val="0"/>
              </a:spcAft>
              <a:buClr>
                <a:schemeClr val="dk1"/>
              </a:buClr>
              <a:buSzPts val="1400"/>
              <a:buFont typeface="Arial"/>
              <a:buNone/>
            </a:pPr>
            <a:r>
              <a:t/>
            </a:r>
            <a:endParaRPr sz="1400"/>
          </a:p>
          <a:p>
            <a:pPr indent="0" lvl="0" marL="0" rtl="0" algn="l">
              <a:lnSpc>
                <a:spcPct val="90000"/>
              </a:lnSpc>
              <a:spcBef>
                <a:spcPts val="1200"/>
              </a:spcBef>
              <a:spcAft>
                <a:spcPts val="0"/>
              </a:spcAft>
              <a:buSzPts val="1400"/>
              <a:buNone/>
            </a:pPr>
            <a:r>
              <a:t/>
            </a:r>
            <a:endParaRPr sz="1400"/>
          </a:p>
        </p:txBody>
      </p:sp>
      <p:sp>
        <p:nvSpPr>
          <p:cNvPr id="282" name="Google Shape;282;p40"/>
          <p:cNvSpPr txBox="1"/>
          <p:nvPr/>
        </p:nvSpPr>
        <p:spPr>
          <a:xfrm>
            <a:off x="253125" y="3581750"/>
            <a:ext cx="79542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Answer:</a:t>
            </a:r>
            <a:r>
              <a:rPr lang="en">
                <a:solidFill>
                  <a:schemeClr val="dk1"/>
                </a:solidFill>
                <a:latin typeface="Roboto"/>
                <a:ea typeface="Roboto"/>
                <a:cs typeface="Roboto"/>
                <a:sym typeface="Roboto"/>
              </a:rPr>
              <a:t> A) Forward only</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Explanation: </a:t>
            </a:r>
            <a:r>
              <a:rPr lang="en">
                <a:solidFill>
                  <a:schemeClr val="dk1"/>
                </a:solidFill>
                <a:latin typeface="Roboto"/>
                <a:ea typeface="Roboto"/>
                <a:cs typeface="Roboto"/>
                <a:sym typeface="Roboto"/>
              </a:rPr>
              <a:t>Each node stores only the next pointer.</a:t>
            </a:r>
            <a:endParaRPr>
              <a:solidFill>
                <a:schemeClr val="dk1"/>
              </a:solidFill>
              <a:latin typeface="Roboto"/>
              <a:ea typeface="Roboto"/>
              <a:cs typeface="Roboto"/>
              <a:sym typeface="Roboto"/>
            </a:endParaRPr>
          </a:p>
        </p:txBody>
      </p:sp>
      <p:sp>
        <p:nvSpPr>
          <p:cNvPr id="283" name="Google Shape;283;p40"/>
          <p:cNvSpPr txBox="1"/>
          <p:nvPr/>
        </p:nvSpPr>
        <p:spPr>
          <a:xfrm>
            <a:off x="6360825" y="1140200"/>
            <a:ext cx="2102700" cy="451800"/>
          </a:xfrm>
          <a:prstGeom prst="rect">
            <a:avLst/>
          </a:prstGeom>
          <a:noFill/>
          <a:ln cap="flat" cmpd="sng" w="38100">
            <a:solidFill>
              <a:srgbClr val="807F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400"/>
              <a:buFont typeface="Arial"/>
              <a:buNone/>
            </a:pPr>
            <a:r>
              <a:rPr b="1" lang="en">
                <a:solidFill>
                  <a:schemeClr val="dk1"/>
                </a:solidFill>
                <a:latin typeface="Roboto"/>
                <a:ea typeface="Roboto"/>
                <a:cs typeface="Roboto"/>
                <a:sym typeface="Roboto"/>
              </a:rPr>
              <a:t>Asked in IBM 2024</a:t>
            </a:r>
            <a:endParaRPr b="1">
              <a:solidFill>
                <a:schemeClr val="dk1"/>
              </a:solidFill>
              <a:latin typeface="Roboto"/>
              <a:ea typeface="Roboto"/>
              <a:cs typeface="Roboto"/>
              <a:sym typeface="Roboto"/>
            </a:endParaRPr>
          </a:p>
          <a:p>
            <a:pPr indent="0" lvl="0" marL="0" rtl="0" algn="l">
              <a:spcBef>
                <a:spcPts val="0"/>
              </a:spcBef>
              <a:spcAft>
                <a:spcPts val="0"/>
              </a:spcAft>
              <a:buNone/>
            </a:pPr>
            <a:r>
              <a:t/>
            </a:r>
            <a:endParaRPr sz="21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1"/>
          <p:cNvSpPr txBox="1"/>
          <p:nvPr>
            <p:ph type="title"/>
          </p:nvPr>
        </p:nvSpPr>
        <p:spPr>
          <a:xfrm>
            <a:off x="211600" y="471099"/>
            <a:ext cx="7886700" cy="785100"/>
          </a:xfrm>
          <a:prstGeom prst="rect">
            <a:avLst/>
          </a:prstGeom>
        </p:spPr>
        <p:txBody>
          <a:bodyPr anchorCtr="0" anchor="ctr" bIns="34275" lIns="68575" spcFirstLastPara="1" rIns="68575" wrap="square" tIns="34275">
            <a:normAutofit/>
          </a:bodyPr>
          <a:lstStyle/>
          <a:p>
            <a:pPr indent="0" lvl="0" marL="0" rtl="0" algn="l">
              <a:lnSpc>
                <a:spcPct val="115000"/>
              </a:lnSpc>
              <a:spcBef>
                <a:spcPts val="0"/>
              </a:spcBef>
              <a:spcAft>
                <a:spcPts val="0"/>
              </a:spcAft>
              <a:buClr>
                <a:schemeClr val="dk1"/>
              </a:buClr>
              <a:buSzPts val="2800"/>
              <a:buFont typeface="Arial"/>
              <a:buNone/>
            </a:pPr>
            <a:r>
              <a:rPr b="1" lang="en" sz="2800">
                <a:solidFill>
                  <a:srgbClr val="8181EF"/>
                </a:solidFill>
              </a:rPr>
              <a:t>Interview questions</a:t>
            </a:r>
            <a:endParaRPr/>
          </a:p>
        </p:txBody>
      </p:sp>
      <p:sp>
        <p:nvSpPr>
          <p:cNvPr id="289" name="Google Shape;289;p41"/>
          <p:cNvSpPr txBox="1"/>
          <p:nvPr>
            <p:ph idx="1" type="body"/>
          </p:nvPr>
        </p:nvSpPr>
        <p:spPr>
          <a:xfrm>
            <a:off x="411425" y="1256198"/>
            <a:ext cx="7886700" cy="2107200"/>
          </a:xfrm>
          <a:prstGeom prst="rect">
            <a:avLst/>
          </a:prstGeom>
        </p:spPr>
        <p:txBody>
          <a:bodyPr anchorCtr="0" anchor="t" bIns="34275" lIns="68575" spcFirstLastPara="1" rIns="68575" wrap="square" tIns="34275">
            <a:noAutofit/>
          </a:bodyPr>
          <a:lstStyle/>
          <a:p>
            <a:pPr indent="0" lvl="0" marL="0" rtl="0" algn="l">
              <a:lnSpc>
                <a:spcPct val="115000"/>
              </a:lnSpc>
              <a:spcBef>
                <a:spcPts val="1200"/>
              </a:spcBef>
              <a:spcAft>
                <a:spcPts val="0"/>
              </a:spcAft>
              <a:buNone/>
            </a:pPr>
            <a:r>
              <a:rPr b="1" lang="en" sz="1400"/>
              <a:t>Question:                                                                                                                    </a:t>
            </a:r>
            <a:r>
              <a:rPr b="1" lang="en" sz="1400">
                <a:highlight>
                  <a:srgbClr val="ABC856"/>
                </a:highlight>
              </a:rPr>
              <a:t>  </a:t>
            </a:r>
            <a:br>
              <a:rPr b="1" lang="en" sz="1400"/>
            </a:br>
            <a:r>
              <a:rPr lang="en" sz="1400"/>
              <a:t> Which statement actually reverses the link in a linked list?</a:t>
            </a:r>
            <a:endParaRPr sz="1400"/>
          </a:p>
          <a:p>
            <a:pPr indent="0" lvl="0" marL="0" rtl="0" algn="l">
              <a:lnSpc>
                <a:spcPct val="115000"/>
              </a:lnSpc>
              <a:spcBef>
                <a:spcPts val="1200"/>
              </a:spcBef>
              <a:spcAft>
                <a:spcPts val="0"/>
              </a:spcAft>
              <a:buClr>
                <a:schemeClr val="dk1"/>
              </a:buClr>
              <a:buSzPts val="1100"/>
              <a:buFont typeface="Arial"/>
              <a:buNone/>
            </a:pPr>
            <a:r>
              <a:rPr lang="en" sz="1400"/>
              <a:t>A) current = next</a:t>
            </a:r>
            <a:br>
              <a:rPr lang="en" sz="1400"/>
            </a:br>
            <a:r>
              <a:rPr lang="en" sz="1400"/>
              <a:t> B) prev = current</a:t>
            </a:r>
            <a:br>
              <a:rPr lang="en" sz="1400"/>
            </a:br>
            <a:r>
              <a:rPr lang="en" sz="1400"/>
              <a:t> C) current.next = prev</a:t>
            </a:r>
            <a:br>
              <a:rPr lang="en" sz="1400"/>
            </a:br>
            <a:r>
              <a:rPr lang="en" sz="1400"/>
              <a:t> D) next = prev</a:t>
            </a:r>
            <a:endParaRPr sz="1400"/>
          </a:p>
          <a:p>
            <a:pPr indent="0" lvl="0" marL="0" rtl="0" algn="l">
              <a:spcBef>
                <a:spcPts val="1200"/>
              </a:spcBef>
              <a:spcAft>
                <a:spcPts val="0"/>
              </a:spcAft>
              <a:buNone/>
            </a:pPr>
            <a:r>
              <a:t/>
            </a:r>
            <a:endParaRPr sz="1400"/>
          </a:p>
        </p:txBody>
      </p:sp>
      <p:sp>
        <p:nvSpPr>
          <p:cNvPr id="290" name="Google Shape;290;p41"/>
          <p:cNvSpPr txBox="1"/>
          <p:nvPr/>
        </p:nvSpPr>
        <p:spPr>
          <a:xfrm>
            <a:off x="491275" y="3504450"/>
            <a:ext cx="7886700" cy="80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Answer:</a:t>
            </a:r>
            <a:r>
              <a:rPr lang="en">
                <a:solidFill>
                  <a:schemeClr val="dk1"/>
                </a:solidFill>
                <a:latin typeface="Roboto"/>
                <a:ea typeface="Roboto"/>
                <a:cs typeface="Roboto"/>
                <a:sym typeface="Roboto"/>
              </a:rPr>
              <a:t> C) current.next = prev</a:t>
            </a:r>
            <a:endParaRPr>
              <a:solidFill>
                <a:schemeClr val="dk1"/>
              </a:solidFill>
              <a:latin typeface="Roboto"/>
              <a:ea typeface="Roboto"/>
              <a:cs typeface="Roboto"/>
              <a:sym typeface="Roboto"/>
            </a:endParaRPr>
          </a:p>
          <a:p>
            <a:pPr indent="0" lvl="0" marL="0" rtl="0" algn="l">
              <a:lnSpc>
                <a:spcPct val="115000"/>
              </a:lnSpc>
              <a:spcBef>
                <a:spcPts val="1200"/>
              </a:spcBef>
              <a:spcAft>
                <a:spcPts val="1200"/>
              </a:spcAft>
              <a:buNone/>
            </a:pPr>
            <a:r>
              <a:rPr b="1" lang="en">
                <a:solidFill>
                  <a:schemeClr val="dk1"/>
                </a:solidFill>
                <a:latin typeface="Roboto"/>
                <a:ea typeface="Roboto"/>
                <a:cs typeface="Roboto"/>
                <a:sym typeface="Roboto"/>
              </a:rPr>
              <a:t>Explanation: </a:t>
            </a:r>
            <a:r>
              <a:rPr lang="en">
                <a:solidFill>
                  <a:schemeClr val="dk1"/>
                </a:solidFill>
                <a:latin typeface="Roboto"/>
                <a:ea typeface="Roboto"/>
                <a:cs typeface="Roboto"/>
                <a:sym typeface="Roboto"/>
              </a:rPr>
              <a:t>This changes the direction of the pointer.</a:t>
            </a:r>
            <a:endParaRPr>
              <a:solidFill>
                <a:schemeClr val="dk1"/>
              </a:solidFill>
              <a:latin typeface="Roboto"/>
              <a:ea typeface="Roboto"/>
              <a:cs typeface="Roboto"/>
              <a:sym typeface="Roboto"/>
            </a:endParaRPr>
          </a:p>
        </p:txBody>
      </p:sp>
      <p:sp>
        <p:nvSpPr>
          <p:cNvPr id="291" name="Google Shape;291;p41"/>
          <p:cNvSpPr txBox="1"/>
          <p:nvPr/>
        </p:nvSpPr>
        <p:spPr>
          <a:xfrm>
            <a:off x="6308700" y="1218300"/>
            <a:ext cx="2137200" cy="512700"/>
          </a:xfrm>
          <a:prstGeom prst="rect">
            <a:avLst/>
          </a:prstGeom>
          <a:noFill/>
          <a:ln cap="flat" cmpd="sng" w="38100">
            <a:solidFill>
              <a:srgbClr val="807F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latin typeface="Roboto"/>
                <a:ea typeface="Roboto"/>
                <a:cs typeface="Roboto"/>
                <a:sym typeface="Roboto"/>
              </a:rPr>
              <a:t>Asked in Paypal 2025</a:t>
            </a:r>
            <a:endParaRPr b="1">
              <a:solidFill>
                <a:schemeClr val="dk1"/>
              </a:solidFill>
              <a:latin typeface="Roboto"/>
              <a:ea typeface="Roboto"/>
              <a:cs typeface="Roboto"/>
              <a:sym typeface="Roboto"/>
            </a:endParaRPr>
          </a:p>
          <a:p>
            <a:pPr indent="0" lvl="0" marL="0" rtl="0" algn="l">
              <a:spcBef>
                <a:spcPts val="1200"/>
              </a:spcBef>
              <a:spcAft>
                <a:spcPts val="0"/>
              </a:spcAft>
              <a:buNone/>
            </a:pPr>
            <a:r>
              <a:t/>
            </a:r>
            <a:endParaRPr sz="21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2"/>
          <p:cNvSpPr txBox="1"/>
          <p:nvPr>
            <p:ph type="title"/>
          </p:nvPr>
        </p:nvSpPr>
        <p:spPr>
          <a:xfrm>
            <a:off x="98700" y="522723"/>
            <a:ext cx="7886700" cy="669600"/>
          </a:xfrm>
          <a:prstGeom prst="rect">
            <a:avLst/>
          </a:prstGeom>
        </p:spPr>
        <p:txBody>
          <a:bodyPr anchorCtr="0" anchor="ctr" bIns="34275" lIns="68575" spcFirstLastPara="1" rIns="68575" wrap="square" tIns="34275">
            <a:normAutofit fontScale="90000"/>
          </a:bodyPr>
          <a:lstStyle/>
          <a:p>
            <a:pPr indent="0" lvl="0" marL="0" rtl="0" algn="l">
              <a:lnSpc>
                <a:spcPct val="115000"/>
              </a:lnSpc>
              <a:spcBef>
                <a:spcPts val="0"/>
              </a:spcBef>
              <a:spcAft>
                <a:spcPts val="0"/>
              </a:spcAft>
              <a:buClr>
                <a:schemeClr val="dk1"/>
              </a:buClr>
              <a:buSzPct val="39286"/>
              <a:buFont typeface="Arial"/>
              <a:buNone/>
            </a:pPr>
            <a:r>
              <a:rPr b="1" lang="en" sz="2800">
                <a:solidFill>
                  <a:srgbClr val="8181EF"/>
                </a:solidFill>
              </a:rPr>
              <a:t>Interview questions</a:t>
            </a:r>
            <a:endParaRPr/>
          </a:p>
          <a:p>
            <a:pPr indent="0" lvl="0" marL="0" rtl="0" algn="l">
              <a:spcBef>
                <a:spcPts val="0"/>
              </a:spcBef>
              <a:spcAft>
                <a:spcPts val="0"/>
              </a:spcAft>
              <a:buNone/>
            </a:pPr>
            <a:r>
              <a:t/>
            </a:r>
            <a:endParaRPr/>
          </a:p>
        </p:txBody>
      </p:sp>
      <p:sp>
        <p:nvSpPr>
          <p:cNvPr id="297" name="Google Shape;297;p42"/>
          <p:cNvSpPr txBox="1"/>
          <p:nvPr>
            <p:ph idx="1" type="body"/>
          </p:nvPr>
        </p:nvSpPr>
        <p:spPr>
          <a:xfrm>
            <a:off x="246375" y="1334448"/>
            <a:ext cx="7886700" cy="2074500"/>
          </a:xfrm>
          <a:prstGeom prst="rect">
            <a:avLst/>
          </a:prstGeom>
        </p:spPr>
        <p:txBody>
          <a:bodyPr anchorCtr="0" anchor="t" bIns="34275" lIns="68575" spcFirstLastPara="1" rIns="68575" wrap="square" tIns="34275">
            <a:normAutofit lnSpcReduction="10000"/>
          </a:bodyPr>
          <a:lstStyle/>
          <a:p>
            <a:pPr indent="0" lvl="0" marL="0" rtl="0" algn="l">
              <a:lnSpc>
                <a:spcPct val="115000"/>
              </a:lnSpc>
              <a:spcBef>
                <a:spcPts val="1200"/>
              </a:spcBef>
              <a:spcAft>
                <a:spcPts val="0"/>
              </a:spcAft>
              <a:buNone/>
            </a:pPr>
            <a:r>
              <a:rPr b="1" lang="en" sz="1400"/>
              <a:t>Question:                                                                                                                        </a:t>
            </a:r>
            <a:r>
              <a:rPr lang="en" sz="1400"/>
              <a:t> </a:t>
            </a:r>
            <a:endParaRPr sz="1400"/>
          </a:p>
          <a:p>
            <a:pPr indent="0" lvl="0" marL="0" rtl="0" algn="l">
              <a:lnSpc>
                <a:spcPct val="115000"/>
              </a:lnSpc>
              <a:spcBef>
                <a:spcPts val="1200"/>
              </a:spcBef>
              <a:spcAft>
                <a:spcPts val="0"/>
              </a:spcAft>
              <a:buClr>
                <a:schemeClr val="dk1"/>
              </a:buClr>
              <a:buSzPts val="1100"/>
              <a:buFont typeface="Arial"/>
              <a:buNone/>
            </a:pPr>
            <a:r>
              <a:rPr lang="en" sz="1400"/>
              <a:t>Which condition is used to stop iterative linked list reversal?</a:t>
            </a:r>
            <a:endParaRPr sz="1400"/>
          </a:p>
          <a:p>
            <a:pPr indent="0" lvl="0" marL="0" rtl="0" algn="l">
              <a:lnSpc>
                <a:spcPct val="115000"/>
              </a:lnSpc>
              <a:spcBef>
                <a:spcPts val="1200"/>
              </a:spcBef>
              <a:spcAft>
                <a:spcPts val="0"/>
              </a:spcAft>
              <a:buClr>
                <a:schemeClr val="dk1"/>
              </a:buClr>
              <a:buSzPts val="1100"/>
              <a:buFont typeface="Arial"/>
              <a:buNone/>
            </a:pPr>
            <a:r>
              <a:rPr lang="en" sz="1400"/>
              <a:t>A) current == head</a:t>
            </a:r>
            <a:br>
              <a:rPr lang="en" sz="1400"/>
            </a:br>
            <a:r>
              <a:rPr lang="en" sz="1400"/>
              <a:t> B) current != null</a:t>
            </a:r>
            <a:br>
              <a:rPr lang="en" sz="1400"/>
            </a:br>
            <a:r>
              <a:rPr lang="en" sz="1400"/>
              <a:t> C) prev == null</a:t>
            </a:r>
            <a:br>
              <a:rPr lang="en" sz="1400"/>
            </a:br>
            <a:r>
              <a:rPr lang="en" sz="1400"/>
              <a:t> D) next == head</a:t>
            </a:r>
            <a:endParaRPr sz="1400"/>
          </a:p>
          <a:p>
            <a:pPr indent="0" lvl="0" marL="0" rtl="0" algn="l">
              <a:spcBef>
                <a:spcPts val="1200"/>
              </a:spcBef>
              <a:spcAft>
                <a:spcPts val="0"/>
              </a:spcAft>
              <a:buNone/>
            </a:pPr>
            <a:r>
              <a:t/>
            </a:r>
            <a:endParaRPr sz="1400"/>
          </a:p>
        </p:txBody>
      </p:sp>
      <p:sp>
        <p:nvSpPr>
          <p:cNvPr id="298" name="Google Shape;298;p42"/>
          <p:cNvSpPr txBox="1"/>
          <p:nvPr/>
        </p:nvSpPr>
        <p:spPr>
          <a:xfrm>
            <a:off x="308075" y="3293825"/>
            <a:ext cx="6644400" cy="1182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Answer:</a:t>
            </a:r>
            <a:r>
              <a:rPr lang="en">
                <a:solidFill>
                  <a:schemeClr val="dk1"/>
                </a:solidFill>
                <a:latin typeface="Roboto"/>
                <a:ea typeface="Roboto"/>
                <a:cs typeface="Roboto"/>
                <a:sym typeface="Roboto"/>
              </a:rPr>
              <a:t> B) current != null</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Explanation: </a:t>
            </a:r>
            <a:r>
              <a:rPr lang="en">
                <a:solidFill>
                  <a:schemeClr val="dk1"/>
                </a:solidFill>
                <a:latin typeface="Roboto"/>
                <a:ea typeface="Roboto"/>
                <a:cs typeface="Roboto"/>
                <a:sym typeface="Roboto"/>
              </a:rPr>
              <a:t>Traversal continues until all nodes are processed.</a:t>
            </a:r>
            <a:endParaRPr>
              <a:solidFill>
                <a:schemeClr val="dk1"/>
              </a:solidFill>
              <a:latin typeface="Roboto"/>
              <a:ea typeface="Roboto"/>
              <a:cs typeface="Roboto"/>
              <a:sym typeface="Roboto"/>
            </a:endParaRPr>
          </a:p>
          <a:p>
            <a:pPr indent="0" lvl="0" marL="0" rtl="0" algn="l">
              <a:lnSpc>
                <a:spcPct val="90000"/>
              </a:lnSpc>
              <a:spcBef>
                <a:spcPts val="1200"/>
              </a:spcBef>
              <a:spcAft>
                <a:spcPts val="0"/>
              </a:spcAft>
              <a:buNone/>
            </a:pPr>
            <a:r>
              <a:t/>
            </a:r>
            <a:endParaRPr>
              <a:solidFill>
                <a:schemeClr val="dk1"/>
              </a:solidFill>
              <a:latin typeface="Roboto"/>
              <a:ea typeface="Roboto"/>
              <a:cs typeface="Roboto"/>
              <a:sym typeface="Roboto"/>
            </a:endParaRPr>
          </a:p>
        </p:txBody>
      </p:sp>
      <p:sp>
        <p:nvSpPr>
          <p:cNvPr id="299" name="Google Shape;299;p42"/>
          <p:cNvSpPr txBox="1"/>
          <p:nvPr/>
        </p:nvSpPr>
        <p:spPr>
          <a:xfrm>
            <a:off x="6160975" y="1070675"/>
            <a:ext cx="2145900" cy="434400"/>
          </a:xfrm>
          <a:prstGeom prst="rect">
            <a:avLst/>
          </a:prstGeom>
          <a:noFill/>
          <a:ln cap="flat" cmpd="sng" w="38100">
            <a:solidFill>
              <a:srgbClr val="807F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Roboto"/>
                <a:ea typeface="Roboto"/>
                <a:cs typeface="Roboto"/>
                <a:sym typeface="Roboto"/>
              </a:rPr>
              <a:t> Asked in Zoho 2025</a:t>
            </a:r>
            <a:br>
              <a:rPr b="1" lang="en">
                <a:solidFill>
                  <a:schemeClr val="dk1"/>
                </a:solidFill>
                <a:latin typeface="Roboto"/>
                <a:ea typeface="Roboto"/>
                <a:cs typeface="Roboto"/>
                <a:sym typeface="Roboto"/>
              </a:rPr>
            </a:br>
            <a:endParaRPr sz="21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3"/>
          <p:cNvSpPr txBox="1"/>
          <p:nvPr>
            <p:ph type="title"/>
          </p:nvPr>
        </p:nvSpPr>
        <p:spPr>
          <a:xfrm>
            <a:off x="150775" y="343347"/>
            <a:ext cx="7886700" cy="4674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b="1" lang="en" sz="1700">
                <a:solidFill>
                  <a:srgbClr val="807FEC"/>
                </a:solidFill>
              </a:rPr>
              <a:t>Example Problem </a:t>
            </a:r>
            <a:r>
              <a:rPr b="1" lang="en" sz="1700">
                <a:solidFill>
                  <a:srgbClr val="807FEC"/>
                </a:solidFill>
              </a:rPr>
              <a:t>Statement</a:t>
            </a:r>
            <a:r>
              <a:rPr b="1" lang="en" sz="1700">
                <a:solidFill>
                  <a:srgbClr val="807FEC"/>
                </a:solidFill>
              </a:rPr>
              <a:t> for Practice</a:t>
            </a:r>
            <a:endParaRPr b="1" sz="1700">
              <a:solidFill>
                <a:srgbClr val="807FEC"/>
              </a:solidFill>
            </a:endParaRPr>
          </a:p>
        </p:txBody>
      </p:sp>
      <p:sp>
        <p:nvSpPr>
          <p:cNvPr id="305" name="Google Shape;305;p43"/>
          <p:cNvSpPr txBox="1"/>
          <p:nvPr>
            <p:ph idx="1" type="body"/>
          </p:nvPr>
        </p:nvSpPr>
        <p:spPr>
          <a:xfrm>
            <a:off x="211625" y="1667850"/>
            <a:ext cx="8871600" cy="2040000"/>
          </a:xfrm>
          <a:prstGeom prst="rect">
            <a:avLst/>
          </a:prstGeom>
        </p:spPr>
        <p:txBody>
          <a:bodyPr anchorCtr="0" anchor="t" bIns="34275" lIns="68575" spcFirstLastPara="1" rIns="68575" wrap="square" tIns="34275">
            <a:noAutofit/>
          </a:bodyPr>
          <a:lstStyle/>
          <a:p>
            <a:pPr indent="0" lvl="0" marL="0" rtl="0" algn="l">
              <a:lnSpc>
                <a:spcPct val="115000"/>
              </a:lnSpc>
              <a:spcBef>
                <a:spcPts val="1800"/>
              </a:spcBef>
              <a:spcAft>
                <a:spcPts val="0"/>
              </a:spcAft>
              <a:buClr>
                <a:schemeClr val="dk1"/>
              </a:buClr>
              <a:buSzPts val="1100"/>
              <a:buFont typeface="Arial"/>
              <a:buNone/>
            </a:pPr>
            <a:r>
              <a:rPr b="1" lang="en" sz="1400"/>
              <a:t>Problem Statement – Train Route Reversal System</a:t>
            </a:r>
            <a:endParaRPr b="1" sz="1400"/>
          </a:p>
          <a:p>
            <a:pPr indent="0" lvl="0" marL="0" rtl="0" algn="l">
              <a:lnSpc>
                <a:spcPct val="115000"/>
              </a:lnSpc>
              <a:spcBef>
                <a:spcPts val="1200"/>
              </a:spcBef>
              <a:spcAft>
                <a:spcPts val="0"/>
              </a:spcAft>
              <a:buNone/>
            </a:pPr>
            <a:r>
              <a:rPr lang="en" sz="1400"/>
              <a:t>A railway control system stores the sequence of stations of a train route using a singly linked list.</a:t>
            </a:r>
            <a:br>
              <a:rPr lang="en" sz="1400"/>
            </a:br>
            <a:r>
              <a:rPr lang="en" sz="1400"/>
              <a:t>Each station is connected to the next station in the route.Due to a temporary track maintenance issue, the    railway department wants to run the train in the reverse direction.</a:t>
            </a:r>
            <a:br>
              <a:rPr lang="en" sz="1400"/>
            </a:br>
            <a:r>
              <a:rPr lang="en" sz="1400"/>
              <a:t>Your task is to reverse the order of stations by reversing the links between the nodes of the linked list.The first station should become the last station, and the last station should become the new starting station.</a:t>
            </a:r>
            <a:endParaRPr sz="1400"/>
          </a:p>
          <a:p>
            <a:pPr indent="0" lvl="0" marL="0" rtl="0" algn="l">
              <a:lnSpc>
                <a:spcPct val="115000"/>
              </a:lnSpc>
              <a:spcBef>
                <a:spcPts val="1400"/>
              </a:spcBef>
              <a:spcAft>
                <a:spcPts val="0"/>
              </a:spcAft>
              <a:buNone/>
            </a:pPr>
            <a:r>
              <a:rPr lang="en" sz="1400"/>
              <a:t>                                                    </a:t>
            </a:r>
            <a:endParaRPr sz="1400">
              <a:highlight>
                <a:srgbClr val="00FF00"/>
              </a:highlight>
            </a:endParaRPr>
          </a:p>
          <a:p>
            <a:pPr indent="0" lvl="0" marL="0" rtl="0" algn="l">
              <a:spcBef>
                <a:spcPts val="800"/>
              </a:spcBef>
              <a:spcAft>
                <a:spcPts val="0"/>
              </a:spcAft>
              <a:buNone/>
            </a:pPr>
            <a:r>
              <a:t/>
            </a:r>
            <a:endParaRPr sz="1400"/>
          </a:p>
        </p:txBody>
      </p:sp>
      <p:sp>
        <p:nvSpPr>
          <p:cNvPr id="306" name="Google Shape;306;p43"/>
          <p:cNvSpPr txBox="1"/>
          <p:nvPr/>
        </p:nvSpPr>
        <p:spPr>
          <a:xfrm>
            <a:off x="270350" y="1043850"/>
            <a:ext cx="3700200" cy="390900"/>
          </a:xfrm>
          <a:prstGeom prst="rect">
            <a:avLst/>
          </a:prstGeom>
          <a:noFill/>
          <a:ln cap="flat" cmpd="sng" w="38100">
            <a:solidFill>
              <a:srgbClr val="807F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u="sng">
                <a:solidFill>
                  <a:schemeClr val="dk1"/>
                </a:solidFill>
                <a:latin typeface="Roboto"/>
                <a:ea typeface="Roboto"/>
                <a:cs typeface="Roboto"/>
                <a:sym typeface="Roboto"/>
                <a:hlinkClick r:id="rId3">
                  <a:extLst>
                    <a:ext uri="{A12FA001-AC4F-418D-AE19-62706E023703}">
                      <ahyp:hlinkClr val="tx"/>
                    </a:ext>
                  </a:extLst>
                </a:hlinkClick>
              </a:rPr>
              <a:t>Accenture Careers</a:t>
            </a:r>
            <a:r>
              <a:rPr b="1" lang="en">
                <a:solidFill>
                  <a:schemeClr val="dk1"/>
                </a:solidFill>
                <a:latin typeface="Roboto"/>
                <a:ea typeface="Roboto"/>
                <a:cs typeface="Roboto"/>
                <a:sym typeface="Roboto"/>
              </a:rPr>
              <a:t> — 2025 Practice Pattern </a:t>
            </a:r>
            <a:endParaRPr b="1">
              <a:solidFill>
                <a:schemeClr val="dk1"/>
              </a:solidFill>
              <a:latin typeface="Roboto"/>
              <a:ea typeface="Roboto"/>
              <a:cs typeface="Roboto"/>
              <a:sym typeface="Roboto"/>
            </a:endParaRPr>
          </a:p>
          <a:p>
            <a:pPr indent="0" lvl="0" marL="0" rtl="0" algn="l">
              <a:spcBef>
                <a:spcPts val="400"/>
              </a:spcBef>
              <a:spcAft>
                <a:spcPts val="0"/>
              </a:spcAft>
              <a:buNone/>
            </a:pPr>
            <a:r>
              <a:t/>
            </a:r>
            <a:endParaRPr sz="2100">
              <a:solidFill>
                <a:schemeClr val="dk1"/>
              </a:solidFill>
              <a:latin typeface="Roboto"/>
              <a:ea typeface="Roboto"/>
              <a:cs typeface="Roboto"/>
              <a:sym typeface="Roboto"/>
            </a:endParaRPr>
          </a:p>
        </p:txBody>
      </p:sp>
      <p:sp>
        <p:nvSpPr>
          <p:cNvPr id="307" name="Google Shape;307;p43"/>
          <p:cNvSpPr txBox="1"/>
          <p:nvPr/>
        </p:nvSpPr>
        <p:spPr>
          <a:xfrm>
            <a:off x="374550" y="4268025"/>
            <a:ext cx="3979200" cy="425700"/>
          </a:xfrm>
          <a:prstGeom prst="rect">
            <a:avLst/>
          </a:prstGeom>
          <a:noFill/>
          <a:ln cap="flat" cmpd="sng" w="38100">
            <a:solidFill>
              <a:srgbClr val="807F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u="sng">
                <a:solidFill>
                  <a:schemeClr val="dk1"/>
                </a:solidFill>
                <a:latin typeface="Roboto"/>
                <a:ea typeface="Roboto"/>
                <a:cs typeface="Roboto"/>
                <a:sym typeface="Roboto"/>
                <a:hlinkClick r:id="rId4">
                  <a:extLst>
                    <a:ext uri="{A12FA001-AC4F-418D-AE19-62706E023703}">
                      <ahyp:hlinkClr val="tx"/>
                    </a:ext>
                  </a:extLst>
                </a:hlinkClick>
              </a:rPr>
              <a:t>LeetCode Reverse Linked List Solution</a:t>
            </a:r>
            <a:endParaRPr b="1" u="sng">
              <a:solidFill>
                <a:schemeClr val="dk1"/>
              </a:solidFill>
              <a:latin typeface="Roboto"/>
              <a:ea typeface="Roboto"/>
              <a:cs typeface="Roboto"/>
              <a:sym typeface="Roboto"/>
            </a:endParaRPr>
          </a:p>
          <a:p>
            <a:pPr indent="0" lvl="0" marL="0" rtl="0" algn="l">
              <a:spcBef>
                <a:spcPts val="1200"/>
              </a:spcBef>
              <a:spcAft>
                <a:spcPts val="0"/>
              </a:spcAft>
              <a:buNone/>
            </a:pPr>
            <a:r>
              <a:t/>
            </a:r>
            <a:endParaRPr b="1">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44"/>
          <p:cNvSpPr txBox="1"/>
          <p:nvPr>
            <p:ph idx="1" type="body"/>
          </p:nvPr>
        </p:nvSpPr>
        <p:spPr>
          <a:xfrm>
            <a:off x="382050" y="793823"/>
            <a:ext cx="7886700" cy="2029200"/>
          </a:xfrm>
          <a:prstGeom prst="rect">
            <a:avLst/>
          </a:prstGeom>
        </p:spPr>
        <p:txBody>
          <a:bodyPr anchorCtr="0" anchor="t" bIns="34275" lIns="68575" spcFirstLastPara="1" rIns="68575" wrap="square" tIns="34275">
            <a:normAutofit/>
          </a:bodyPr>
          <a:lstStyle/>
          <a:p>
            <a:pPr indent="0" lvl="0" marL="0" rtl="0" algn="l">
              <a:lnSpc>
                <a:spcPct val="115000"/>
              </a:lnSpc>
              <a:spcBef>
                <a:spcPts val="1200"/>
              </a:spcBef>
              <a:spcAft>
                <a:spcPts val="0"/>
              </a:spcAft>
              <a:buNone/>
            </a:pPr>
            <a:r>
              <a:rPr b="1" lang="en" sz="1400"/>
              <a:t>Input Format - </a:t>
            </a:r>
            <a:r>
              <a:rPr lang="en" sz="1400"/>
              <a:t>The first line contains an integer N representing the number of stations.The second line                    contains N space-separated station IDs.</a:t>
            </a:r>
            <a:endParaRPr sz="1400"/>
          </a:p>
          <a:p>
            <a:pPr indent="0" lvl="0" marL="0" rtl="0" algn="l">
              <a:lnSpc>
                <a:spcPct val="115000"/>
              </a:lnSpc>
              <a:spcBef>
                <a:spcPts val="1200"/>
              </a:spcBef>
              <a:spcAft>
                <a:spcPts val="0"/>
              </a:spcAft>
              <a:buClr>
                <a:schemeClr val="dk1"/>
              </a:buClr>
              <a:buSzPts val="1100"/>
              <a:buFont typeface="Arial"/>
              <a:buNone/>
            </a:pPr>
            <a:r>
              <a:t/>
            </a:r>
            <a:endParaRPr sz="1400"/>
          </a:p>
          <a:p>
            <a:pPr indent="0" lvl="0" marL="0" rtl="0" algn="l">
              <a:lnSpc>
                <a:spcPct val="115000"/>
              </a:lnSpc>
              <a:spcBef>
                <a:spcPts val="1200"/>
              </a:spcBef>
              <a:spcAft>
                <a:spcPts val="0"/>
              </a:spcAft>
              <a:buClr>
                <a:schemeClr val="dk1"/>
              </a:buClr>
              <a:buSzPts val="1100"/>
              <a:buFont typeface="Arial"/>
              <a:buNone/>
            </a:pPr>
            <a:r>
              <a:rPr b="1" lang="en" sz="1400"/>
              <a:t>Output Format - </a:t>
            </a:r>
            <a:r>
              <a:rPr lang="en" sz="1400"/>
              <a:t>Print the station IDs in reversed route order.</a:t>
            </a:r>
            <a:endParaRPr sz="1400"/>
          </a:p>
          <a:p>
            <a:pPr indent="0" lvl="0" marL="0" rtl="0" algn="l">
              <a:lnSpc>
                <a:spcPct val="115000"/>
              </a:lnSpc>
              <a:spcBef>
                <a:spcPts val="1400"/>
              </a:spcBef>
              <a:spcAft>
                <a:spcPts val="400"/>
              </a:spcAft>
              <a:buClr>
                <a:schemeClr val="dk1"/>
              </a:buClr>
              <a:buSzPts val="1100"/>
              <a:buFont typeface="Arial"/>
              <a:buNone/>
            </a:pPr>
            <a:r>
              <a:rPr b="1" lang="en" sz="1400"/>
              <a:t>Constraints - </a:t>
            </a:r>
            <a:r>
              <a:rPr lang="en" sz="1400"/>
              <a:t>1 ≤ N ≤ 10^5                     </a:t>
            </a:r>
            <a:endParaRPr/>
          </a:p>
        </p:txBody>
      </p:sp>
      <p:sp>
        <p:nvSpPr>
          <p:cNvPr id="313" name="Google Shape;313;p44"/>
          <p:cNvSpPr txBox="1"/>
          <p:nvPr/>
        </p:nvSpPr>
        <p:spPr>
          <a:xfrm>
            <a:off x="382050" y="3233200"/>
            <a:ext cx="3061200" cy="120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latin typeface="Roboto"/>
                <a:ea typeface="Roboto"/>
                <a:cs typeface="Roboto"/>
                <a:sym typeface="Roboto"/>
              </a:rPr>
              <a:t> Solution</a:t>
            </a:r>
            <a:r>
              <a:rPr lang="en">
                <a:solidFill>
                  <a:schemeClr val="dk1"/>
                </a:solidFill>
                <a:latin typeface="Roboto"/>
                <a:ea typeface="Roboto"/>
                <a:cs typeface="Roboto"/>
                <a:sym typeface="Roboto"/>
              </a:rPr>
              <a:t> - Reverse Linked List:</a:t>
            </a:r>
            <a:endParaRPr>
              <a:solidFill>
                <a:schemeClr val="dk1"/>
              </a:solidFill>
              <a:latin typeface="Roboto"/>
              <a:ea typeface="Roboto"/>
              <a:cs typeface="Roboto"/>
              <a:sym typeface="Roboto"/>
            </a:endParaRPr>
          </a:p>
          <a:p>
            <a:pPr indent="0" lvl="0" marL="0" rtl="0" algn="l">
              <a:lnSpc>
                <a:spcPct val="115000"/>
              </a:lnSpc>
              <a:spcBef>
                <a:spcPts val="1200"/>
              </a:spcBef>
              <a:spcAft>
                <a:spcPts val="0"/>
              </a:spcAft>
              <a:buNone/>
            </a:pPr>
            <a:r>
              <a:rPr lang="en">
                <a:solidFill>
                  <a:schemeClr val="dk1"/>
                </a:solidFill>
                <a:latin typeface="Roboto"/>
                <a:ea typeface="Roboto"/>
                <a:cs typeface="Roboto"/>
                <a:sym typeface="Roboto"/>
              </a:rPr>
              <a:t> </a:t>
            </a:r>
            <a:endParaRPr>
              <a:solidFill>
                <a:schemeClr val="dk1"/>
              </a:solidFill>
              <a:latin typeface="Roboto"/>
              <a:ea typeface="Roboto"/>
              <a:cs typeface="Roboto"/>
              <a:sym typeface="Roboto"/>
            </a:endParaRPr>
          </a:p>
          <a:p>
            <a:pPr indent="0" lvl="0" marL="0" rtl="0" algn="l">
              <a:spcBef>
                <a:spcPts val="1200"/>
              </a:spcBef>
              <a:spcAft>
                <a:spcPts val="0"/>
              </a:spcAft>
              <a:buNone/>
            </a:pPr>
            <a:r>
              <a:t/>
            </a:r>
            <a:endParaRPr>
              <a:solidFill>
                <a:schemeClr val="dk1"/>
              </a:solidFill>
              <a:latin typeface="Roboto"/>
              <a:ea typeface="Roboto"/>
              <a:cs typeface="Roboto"/>
              <a:sym typeface="Roboto"/>
            </a:endParaRPr>
          </a:p>
        </p:txBody>
      </p:sp>
      <p:sp>
        <p:nvSpPr>
          <p:cNvPr id="314" name="Google Shape;314;p44"/>
          <p:cNvSpPr txBox="1"/>
          <p:nvPr/>
        </p:nvSpPr>
        <p:spPr>
          <a:xfrm>
            <a:off x="464250" y="3917150"/>
            <a:ext cx="3979200" cy="425700"/>
          </a:xfrm>
          <a:prstGeom prst="rect">
            <a:avLst/>
          </a:prstGeom>
          <a:noFill/>
          <a:ln cap="flat" cmpd="sng" w="38100">
            <a:solidFill>
              <a:srgbClr val="807FEC"/>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u="sng">
                <a:solidFill>
                  <a:schemeClr val="dk1"/>
                </a:solidFill>
                <a:latin typeface="Roboto"/>
                <a:ea typeface="Roboto"/>
                <a:cs typeface="Roboto"/>
                <a:sym typeface="Roboto"/>
                <a:hlinkClick r:id="rId3">
                  <a:extLst>
                    <a:ext uri="{A12FA001-AC4F-418D-AE19-62706E023703}">
                      <ahyp:hlinkClr val="tx"/>
                    </a:ext>
                  </a:extLst>
                </a:hlinkClick>
              </a:rPr>
              <a:t>LeetCode Reverse Linked List Solution</a:t>
            </a:r>
            <a:endParaRPr b="1" u="sng">
              <a:solidFill>
                <a:schemeClr val="dk1"/>
              </a:solidFill>
              <a:latin typeface="Roboto"/>
              <a:ea typeface="Roboto"/>
              <a:cs typeface="Roboto"/>
              <a:sym typeface="Roboto"/>
            </a:endParaRPr>
          </a:p>
          <a:p>
            <a:pPr indent="0" lvl="0" marL="0" rtl="0" algn="l">
              <a:spcBef>
                <a:spcPts val="1200"/>
              </a:spcBef>
              <a:spcAft>
                <a:spcPts val="0"/>
              </a:spcAft>
              <a:buNone/>
            </a:pPr>
            <a:r>
              <a:t/>
            </a:r>
            <a:endParaRPr b="1">
              <a:solidFill>
                <a:schemeClr val="dk1"/>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5"/>
          <p:cNvSpPr txBox="1"/>
          <p:nvPr/>
        </p:nvSpPr>
        <p:spPr>
          <a:xfrm>
            <a:off x="-324555" y="1223435"/>
            <a:ext cx="7557900" cy="923400"/>
          </a:xfrm>
          <a:prstGeom prst="rect">
            <a:avLst/>
          </a:prstGeom>
          <a:noFill/>
          <a:ln>
            <a:noFill/>
          </a:ln>
        </p:spPr>
        <p:txBody>
          <a:bodyPr anchorCtr="0" anchor="t" bIns="45700" lIns="91425" spcFirstLastPara="1" rIns="91425" wrap="square" tIns="45700">
            <a:spAutoFit/>
          </a:bodyPr>
          <a:lstStyle/>
          <a:p>
            <a:pPr indent="0" lvl="0" marL="457200" marR="0" rtl="0" algn="l">
              <a:lnSpc>
                <a:spcPct val="200000"/>
              </a:lnSpc>
              <a:spcBef>
                <a:spcPts val="0"/>
              </a:spcBef>
              <a:spcAft>
                <a:spcPts val="0"/>
              </a:spcAft>
              <a:buClr>
                <a:srgbClr val="000000"/>
              </a:buClr>
              <a:buSzPts val="1800"/>
              <a:buFont typeface="Arial"/>
              <a:buNone/>
            </a:pPr>
            <a:r>
              <a:rPr i="0" lang="en" sz="1800" u="none" cap="none" strike="noStrike">
                <a:solidFill>
                  <a:srgbClr val="000000"/>
                </a:solidFill>
                <a:latin typeface="Roboto"/>
                <a:ea typeface="Roboto"/>
                <a:cs typeface="Roboto"/>
                <a:sym typeface="Roboto"/>
              </a:rPr>
              <a:t>Any concerns related to attendance/marks/ faculty ; you can reach out to ETHNUS helpdesk through the displayed QR code</a:t>
            </a:r>
            <a:endParaRPr sz="1800">
              <a:latin typeface="Roboto"/>
              <a:ea typeface="Roboto"/>
              <a:cs typeface="Roboto"/>
              <a:sym typeface="Roboto"/>
            </a:endParaRPr>
          </a:p>
        </p:txBody>
      </p:sp>
      <p:pic>
        <p:nvPicPr>
          <p:cNvPr id="320" name="Google Shape;320;p45"/>
          <p:cNvPicPr preferRelativeResize="0"/>
          <p:nvPr/>
        </p:nvPicPr>
        <p:blipFill rotWithShape="1">
          <a:blip r:embed="rId3">
            <a:alphaModFix/>
          </a:blip>
          <a:srcRect b="0" l="0" r="0" t="0"/>
          <a:stretch/>
        </p:blipFill>
        <p:spPr>
          <a:xfrm>
            <a:off x="6021225" y="1795900"/>
            <a:ext cx="2885274" cy="2614550"/>
          </a:xfrm>
          <a:prstGeom prst="rect">
            <a:avLst/>
          </a:prstGeom>
          <a:noFill/>
          <a:ln>
            <a:noFill/>
          </a:ln>
        </p:spPr>
      </p:pic>
      <p:sp>
        <p:nvSpPr>
          <p:cNvPr id="321" name="Google Shape;321;p45"/>
          <p:cNvSpPr txBox="1"/>
          <p:nvPr/>
        </p:nvSpPr>
        <p:spPr>
          <a:xfrm>
            <a:off x="-1117600" y="621902"/>
            <a:ext cx="4572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 sz="3200" u="none" cap="none" strike="noStrike">
                <a:solidFill>
                  <a:srgbClr val="807FEC"/>
                </a:solidFill>
                <a:latin typeface="Roboto"/>
                <a:ea typeface="Roboto"/>
                <a:cs typeface="Roboto"/>
                <a:sym typeface="Roboto"/>
              </a:rPr>
              <a:t>Help Desk</a:t>
            </a:r>
            <a:endParaRPr b="1" i="0" sz="3200" u="none" cap="none" strike="noStrike">
              <a:solidFill>
                <a:srgbClr val="807FEC"/>
              </a:solidFill>
              <a:latin typeface="Roboto"/>
              <a:ea typeface="Roboto"/>
              <a:cs typeface="Roboto"/>
              <a:sym typeface="Roboto"/>
            </a:endParaRPr>
          </a:p>
        </p:txBody>
      </p:sp>
      <p:sp>
        <p:nvSpPr>
          <p:cNvPr id="322" name="Google Shape;322;p45"/>
          <p:cNvSpPr txBox="1"/>
          <p:nvPr/>
        </p:nvSpPr>
        <p:spPr>
          <a:xfrm>
            <a:off x="422399" y="2962150"/>
            <a:ext cx="55215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i="0" lang="en" sz="2400" u="sng" cap="none" strike="noStrike">
                <a:solidFill>
                  <a:schemeClr val="accent5"/>
                </a:solidFill>
                <a:latin typeface="Roboto"/>
                <a:ea typeface="Roboto"/>
                <a:cs typeface="Roboto"/>
                <a:sym typeface="Roboto"/>
                <a:hlinkClick r:id="rId4">
                  <a:extLst>
                    <a:ext uri="{A12FA001-AC4F-418D-AE19-62706E023703}">
                      <ahyp:hlinkClr val="tx"/>
                    </a:ext>
                  </a:extLst>
                </a:hlinkClick>
              </a:rPr>
              <a:t>https://codemithra.com/vit-helpdesk/</a:t>
            </a:r>
            <a:endParaRPr i="0" sz="2400" u="sng" cap="none" strike="noStrike">
              <a:solidFill>
                <a:schemeClr val="accent5"/>
              </a:solidFill>
              <a:latin typeface="Roboto"/>
              <a:ea typeface="Roboto"/>
              <a:cs typeface="Roboto"/>
              <a:sym typeface="Roboto"/>
              <a:hlinkClick r:id="rId5">
                <a:extLst>
                  <a:ext uri="{A12FA001-AC4F-418D-AE19-62706E023703}">
                    <ahyp:hlinkClr val="tx"/>
                  </a:ext>
                </a:extLst>
              </a:hlinkClick>
            </a:endParaRPr>
          </a:p>
          <a:p>
            <a:pPr indent="0" lvl="0" marL="0" marR="0" rtl="0" algn="l">
              <a:lnSpc>
                <a:spcPct val="100000"/>
              </a:lnSpc>
              <a:spcBef>
                <a:spcPts val="0"/>
              </a:spcBef>
              <a:spcAft>
                <a:spcPts val="0"/>
              </a:spcAft>
              <a:buClr>
                <a:srgbClr val="000000"/>
              </a:buClr>
              <a:buSzPts val="2400"/>
              <a:buFont typeface="Arial"/>
              <a:buNone/>
            </a:pPr>
            <a:r>
              <a:t/>
            </a:r>
            <a:endParaRPr i="0" sz="2400" u="none" cap="none" strike="noStrike">
              <a:solidFill>
                <a:schemeClr val="dk1"/>
              </a:solidFill>
              <a:latin typeface="Roboto"/>
              <a:ea typeface="Roboto"/>
              <a:cs typeface="Roboto"/>
              <a:sym typeface="Roboto"/>
            </a:endParaRPr>
          </a:p>
        </p:txBody>
      </p:sp>
      <p:pic>
        <p:nvPicPr>
          <p:cNvPr id="323" name="Google Shape;323;p45"/>
          <p:cNvPicPr preferRelativeResize="0"/>
          <p:nvPr/>
        </p:nvPicPr>
        <p:blipFill rotWithShape="1">
          <a:blip r:embed="rId6">
            <a:alphaModFix/>
          </a:blip>
          <a:srcRect b="0" l="0" r="0" t="0"/>
          <a:stretch/>
        </p:blipFill>
        <p:spPr>
          <a:xfrm>
            <a:off x="2278169" y="558058"/>
            <a:ext cx="712464" cy="71246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6"/>
          <p:cNvSpPr/>
          <p:nvPr/>
        </p:nvSpPr>
        <p:spPr>
          <a:xfrm>
            <a:off x="555120" y="915840"/>
            <a:ext cx="7545000" cy="831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329" name="Google Shape;329;p46"/>
          <p:cNvPicPr preferRelativeResize="0"/>
          <p:nvPr/>
        </p:nvPicPr>
        <p:blipFill rotWithShape="1">
          <a:blip r:embed="rId3">
            <a:alphaModFix/>
          </a:blip>
          <a:srcRect b="0" l="0" r="0" t="0"/>
          <a:stretch/>
        </p:blipFill>
        <p:spPr>
          <a:xfrm>
            <a:off x="2799160" y="913210"/>
            <a:ext cx="2855119" cy="2888456"/>
          </a:xfrm>
          <a:prstGeom prst="rect">
            <a:avLst/>
          </a:prstGeom>
          <a:noFill/>
          <a:ln>
            <a:noFill/>
          </a:ln>
        </p:spPr>
      </p:pic>
      <p:sp>
        <p:nvSpPr>
          <p:cNvPr id="330" name="Google Shape;330;p46"/>
          <p:cNvSpPr/>
          <p:nvPr/>
        </p:nvSpPr>
        <p:spPr>
          <a:xfrm>
            <a:off x="1634725" y="3801680"/>
            <a:ext cx="5184000" cy="5382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pic>
        <p:nvPicPr>
          <p:cNvPr id="335" name="Google Shape;335;p47"/>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36" name="Google Shape;336;p47"/>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337" name="Google Shape;337;p47"/>
          <p:cNvPicPr preferRelativeResize="0"/>
          <p:nvPr/>
        </p:nvPicPr>
        <p:blipFill rotWithShape="1">
          <a:blip r:embed="rId4">
            <a:alphaModFix/>
          </a:blip>
          <a:srcRect b="0" l="0" r="0" t="0"/>
          <a:stretch/>
        </p:blipFill>
        <p:spPr>
          <a:xfrm>
            <a:off x="1752016" y="4591075"/>
            <a:ext cx="338161" cy="338150"/>
          </a:xfrm>
          <a:prstGeom prst="rect">
            <a:avLst/>
          </a:prstGeom>
          <a:noFill/>
          <a:ln>
            <a:noFill/>
          </a:ln>
        </p:spPr>
      </p:pic>
      <p:pic>
        <p:nvPicPr>
          <p:cNvPr id="338" name="Google Shape;338;p47"/>
          <p:cNvPicPr preferRelativeResize="0"/>
          <p:nvPr/>
        </p:nvPicPr>
        <p:blipFill rotWithShape="1">
          <a:blip r:embed="rId5">
            <a:alphaModFix/>
          </a:blip>
          <a:srcRect b="0" l="0" r="0" t="0"/>
          <a:stretch/>
        </p:blipFill>
        <p:spPr>
          <a:xfrm>
            <a:off x="3272650" y="4591075"/>
            <a:ext cx="338161" cy="338150"/>
          </a:xfrm>
          <a:prstGeom prst="rect">
            <a:avLst/>
          </a:prstGeom>
          <a:noFill/>
          <a:ln>
            <a:noFill/>
          </a:ln>
        </p:spPr>
      </p:pic>
      <p:sp>
        <p:nvSpPr>
          <p:cNvPr id="339" name="Google Shape;339;p47"/>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40" name="Google Shape;340;p47"/>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41" name="Google Shape;341;p47"/>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42" name="Google Shape;342;p47"/>
          <p:cNvPicPr preferRelativeResize="0"/>
          <p:nvPr/>
        </p:nvPicPr>
        <p:blipFill rotWithShape="1">
          <a:blip r:embed="rId6">
            <a:alphaModFix/>
          </a:blip>
          <a:srcRect b="0" l="0" r="0" t="0"/>
          <a:stretch/>
        </p:blipFill>
        <p:spPr>
          <a:xfrm>
            <a:off x="5223771" y="4591063"/>
            <a:ext cx="338161" cy="338150"/>
          </a:xfrm>
          <a:prstGeom prst="rect">
            <a:avLst/>
          </a:prstGeom>
          <a:noFill/>
          <a:ln>
            <a:noFill/>
          </a:ln>
        </p:spPr>
      </p:pic>
      <p:sp>
        <p:nvSpPr>
          <p:cNvPr id="343" name="Google Shape;343;p47"/>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44" name="Google Shape;344;p47"/>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