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x5+TXrxFLBvixWcrK3BsRrZgX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customschemas.google.com/relationships/presentationmetadata" Target="meta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fd1acef2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efd1acef2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911bbf53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911bbf532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fd1acef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fd1acef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51" name="Google Shape;5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52" name="Google Shape;52;p27"/>
          <p:cNvPicPr preferRelativeResize="0"/>
          <p:nvPr/>
        </p:nvPicPr>
        <p:blipFill rotWithShape="1">
          <a:blip r:embed="rId3">
            <a:alphaModFix/>
          </a:blip>
          <a:srcRect b="37530" l="0" r="0" t="55602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7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27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27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27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2yrWoYpZJgG1bsqS7" TargetMode="External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hyperlink" Target="https://learn.codemithra.co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d1acef28_0_53"/>
          <p:cNvSpPr txBox="1"/>
          <p:nvPr>
            <p:ph type="title"/>
          </p:nvPr>
        </p:nvSpPr>
        <p:spPr>
          <a:xfrm>
            <a:off x="59055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rgbClr val="908BFF"/>
                </a:solidFill>
              </a:rPr>
              <a:t>				Test Time On </a:t>
            </a:r>
            <a:r>
              <a:rPr b="1" lang="en" sz="2000">
                <a:solidFill>
                  <a:srgbClr val="908BFF"/>
                </a:solidFill>
                <a:highlight>
                  <a:srgbClr val="FFFFFF"/>
                </a:highlight>
              </a:rPr>
              <a:t>Swapping Nodes</a:t>
            </a:r>
            <a:r>
              <a:rPr b="1" lang="en" sz="2000">
                <a:solidFill>
                  <a:srgbClr val="908BFF"/>
                </a:solidFill>
              </a:rPr>
              <a:t> 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71" name="Google Shape;71;g3efd1acef28_0_53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: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https://forms.gle/2yrWoYpZJgG1bsqS7</a:t>
            </a:r>
            <a:r>
              <a:rPr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g3efd1acef28_0_53" title="qr-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682" y="1048400"/>
            <a:ext cx="3038550" cy="30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 txBox="1"/>
          <p:nvPr/>
        </p:nvSpPr>
        <p:spPr>
          <a:xfrm>
            <a:off x="425839" y="2296985"/>
            <a:ext cx="4690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Delete the Middle Node of a Linked List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idx="4294967295" type="title"/>
          </p:nvPr>
        </p:nvSpPr>
        <p:spPr>
          <a:xfrm>
            <a:off x="457200" y="4565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Roboto"/>
                <a:ea typeface="Roboto"/>
                <a:cs typeface="Roboto"/>
                <a:sym typeface="Roboto"/>
              </a:rPr>
              <a:t>Deleting the Middle Node in a Singly Linked List</a:t>
            </a:r>
            <a:endParaRPr sz="2500">
              <a:solidFill>
                <a:schemeClr val="lt1"/>
              </a:solidFill>
              <a:highlight>
                <a:srgbClr val="7068A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3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Logic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Cod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e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Complexity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Questions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457200" y="21320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Roboto"/>
                <a:ea typeface="Roboto"/>
                <a:cs typeface="Roboto"/>
                <a:sym typeface="Roboto"/>
              </a:rPr>
              <a:t>Definition</a:t>
            </a:r>
            <a:endParaRPr sz="2500">
              <a:solidFill>
                <a:schemeClr val="lt1"/>
              </a:solidFill>
              <a:highlight>
                <a:srgbClr val="7068A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457200" y="87450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Objective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Identify the exact middle node of a linked list and remove it.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Definition of "Middle":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a list of size n, the middle node is at index floor [n/2](0-based indexing).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[1 -&gt; 3 -&gt; 4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7 -&gt; 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Middle Node: 7 (Index 3)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[1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Company Spotlight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Recency: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Highly relevant in 2024-2026 technical assessments.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514" lvl="0" marL="457200" rtl="0" algn="l"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lang="en" sz="12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LeetCode 2095</a:t>
            </a:r>
            <a:endParaRPr sz="127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514" lvl="0" marL="457200" rtl="0" algn="l"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b="1" lang="en" sz="1274">
                <a:solidFill>
                  <a:srgbClr val="000000"/>
                </a:solidFill>
              </a:rPr>
              <a:t>Microsoft</a:t>
            </a:r>
            <a:r>
              <a:rPr lang="en" sz="1274">
                <a:solidFill>
                  <a:srgbClr val="000000"/>
                </a:solidFill>
              </a:rPr>
              <a:t> (Off-Campus SDE Drive) March 15, 2025</a:t>
            </a:r>
            <a:endParaRPr sz="1274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Calibri"/>
                <a:ea typeface="Calibri"/>
                <a:cs typeface="Calibri"/>
                <a:sym typeface="Calibri"/>
              </a:rPr>
              <a:t>Logic Explanation</a:t>
            </a:r>
            <a:endParaRPr sz="2500">
              <a:solidFill>
                <a:schemeClr val="lt1"/>
              </a:solidFill>
              <a:highlight>
                <a:srgbClr val="7068A7"/>
              </a:highlight>
            </a:endParaRPr>
          </a:p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"Slow &amp; Fast" Strategy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most efficient way to solve this is using two pointers moving at different speeds.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Fast Pointer: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Moves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 steps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a time.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Slow Pointer: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Moves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step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a time.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Result: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By the time the Fast pointer reaches the end of the list, the Slow pointer will be exactly at the middle.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305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t/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911bbf532_0_7"/>
          <p:cNvSpPr txBox="1"/>
          <p:nvPr>
            <p:ph type="title"/>
          </p:nvPr>
        </p:nvSpPr>
        <p:spPr>
          <a:xfrm>
            <a:off x="457200" y="21320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Calibri"/>
                <a:ea typeface="Calibri"/>
                <a:cs typeface="Calibri"/>
                <a:sym typeface="Calibri"/>
              </a:rPr>
              <a:t>Logic Explanation</a:t>
            </a:r>
            <a:endParaRPr sz="2500">
              <a:solidFill>
                <a:schemeClr val="lt1"/>
              </a:solidFill>
              <a:highlight>
                <a:srgbClr val="7068A7"/>
              </a:highlight>
            </a:endParaRPr>
          </a:p>
        </p:txBody>
      </p:sp>
      <p:sp>
        <p:nvSpPr>
          <p:cNvPr id="104" name="Google Shape;104;g3e911bbf532_0_7"/>
          <p:cNvSpPr txBox="1"/>
          <p:nvPr>
            <p:ph idx="1" type="body"/>
          </p:nvPr>
        </p:nvSpPr>
        <p:spPr>
          <a:xfrm>
            <a:off x="493275" y="99090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770"/>
              <a:buNone/>
            </a:pPr>
            <a:r>
              <a:rPr b="1" lang="en" sz="12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Steps</a:t>
            </a:r>
            <a:endParaRPr b="1" sz="12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Handle Edge Cases</a:t>
            </a:r>
            <a:endParaRPr b="1"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70"/>
              <a:buChar char="●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list has only one node, deleting the middle means the list becomes empty (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null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Initialize Pointers</a:t>
            </a:r>
            <a:endParaRPr b="1"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70"/>
              <a:buChar char="●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the head.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0"/>
              <a:buChar char="●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Keep a third pointer,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prev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to track the node immediately </a:t>
            </a:r>
            <a:r>
              <a:rPr i="1"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pointer.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The Race</a:t>
            </a:r>
            <a:endParaRPr b="1"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70"/>
              <a:buChar char="●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fast.next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are not null: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0"/>
              <a:buChar char="○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prev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0"/>
              <a:buChar char="○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forward by one.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0"/>
              <a:buChar char="○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forward by two.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4: The Deletion</a:t>
            </a:r>
            <a:endParaRPr b="1"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70"/>
              <a:buChar char="●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Once the loop ends,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pointing at the middle node.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0"/>
              <a:buChar char="●"/>
            </a:pPr>
            <a:r>
              <a:rPr b="1"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"Skip":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Set </a:t>
            </a:r>
            <a:r>
              <a:rPr lang="en" sz="107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prev.next = slow.next</a:t>
            </a: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65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70"/>
              <a:buFont typeface="Roboto"/>
              <a:buChar char="●"/>
            </a:pPr>
            <a:r>
              <a:rPr lang="en" sz="107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effectively removes the middle node from the chain.</a:t>
            </a:r>
            <a:endParaRPr sz="107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Roboto"/>
                <a:ea typeface="Roboto"/>
                <a:cs typeface="Roboto"/>
                <a:sym typeface="Roboto"/>
              </a:rPr>
              <a:t>Java Code (Structure)</a:t>
            </a:r>
            <a:endParaRPr sz="2500">
              <a:solidFill>
                <a:schemeClr val="lt1"/>
              </a:solidFill>
              <a:highlight>
                <a:srgbClr val="7068A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6"/>
          <p:cNvSpPr txBox="1"/>
          <p:nvPr>
            <p:ph idx="1" type="body"/>
          </p:nvPr>
        </p:nvSpPr>
        <p:spPr>
          <a:xfrm>
            <a:off x="5721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// Node class definition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class Node {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    int data;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    Node next;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    Node(int data) {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        this.data = data;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        this.next = null;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    }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}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</p:txBody>
      </p:sp>
      <p:sp>
        <p:nvSpPr>
          <p:cNvPr id="111" name="Google Shape;11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Main {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Function to delete the middle node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Node deleteMiddle(Node head) {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// Edge case: empty list or only one node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(head == null || head.next == null)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return null;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Node slow = head;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Node fast = head;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Node prev = null;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2105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// Move fast by 2 and slow by 1 until fast reaches 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while (fast != null &amp;&amp; fast.next != null)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fast = fast.next.next;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prev = slow;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slow = slow.next;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// Delete the middle node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prev.next = slow.next;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return head;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// Utility to print the linked list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public static void printList(Node head)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if (head == null)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System.out.println("Empty List");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return;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Node temp = head;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while (temp != null)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System.out.print(temp.data + "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temp = temp.next;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System.out.println();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// Create linked list: 1 → 2 → 3 → 4 →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Node head = new Node(1);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head.next = new Node(2);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head.next.next = new Node(3);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head.next.next.next = new Node(4);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head.next.next.next.next = new Node(5);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System.out.print("Original List: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printList(head);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 = deleteMiddle(head);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System.out.print("After Deleting Middle Node: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printList(head);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Roboto"/>
                <a:ea typeface="Roboto"/>
                <a:cs typeface="Roboto"/>
                <a:sym typeface="Roboto"/>
              </a:rPr>
              <a:t>Example Execution</a:t>
            </a:r>
            <a:endParaRPr sz="2500">
              <a:solidFill>
                <a:schemeClr val="lt1"/>
              </a:solidFill>
              <a:highlight>
                <a:srgbClr val="7068A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51459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nput List: 1 → 2 → 3 → 4 → 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1459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Steps: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251459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slow = 1, fast =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51459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slow = 2, fast = 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51459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slow = 3, fast = 5 (end)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1459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node 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1459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1 → 2 → 4 → 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 sz="2500">
              <a:solidFill>
                <a:schemeClr val="lt1"/>
              </a:solidFill>
              <a:highlight>
                <a:srgbClr val="7068A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O(N)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(Traverses list once with two pointers)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 O(1)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(Uses only a few pointer variables)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1400">
                <a:solidFill>
                  <a:schemeClr val="lt1"/>
                </a:solidFill>
                <a:highlight>
                  <a:srgbClr val="7068A7"/>
                </a:highlight>
                <a:latin typeface="Roboto"/>
                <a:ea typeface="Roboto"/>
                <a:cs typeface="Roboto"/>
                <a:sym typeface="Roboto"/>
              </a:rPr>
              <a:t>Advantages</a:t>
            </a:r>
            <a:endParaRPr sz="1400">
              <a:solidFill>
                <a:schemeClr val="lt1"/>
              </a:solidFill>
              <a:highlight>
                <a:srgbClr val="7068A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Efficient with single traversal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additional memory needed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Clean and interview-friendly logic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Calibri"/>
                <a:ea typeface="Calibri"/>
                <a:cs typeface="Calibri"/>
                <a:sym typeface="Calibri"/>
              </a:rPr>
              <a:t>Disadvantages</a:t>
            </a:r>
            <a:endParaRPr sz="2500">
              <a:solidFill>
                <a:schemeClr val="lt1"/>
              </a:solidFill>
              <a:highlight>
                <a:srgbClr val="7068A7"/>
              </a:highlight>
            </a:endParaRPr>
          </a:p>
        </p:txBody>
      </p:sp>
      <p:sp>
        <p:nvSpPr>
          <p:cNvPr id="149" name="Google Shape;149;p1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handling edge cases (like list with 1 or 2 nodes)</a:t>
            </a:r>
            <a:endParaRPr sz="1400"/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directly apply to doubly or circular linked lists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500">
                <a:solidFill>
                  <a:schemeClr val="lt1"/>
                </a:solidFill>
                <a:highlight>
                  <a:srgbClr val="7068A7"/>
                </a:highlight>
                <a:latin typeface="Calibri"/>
                <a:ea typeface="Calibri"/>
                <a:cs typeface="Calibri"/>
                <a:sym typeface="Calibri"/>
              </a:rPr>
              <a:t>Tough Questions with Answers</a:t>
            </a:r>
            <a:endParaRPr sz="2500">
              <a:solidFill>
                <a:schemeClr val="lt1"/>
              </a:solidFill>
              <a:highlight>
                <a:srgbClr val="7068A7"/>
              </a:highlight>
            </a:endParaRPr>
          </a:p>
        </p:txBody>
      </p:sp>
      <p:sp>
        <p:nvSpPr>
          <p:cNvPr id="155" name="Google Shape;155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Q1: How to delete the first middle in even-length list?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Track both prevPrev and prev and stop early.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Q2: Can you delete without prev?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No. You need prev to link around the middle.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Q3: What if only one node?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A: Return null – the list becomes empty.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fd1acef28_0_0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g3efd1acef2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efd1acef28_0_0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g3efd1acef2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76" name="Google Shape;17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7" name="Google Shape;1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" name="Google Shape;182;p1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5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" name="Google Shape;186;p1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